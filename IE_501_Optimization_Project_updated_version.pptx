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theme/theme2.xml" ContentType="application/vnd.openxmlformats-officedocument.them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755" r:id="rId1"/>
  </p:sldMasterIdLst>
  <p:notesMasterIdLst>
    <p:notesMasterId r:id="rId15"/>
  </p:notesMasterIdLst>
  <p:sldIdLst>
    <p:sldId id="256" r:id="rId2"/>
    <p:sldId id="257" r:id="rId3"/>
    <p:sldId id="258" r:id="rId4"/>
    <p:sldId id="260" r:id="rId5"/>
    <p:sldId id="261" r:id="rId6"/>
    <p:sldId id="263" r:id="rId7"/>
    <p:sldId id="259" r:id="rId8"/>
    <p:sldId id="266" r:id="rId9"/>
    <p:sldId id="275" r:id="rId10"/>
    <p:sldId id="276" r:id="rId11"/>
    <p:sldId id="272" r:id="rId12"/>
    <p:sldId id="274" r:id="rId13"/>
    <p:sldId id="277" r:id="rId14"/>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93296810-A885-4BE3-A3E7-6D5BEEA58F35}" styleName="Medium Style 2 - Accent 6">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6">
              <a:tint val="20000"/>
            </a:schemeClr>
          </a:solidFill>
        </a:fill>
      </a:tcStyle>
    </a:wholeTbl>
    <a:band1H>
      <a:tcStyle>
        <a:tcBdr/>
        <a:fill>
          <a:solidFill>
            <a:schemeClr val="accent6">
              <a:tint val="40000"/>
            </a:schemeClr>
          </a:solidFill>
        </a:fill>
      </a:tcStyle>
    </a:band1H>
    <a:band2H>
      <a:tcStyle>
        <a:tcBdr/>
      </a:tcStyle>
    </a:band2H>
    <a:band1V>
      <a:tcStyle>
        <a:tcBdr/>
        <a:fill>
          <a:solidFill>
            <a:schemeClr val="accent6">
              <a:tint val="40000"/>
            </a:schemeClr>
          </a:solidFill>
        </a:fill>
      </a:tcStyle>
    </a:band1V>
    <a:band2V>
      <a:tcStyle>
        <a:tcBdr/>
      </a:tcStyle>
    </a:band2V>
    <a:lastCol>
      <a:tcTxStyle b="on">
        <a:fontRef idx="minor">
          <a:prstClr val="black"/>
        </a:fontRef>
        <a:schemeClr val="lt1"/>
      </a:tcTxStyle>
      <a:tcStyle>
        <a:tcBdr/>
        <a:fill>
          <a:solidFill>
            <a:schemeClr val="accent6"/>
          </a:solidFill>
        </a:fill>
      </a:tcStyle>
    </a:lastCol>
    <a:firstCol>
      <a:tcTxStyle b="on">
        <a:fontRef idx="minor">
          <a:prstClr val="black"/>
        </a:fontRef>
        <a:schemeClr val="lt1"/>
      </a:tcTxStyle>
      <a:tcStyle>
        <a:tcBdr/>
        <a:fill>
          <a:solidFill>
            <a:schemeClr val="accent6"/>
          </a:solidFill>
        </a:fill>
      </a:tcStyle>
    </a:firstCol>
    <a:lastRow>
      <a:tcTxStyle b="on">
        <a:fontRef idx="minor">
          <a:prstClr val="black"/>
        </a:fontRef>
        <a:schemeClr val="lt1"/>
      </a:tcTxStyle>
      <a:tcStyle>
        <a:tcBdr>
          <a:top>
            <a:ln w="38100" cmpd="sng">
              <a:solidFill>
                <a:schemeClr val="lt1"/>
              </a:solidFill>
            </a:ln>
          </a:top>
        </a:tcBdr>
        <a:fill>
          <a:solidFill>
            <a:schemeClr val="accent6"/>
          </a:solidFill>
        </a:fill>
      </a:tcStyle>
    </a:lastRow>
    <a:firstRow>
      <a:tcTxStyle b="on">
        <a:fontRef idx="minor">
          <a:prstClr val="black"/>
        </a:fontRef>
        <a:schemeClr val="lt1"/>
      </a:tcTxStyle>
      <a:tcStyle>
        <a:tcBdr>
          <a:bottom>
            <a:ln w="38100" cmpd="sng">
              <a:solidFill>
                <a:schemeClr val="lt1"/>
              </a:solidFill>
            </a:ln>
          </a:bottom>
        </a:tcBdr>
        <a:fill>
          <a:solidFill>
            <a:schemeClr val="accent6"/>
          </a:solidFill>
        </a:fill>
      </a:tcStyle>
    </a:firstRow>
  </a:tblStyle>
  <a:tblStyle styleId="{D113A9D2-9D6B-4929-AA2D-F23B5EE8CBE7}" styleName="Themed Style 2 - Accent 1">
    <a:tblBg>
      <a:fillRef idx="3">
        <a:schemeClr val="accent1"/>
      </a:fillRef>
      <a:effectRef idx="3">
        <a:schemeClr val="accent1"/>
      </a:effectRef>
    </a:tblBg>
    <a:wholeTbl>
      <a:tcTxStyle>
        <a:fontRef idx="minor">
          <a:scrgbClr r="0" g="0" b="0"/>
        </a:fontRef>
        <a:schemeClr val="lt1"/>
      </a:tcTxStyle>
      <a:tcStyle>
        <a:tcBdr>
          <a:left>
            <a:lnRef idx="1">
              <a:schemeClr val="accent1">
                <a:tint val="50000"/>
              </a:schemeClr>
            </a:lnRef>
          </a:left>
          <a:right>
            <a:lnRef idx="1">
              <a:schemeClr val="accent1">
                <a:tint val="50000"/>
              </a:schemeClr>
            </a:lnRef>
          </a:right>
          <a:top>
            <a:lnRef idx="1">
              <a:schemeClr val="accent1">
                <a:tint val="50000"/>
              </a:schemeClr>
            </a:lnRef>
          </a:top>
          <a:bottom>
            <a:lnRef idx="1">
              <a:schemeClr val="accent1">
                <a:tint val="50000"/>
              </a:schemeClr>
            </a:lnRef>
          </a:bottom>
          <a:insideH>
            <a:ln>
              <a:noFill/>
            </a:ln>
          </a:insideH>
          <a:insideV>
            <a:ln>
              <a:noFill/>
            </a:ln>
          </a:insideV>
        </a:tcBdr>
        <a:fill>
          <a:noFill/>
        </a:fill>
      </a:tcStyle>
    </a:wholeTbl>
    <a:band1H>
      <a:tcStyle>
        <a:tcBdr/>
        <a:fill>
          <a:solidFill>
            <a:schemeClr val="lt1">
              <a:alpha val="20000"/>
            </a:schemeClr>
          </a:solidFill>
        </a:fill>
      </a:tcStyle>
    </a:band1H>
    <a:band1V>
      <a:tcStyle>
        <a:tcBdr/>
        <a:fill>
          <a:solidFill>
            <a:schemeClr val="lt1">
              <a:alpha val="20000"/>
            </a:schemeClr>
          </a:solidFill>
        </a:fill>
      </a:tcStyle>
    </a:band1V>
    <a:lastCol>
      <a:tcTxStyle b="on"/>
      <a:tcStyle>
        <a:tcBdr>
          <a:left>
            <a:lnRef idx="2">
              <a:schemeClr val="lt1"/>
            </a:lnRef>
          </a:left>
        </a:tcBdr>
      </a:tcStyle>
    </a:lastCol>
    <a:firstCol>
      <a:tcTxStyle b="on"/>
      <a:tcStyle>
        <a:tcBdr>
          <a:right>
            <a:lnRef idx="2">
              <a:schemeClr val="lt1"/>
            </a:lnRef>
          </a:right>
        </a:tcBdr>
      </a:tcStyle>
    </a:firstCol>
    <a:lastRow>
      <a:tcTxStyle b="on"/>
      <a:tcStyle>
        <a:tcBdr>
          <a:top>
            <a:lnRef idx="2">
              <a:schemeClr val="lt1"/>
            </a:lnRef>
          </a:top>
        </a:tcBdr>
        <a:fill>
          <a:noFill/>
        </a:fill>
      </a:tcStyle>
    </a:lastRow>
    <a:seCell>
      <a:tcStyle>
        <a:tcBdr>
          <a:left>
            <a:ln>
              <a:noFill/>
            </a:ln>
          </a:left>
          <a:top>
            <a:ln>
              <a:noFill/>
            </a:ln>
          </a:top>
        </a:tcBdr>
      </a:tcStyle>
    </a:seCell>
    <a:swCell>
      <a:tcStyle>
        <a:tcBdr>
          <a:right>
            <a:ln>
              <a:noFill/>
            </a:ln>
          </a:right>
          <a:top>
            <a:ln>
              <a:noFill/>
            </a:ln>
          </a:top>
        </a:tcBdr>
      </a:tcStyle>
    </a:swCell>
    <a:firstRow>
      <a:tcTxStyle b="on"/>
      <a:tcStyle>
        <a:tcBdr>
          <a:bottom>
            <a:lnRef idx="3">
              <a:schemeClr val="lt1"/>
            </a:lnRef>
          </a:bottom>
        </a:tcBdr>
        <a:fill>
          <a:noFill/>
        </a:fill>
      </a:tcStyle>
    </a:firstRow>
    <a:neCell>
      <a:tcStyle>
        <a:tcBdr>
          <a:bottom>
            <a:ln>
              <a:noFill/>
            </a:ln>
          </a:bottom>
        </a:tcBdr>
      </a:tcStyle>
    </a:neCell>
  </a:tblStyle>
  <a:tblStyle styleId="{3C2FFA5D-87B4-456A-9821-1D502468CF0F}" styleName="Themed Style 1 - Accent 1">
    <a:tblBg>
      <a:fillRef idx="2">
        <a:schemeClr val="accent1"/>
      </a:fillRef>
      <a:effectRef idx="1">
        <a:schemeClr val="accent1"/>
      </a:effectRef>
    </a:tblBg>
    <a:wholeTbl>
      <a:tcTxStyle>
        <a:fontRef idx="minor">
          <a:scrgbClr r="0" g="0" b="0"/>
        </a:fontRef>
        <a:schemeClr val="dk1"/>
      </a:tcTxStyle>
      <a:tcStyle>
        <a:tcBdr>
          <a:left>
            <a:lnRef idx="1">
              <a:schemeClr val="accent1"/>
            </a:lnRef>
          </a:left>
          <a:right>
            <a:lnRef idx="1">
              <a:schemeClr val="accent1"/>
            </a:lnRef>
          </a:right>
          <a:top>
            <a:lnRef idx="1">
              <a:schemeClr val="accent1"/>
            </a:lnRef>
          </a:top>
          <a:bottom>
            <a:lnRef idx="1">
              <a:schemeClr val="accent1"/>
            </a:lnRef>
          </a:bottom>
          <a:insideH>
            <a:lnRef idx="1">
              <a:schemeClr val="accent1"/>
            </a:lnRef>
          </a:insideH>
          <a:insideV>
            <a:lnRef idx="1">
              <a:schemeClr val="accent1"/>
            </a:lnRef>
          </a:insideV>
        </a:tcBdr>
        <a:fill>
          <a:noFill/>
        </a:fill>
      </a:tcStyle>
    </a:wholeTbl>
    <a:band1H>
      <a:tcStyle>
        <a:tcBdr/>
        <a:fill>
          <a:solidFill>
            <a:schemeClr val="accent1">
              <a:alpha val="40000"/>
            </a:schemeClr>
          </a:solidFill>
        </a:fill>
      </a:tcStyle>
    </a:band1H>
    <a:band2H>
      <a:tcStyle>
        <a:tcBdr/>
      </a:tcStyle>
    </a:band2H>
    <a:band1V>
      <a:tcStyle>
        <a:tcBdr>
          <a:top>
            <a:lnRef idx="1">
              <a:schemeClr val="accent1"/>
            </a:lnRef>
          </a:top>
          <a:bottom>
            <a:lnRef idx="1">
              <a:schemeClr val="accent1"/>
            </a:lnRef>
          </a:bottom>
        </a:tcBdr>
        <a:fill>
          <a:solidFill>
            <a:schemeClr val="accent1">
              <a:alpha val="40000"/>
            </a:schemeClr>
          </a:solidFill>
        </a:fill>
      </a:tcStyle>
    </a:band1V>
    <a:band2V>
      <a:tcStyle>
        <a:tcBdr/>
      </a:tcStyle>
    </a:band2V>
    <a:lastCol>
      <a:tcTxStyle b="on"/>
      <a:tcStyle>
        <a:tcBdr>
          <a:left>
            <a:lnRef idx="2">
              <a:schemeClr val="accent1"/>
            </a:lnRef>
          </a:left>
          <a:right>
            <a:lnRef idx="1">
              <a:schemeClr val="accent1"/>
            </a:lnRef>
          </a:right>
          <a:top>
            <a:lnRef idx="1">
              <a:schemeClr val="accent1"/>
            </a:lnRef>
          </a:top>
          <a:bottom>
            <a:lnRef idx="1">
              <a:schemeClr val="accent1"/>
            </a:lnRef>
          </a:bottom>
          <a:insideH>
            <a:lnRef idx="1">
              <a:schemeClr val="accent1"/>
            </a:lnRef>
          </a:insideH>
          <a:insideV>
            <a:ln>
              <a:noFill/>
            </a:ln>
          </a:insideV>
        </a:tcBdr>
      </a:tcStyle>
    </a:lastCol>
    <a:firstCol>
      <a:tcTxStyle b="on"/>
      <a:tcStyle>
        <a:tcBdr>
          <a:left>
            <a:lnRef idx="1">
              <a:schemeClr val="accent1"/>
            </a:lnRef>
          </a:left>
          <a:right>
            <a:lnRef idx="2">
              <a:schemeClr val="accent1"/>
            </a:lnRef>
          </a:right>
          <a:top>
            <a:lnRef idx="1">
              <a:schemeClr val="accent1"/>
            </a:lnRef>
          </a:top>
          <a:bottom>
            <a:lnRef idx="1">
              <a:schemeClr val="accent1"/>
            </a:lnRef>
          </a:bottom>
          <a:insideH>
            <a:lnRef idx="1">
              <a:schemeClr val="accent1"/>
            </a:lnRef>
          </a:insideH>
          <a:insideV>
            <a:ln>
              <a:noFill/>
            </a:ln>
          </a:insideV>
        </a:tcBdr>
      </a:tcStyle>
    </a:firstCol>
    <a:lastRow>
      <a:tcTxStyle b="on"/>
      <a:tcStyle>
        <a:tcBdr>
          <a:left>
            <a:lnRef idx="1">
              <a:schemeClr val="accent1"/>
            </a:lnRef>
          </a:left>
          <a:right>
            <a:lnRef idx="1">
              <a:schemeClr val="accent1"/>
            </a:lnRef>
          </a:right>
          <a:top>
            <a:lnRef idx="2">
              <a:schemeClr val="accent1"/>
            </a:lnRef>
          </a:top>
          <a:bottom>
            <a:lnRef idx="2">
              <a:schemeClr val="accent1"/>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1"/>
            </a:lnRef>
          </a:left>
          <a:right>
            <a:lnRef idx="1">
              <a:schemeClr val="accent1"/>
            </a:lnRef>
          </a:right>
          <a:top>
            <a:lnRef idx="1">
              <a:schemeClr val="accent1"/>
            </a:lnRef>
          </a:top>
          <a:bottom>
            <a:lnRef idx="2">
              <a:schemeClr val="lt1"/>
            </a:lnRef>
          </a:bottom>
          <a:insideH>
            <a:ln>
              <a:noFill/>
            </a:ln>
          </a:insideH>
          <a:insideV>
            <a:ln>
              <a:noFill/>
            </a:ln>
          </a:insideV>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4972" autoAdjust="0"/>
    <p:restoredTop sz="94660"/>
  </p:normalViewPr>
  <p:slideViewPr>
    <p:cSldViewPr snapToGrid="0">
      <p:cViewPr varScale="1">
        <p:scale>
          <a:sx n="91" d="100"/>
          <a:sy n="91" d="100"/>
        </p:scale>
        <p:origin x="370" y="58"/>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theme" Target="theme/theme1.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viewProps" Target="viewProps.xml"/><Relationship Id="rId2" Type="http://schemas.openxmlformats.org/officeDocument/2006/relationships/slide" Target="slides/slide1.xml"/><Relationship Id="rId16"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notesMaster" Target="notesMasters/notesMaster1.xml"/><Relationship Id="rId10" Type="http://schemas.openxmlformats.org/officeDocument/2006/relationships/slide" Target="slides/slide9.xml"/><Relationship Id="rId19"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IN"/>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9DC71AEB-6585-437C-B2B7-375A96D243D1}" type="datetimeFigureOut">
              <a:rPr lang="en-IN" smtClean="0"/>
              <a:t>02-08-2026</a:t>
            </a:fld>
            <a:endParaRPr lang="en-IN"/>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IN"/>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IN"/>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F4600C3E-B95F-4EB3-BE2F-4634EDA2F115}" type="slidenum">
              <a:rPr lang="en-IN" smtClean="0"/>
              <a:t>‹#›</a:t>
            </a:fld>
            <a:endParaRPr lang="en-IN"/>
          </a:p>
        </p:txBody>
      </p:sp>
    </p:spTree>
    <p:extLst>
      <p:ext uri="{BB962C8B-B14F-4D97-AF65-F5344CB8AC3E}">
        <p14:creationId xmlns:p14="http://schemas.microsoft.com/office/powerpoint/2010/main" val="865049924"/>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grpSp>
        <p:nvGrpSpPr>
          <p:cNvPr id="19" name="Group 18"/>
          <p:cNvGrpSpPr/>
          <p:nvPr/>
        </p:nvGrpSpPr>
        <p:grpSpPr>
          <a:xfrm>
            <a:off x="546100" y="-4763"/>
            <a:ext cx="5014912" cy="6862763"/>
            <a:chOff x="2928938" y="-4763"/>
            <a:chExt cx="5014912" cy="6862763"/>
          </a:xfrm>
        </p:grpSpPr>
        <p:sp>
          <p:nvSpPr>
            <p:cNvPr id="22" name="Freeform 6"/>
            <p:cNvSpPr/>
            <p:nvPr/>
          </p:nvSpPr>
          <p:spPr bwMode="auto">
            <a:xfrm>
              <a:off x="3367088" y="-4763"/>
              <a:ext cx="1063625" cy="2782888"/>
            </a:xfrm>
            <a:custGeom>
              <a:avLst/>
              <a:gdLst/>
              <a:ahLst/>
              <a:cxnLst/>
              <a:rect l="0" t="0" r="r" b="b"/>
              <a:pathLst>
                <a:path w="670" h="1753">
                  <a:moveTo>
                    <a:pt x="0" y="1696"/>
                  </a:moveTo>
                  <a:lnTo>
                    <a:pt x="225" y="1753"/>
                  </a:lnTo>
                  <a:lnTo>
                    <a:pt x="670" y="0"/>
                  </a:lnTo>
                  <a:lnTo>
                    <a:pt x="430" y="0"/>
                  </a:lnTo>
                  <a:lnTo>
                    <a:pt x="0" y="1696"/>
                  </a:lnTo>
                  <a:close/>
                </a:path>
              </a:pathLst>
            </a:custGeom>
            <a:solidFill>
              <a:schemeClr val="accent1"/>
            </a:solidFill>
            <a:ln>
              <a:noFill/>
            </a:ln>
          </p:spPr>
        </p:sp>
        <p:sp>
          <p:nvSpPr>
            <p:cNvPr id="23" name="Freeform 7"/>
            <p:cNvSpPr/>
            <p:nvPr/>
          </p:nvSpPr>
          <p:spPr bwMode="auto">
            <a:xfrm>
              <a:off x="2928938" y="-4763"/>
              <a:ext cx="1035050" cy="2673350"/>
            </a:xfrm>
            <a:custGeom>
              <a:avLst/>
              <a:gdLst/>
              <a:ahLst/>
              <a:cxnLst/>
              <a:rect l="0" t="0" r="r" b="b"/>
              <a:pathLst>
                <a:path w="652" h="1684">
                  <a:moveTo>
                    <a:pt x="225" y="1684"/>
                  </a:moveTo>
                  <a:lnTo>
                    <a:pt x="652" y="0"/>
                  </a:lnTo>
                  <a:lnTo>
                    <a:pt x="411" y="0"/>
                  </a:lnTo>
                  <a:lnTo>
                    <a:pt x="0" y="1627"/>
                  </a:lnTo>
                  <a:lnTo>
                    <a:pt x="219" y="1681"/>
                  </a:lnTo>
                  <a:lnTo>
                    <a:pt x="225" y="1684"/>
                  </a:lnTo>
                  <a:close/>
                </a:path>
              </a:pathLst>
            </a:custGeom>
            <a:solidFill>
              <a:schemeClr val="tx1">
                <a:lumMod val="65000"/>
                <a:lumOff val="35000"/>
              </a:schemeClr>
            </a:solidFill>
            <a:ln>
              <a:noFill/>
            </a:ln>
          </p:spPr>
        </p:sp>
        <p:sp>
          <p:nvSpPr>
            <p:cNvPr id="24" name="Freeform 9"/>
            <p:cNvSpPr/>
            <p:nvPr/>
          </p:nvSpPr>
          <p:spPr bwMode="auto">
            <a:xfrm>
              <a:off x="2928938" y="2582862"/>
              <a:ext cx="2693987" cy="4275138"/>
            </a:xfrm>
            <a:custGeom>
              <a:avLst/>
              <a:gdLst/>
              <a:ahLst/>
              <a:cxnLst/>
              <a:rect l="0" t="0" r="r" b="b"/>
              <a:pathLst>
                <a:path w="1697" h="2693">
                  <a:moveTo>
                    <a:pt x="0" y="0"/>
                  </a:moveTo>
                  <a:lnTo>
                    <a:pt x="1622" y="2693"/>
                  </a:lnTo>
                  <a:lnTo>
                    <a:pt x="1697" y="2693"/>
                  </a:lnTo>
                  <a:lnTo>
                    <a:pt x="0" y="0"/>
                  </a:lnTo>
                  <a:close/>
                </a:path>
              </a:pathLst>
            </a:custGeom>
            <a:solidFill>
              <a:schemeClr val="tx1">
                <a:lumMod val="85000"/>
                <a:lumOff val="15000"/>
              </a:schemeClr>
            </a:solidFill>
            <a:ln>
              <a:noFill/>
            </a:ln>
          </p:spPr>
        </p:sp>
        <p:sp>
          <p:nvSpPr>
            <p:cNvPr id="25" name="Freeform 10"/>
            <p:cNvSpPr/>
            <p:nvPr/>
          </p:nvSpPr>
          <p:spPr bwMode="auto">
            <a:xfrm>
              <a:off x="3371850" y="2692400"/>
              <a:ext cx="3332162" cy="4165600"/>
            </a:xfrm>
            <a:custGeom>
              <a:avLst/>
              <a:gdLst/>
              <a:ahLst/>
              <a:cxnLst/>
              <a:rect l="0" t="0" r="r" b="b"/>
              <a:pathLst>
                <a:path w="2099" h="2624">
                  <a:moveTo>
                    <a:pt x="2099" y="2624"/>
                  </a:moveTo>
                  <a:lnTo>
                    <a:pt x="0" y="0"/>
                  </a:lnTo>
                  <a:lnTo>
                    <a:pt x="2021" y="2624"/>
                  </a:lnTo>
                  <a:lnTo>
                    <a:pt x="2099" y="2624"/>
                  </a:lnTo>
                  <a:close/>
                </a:path>
              </a:pathLst>
            </a:custGeom>
            <a:solidFill>
              <a:schemeClr val="accent1">
                <a:lumMod val="50000"/>
              </a:schemeClr>
            </a:solidFill>
            <a:ln>
              <a:noFill/>
            </a:ln>
          </p:spPr>
        </p:sp>
        <p:sp>
          <p:nvSpPr>
            <p:cNvPr id="26" name="Freeform 11"/>
            <p:cNvSpPr/>
            <p:nvPr/>
          </p:nvSpPr>
          <p:spPr bwMode="auto">
            <a:xfrm>
              <a:off x="3367088" y="2687637"/>
              <a:ext cx="4576762" cy="4170363"/>
            </a:xfrm>
            <a:custGeom>
              <a:avLst/>
              <a:gdLst/>
              <a:ahLst/>
              <a:cxnLst/>
              <a:rect l="0" t="0" r="r" b="b"/>
              <a:pathLst>
                <a:path w="2883" h="2627">
                  <a:moveTo>
                    <a:pt x="0" y="0"/>
                  </a:moveTo>
                  <a:lnTo>
                    <a:pt x="3" y="3"/>
                  </a:lnTo>
                  <a:lnTo>
                    <a:pt x="2102" y="2627"/>
                  </a:lnTo>
                  <a:lnTo>
                    <a:pt x="2883" y="2627"/>
                  </a:lnTo>
                  <a:lnTo>
                    <a:pt x="225" y="57"/>
                  </a:lnTo>
                  <a:lnTo>
                    <a:pt x="0" y="0"/>
                  </a:lnTo>
                  <a:close/>
                </a:path>
              </a:pathLst>
            </a:custGeom>
            <a:solidFill>
              <a:schemeClr val="accent1">
                <a:lumMod val="75000"/>
              </a:schemeClr>
            </a:solidFill>
            <a:ln>
              <a:noFill/>
            </a:ln>
          </p:spPr>
        </p:sp>
        <p:sp>
          <p:nvSpPr>
            <p:cNvPr id="27" name="Freeform 12"/>
            <p:cNvSpPr/>
            <p:nvPr/>
          </p:nvSpPr>
          <p:spPr bwMode="auto">
            <a:xfrm>
              <a:off x="2928938" y="2578100"/>
              <a:ext cx="3584575" cy="4279900"/>
            </a:xfrm>
            <a:custGeom>
              <a:avLst/>
              <a:gdLst/>
              <a:ahLst/>
              <a:cxnLst/>
              <a:rect l="0" t="0" r="r" b="b"/>
              <a:pathLst>
                <a:path w="2258" h="2696">
                  <a:moveTo>
                    <a:pt x="2258" y="2696"/>
                  </a:moveTo>
                  <a:lnTo>
                    <a:pt x="264" y="111"/>
                  </a:lnTo>
                  <a:lnTo>
                    <a:pt x="228" y="60"/>
                  </a:lnTo>
                  <a:lnTo>
                    <a:pt x="225" y="57"/>
                  </a:lnTo>
                  <a:lnTo>
                    <a:pt x="0" y="0"/>
                  </a:lnTo>
                  <a:lnTo>
                    <a:pt x="0" y="3"/>
                  </a:lnTo>
                  <a:lnTo>
                    <a:pt x="1697" y="2696"/>
                  </a:lnTo>
                  <a:lnTo>
                    <a:pt x="2258" y="2696"/>
                  </a:lnTo>
                  <a:close/>
                </a:path>
              </a:pathLst>
            </a:custGeom>
            <a:solidFill>
              <a:schemeClr val="tx1">
                <a:lumMod val="75000"/>
                <a:lumOff val="25000"/>
              </a:schemeClr>
            </a:solidFill>
            <a:ln>
              <a:noFill/>
            </a:ln>
          </p:spPr>
        </p:sp>
      </p:grpSp>
      <p:sp>
        <p:nvSpPr>
          <p:cNvPr id="2" name="Title 1"/>
          <p:cNvSpPr>
            <a:spLocks noGrp="1"/>
          </p:cNvSpPr>
          <p:nvPr>
            <p:ph type="ctrTitle"/>
          </p:nvPr>
        </p:nvSpPr>
        <p:spPr>
          <a:xfrm>
            <a:off x="2928401" y="1380068"/>
            <a:ext cx="8574622" cy="2616199"/>
          </a:xfrm>
        </p:spPr>
        <p:txBody>
          <a:bodyPr anchor="b">
            <a:normAutofit/>
          </a:bodyPr>
          <a:lstStyle>
            <a:lvl1pPr algn="r">
              <a:defRPr sz="6000">
                <a:effectLst/>
              </a:defRPr>
            </a:lvl1pPr>
          </a:lstStyle>
          <a:p>
            <a:r>
              <a:rPr lang="en-US"/>
              <a:t>Click to edit Master title style</a:t>
            </a:r>
            <a:endParaRPr lang="en-US" dirty="0"/>
          </a:p>
        </p:txBody>
      </p:sp>
      <p:sp>
        <p:nvSpPr>
          <p:cNvPr id="3" name="Subtitle 2"/>
          <p:cNvSpPr>
            <a:spLocks noGrp="1"/>
          </p:cNvSpPr>
          <p:nvPr>
            <p:ph type="subTitle" idx="1"/>
          </p:nvPr>
        </p:nvSpPr>
        <p:spPr>
          <a:xfrm>
            <a:off x="4515377" y="3996267"/>
            <a:ext cx="6987645" cy="1388534"/>
          </a:xfrm>
        </p:spPr>
        <p:txBody>
          <a:bodyPr anchor="t">
            <a:normAutofit/>
          </a:bodyPr>
          <a:lstStyle>
            <a:lvl1pPr marL="0" indent="0" algn="r">
              <a:buNone/>
              <a:defRPr sz="2100">
                <a:solidFill>
                  <a:schemeClr val="tx1"/>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E0902F25-85DE-4053-B83E-BF115E334F5F}" type="datetime1">
              <a:rPr lang="en-IN" smtClean="0"/>
              <a:t>02-08-2026</a:t>
            </a:fld>
            <a:endParaRPr lang="en-IN"/>
          </a:p>
        </p:txBody>
      </p:sp>
      <p:sp>
        <p:nvSpPr>
          <p:cNvPr id="5" name="Footer Placeholder 4"/>
          <p:cNvSpPr>
            <a:spLocks noGrp="1"/>
          </p:cNvSpPr>
          <p:nvPr>
            <p:ph type="ftr" sz="quarter" idx="11"/>
          </p:nvPr>
        </p:nvSpPr>
        <p:spPr>
          <a:xfrm>
            <a:off x="5332412" y="5883275"/>
            <a:ext cx="4324044" cy="365125"/>
          </a:xfrm>
        </p:spPr>
        <p:txBody>
          <a:bodyPr/>
          <a:lstStyle/>
          <a:p>
            <a:endParaRPr lang="en-IN"/>
          </a:p>
        </p:txBody>
      </p:sp>
      <p:sp>
        <p:nvSpPr>
          <p:cNvPr id="6" name="Slide Number Placeholder 5"/>
          <p:cNvSpPr>
            <a:spLocks noGrp="1"/>
          </p:cNvSpPr>
          <p:nvPr>
            <p:ph type="sldNum" sz="quarter" idx="12"/>
          </p:nvPr>
        </p:nvSpPr>
        <p:spPr/>
        <p:txBody>
          <a:bodyPr/>
          <a:lstStyle/>
          <a:p>
            <a:fld id="{FC17D557-F0CE-4392-A7D6-8FC60F89328E}" type="slidenum">
              <a:rPr lang="en-IN" smtClean="0"/>
              <a:t>‹#›</a:t>
            </a:fld>
            <a:endParaRPr lang="en-IN"/>
          </a:p>
        </p:txBody>
      </p:sp>
    </p:spTree>
    <p:extLst>
      <p:ext uri="{BB962C8B-B14F-4D97-AF65-F5344CB8AC3E}">
        <p14:creationId xmlns:p14="http://schemas.microsoft.com/office/powerpoint/2010/main" val="1319980238"/>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nchor="ct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0B01714A-CC80-464B-B485-30FBF655DA0F}" type="datetime1">
              <a:rPr lang="en-IN" smtClean="0"/>
              <a:t>02-08-2026</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a:xfrm>
            <a:off x="10951856" y="5867131"/>
            <a:ext cx="551167" cy="365125"/>
          </a:xfrm>
        </p:spPr>
        <p:txBody>
          <a:bodyPr/>
          <a:lstStyle/>
          <a:p>
            <a:fld id="{FC17D557-F0CE-4392-A7D6-8FC60F89328E}" type="slidenum">
              <a:rPr lang="en-IN" smtClean="0"/>
              <a:t>‹#›</a:t>
            </a:fld>
            <a:endParaRPr lang="en-IN"/>
          </a:p>
        </p:txBody>
      </p:sp>
    </p:spTree>
    <p:extLst>
      <p:ext uri="{BB962C8B-B14F-4D97-AF65-F5344CB8AC3E}">
        <p14:creationId xmlns:p14="http://schemas.microsoft.com/office/powerpoint/2010/main" val="2648622195"/>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2572279" y="2666999"/>
            <a:ext cx="8930747" cy="2110382"/>
          </a:xfrm>
        </p:spPr>
        <p:txBody>
          <a:bodyPr anchor="b"/>
          <a:lstStyle>
            <a:lvl1pPr algn="r">
              <a:defRPr sz="4000" b="0" cap="none"/>
            </a:lvl1pPr>
          </a:lstStyle>
          <a:p>
            <a:r>
              <a:rPr lang="en-US"/>
              <a:t>Click to edit Master title style</a:t>
            </a:r>
            <a:endParaRPr lang="en-US" dirty="0"/>
          </a:p>
        </p:txBody>
      </p:sp>
      <p:sp>
        <p:nvSpPr>
          <p:cNvPr id="3" name="Text Placeholder 2"/>
          <p:cNvSpPr>
            <a:spLocks noGrp="1"/>
          </p:cNvSpPr>
          <p:nvPr>
            <p:ph type="body" idx="1"/>
          </p:nvPr>
        </p:nvSpPr>
        <p:spPr>
          <a:xfrm>
            <a:off x="2572278" y="4777381"/>
            <a:ext cx="8930748" cy="860400"/>
          </a:xfrm>
        </p:spPr>
        <p:txBody>
          <a:bodyPr anchor="t">
            <a:normAutofit/>
          </a:bodyPr>
          <a:lstStyle>
            <a:lvl1pPr marL="0" indent="0" algn="r">
              <a:buNone/>
              <a:defRPr sz="20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1FEB7133-3969-40ED-8657-58158A775775}" type="datetime1">
              <a:rPr lang="en-IN" smtClean="0"/>
              <a:t>02-08-2026</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FC17D557-F0CE-4392-A7D6-8FC60F89328E}" type="slidenum">
              <a:rPr lang="en-IN" smtClean="0"/>
              <a:t>‹#›</a:t>
            </a:fld>
            <a:endParaRPr lang="en-IN"/>
          </a:p>
        </p:txBody>
      </p:sp>
    </p:spTree>
    <p:extLst>
      <p:ext uri="{BB962C8B-B14F-4D97-AF65-F5344CB8AC3E}">
        <p14:creationId xmlns:p14="http://schemas.microsoft.com/office/powerpoint/2010/main" val="1233340241"/>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a:xfrm>
            <a:off x="1484311" y="685800"/>
            <a:ext cx="10018713" cy="1752599"/>
          </a:xfrm>
        </p:spPr>
        <p:txBody>
          <a:bodyPr/>
          <a:lstStyle/>
          <a:p>
            <a:r>
              <a:rPr lang="en-US"/>
              <a:t>Click to edit Master title style</a:t>
            </a:r>
            <a:endParaRPr lang="en-US" dirty="0"/>
          </a:p>
        </p:txBody>
      </p:sp>
      <p:sp>
        <p:nvSpPr>
          <p:cNvPr id="3" name="Content Placeholder 2"/>
          <p:cNvSpPr>
            <a:spLocks noGrp="1"/>
          </p:cNvSpPr>
          <p:nvPr>
            <p:ph sz="half" idx="1"/>
          </p:nvPr>
        </p:nvSpPr>
        <p:spPr>
          <a:xfrm>
            <a:off x="1484312" y="2666999"/>
            <a:ext cx="4895055" cy="3124201"/>
          </a:xfrm>
        </p:spPr>
        <p:txBody>
          <a:bodyPr>
            <a:normAutofit/>
          </a:bodyPr>
          <a:lstStyle>
            <a:lvl1pPr>
              <a:defRPr sz="1800"/>
            </a:lvl1pPr>
            <a:lvl2pPr>
              <a:defRPr sz="1600"/>
            </a:lvl2pPr>
            <a:lvl3pPr>
              <a:defRPr sz="1400"/>
            </a:lvl3pPr>
            <a:lvl4pPr>
              <a:defRPr sz="1200"/>
            </a:lvl4pPr>
            <a:lvl5pPr>
              <a:defRPr sz="1200"/>
            </a:lvl5pPr>
            <a:lvl6pPr>
              <a:defRPr sz="1200"/>
            </a:lvl6pPr>
            <a:lvl7pPr>
              <a:defRPr sz="1200"/>
            </a:lvl7pPr>
            <a:lvl8pPr>
              <a:defRPr sz="1200"/>
            </a:lvl8pPr>
            <a:lvl9pPr>
              <a:defRPr sz="12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6607967" y="2667000"/>
            <a:ext cx="4895056" cy="3124200"/>
          </a:xfrm>
        </p:spPr>
        <p:txBody>
          <a:bodyPr>
            <a:normAutofit/>
          </a:bodyPr>
          <a:lstStyle>
            <a:lvl1pPr>
              <a:defRPr sz="1800"/>
            </a:lvl1pPr>
            <a:lvl2pPr>
              <a:defRPr sz="1600"/>
            </a:lvl2pPr>
            <a:lvl3pPr>
              <a:defRPr sz="1400"/>
            </a:lvl3pPr>
            <a:lvl4pPr>
              <a:defRPr sz="1200"/>
            </a:lvl4pPr>
            <a:lvl5pPr>
              <a:defRPr sz="1200"/>
            </a:lvl5pPr>
            <a:lvl6pPr>
              <a:defRPr sz="1200"/>
            </a:lvl6pPr>
            <a:lvl7pPr>
              <a:defRPr sz="1200"/>
            </a:lvl7pPr>
            <a:lvl8pPr>
              <a:defRPr sz="1200"/>
            </a:lvl8pPr>
            <a:lvl9pPr>
              <a:defRPr sz="12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67A4CDE0-C6C9-487B-AB1C-C71C7C760372}" type="datetime1">
              <a:rPr lang="en-IN" smtClean="0"/>
              <a:t>02-08-2026</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FC17D557-F0CE-4392-A7D6-8FC60F89328E}" type="slidenum">
              <a:rPr lang="en-IN" smtClean="0"/>
              <a:t>‹#›</a:t>
            </a:fld>
            <a:endParaRPr lang="en-IN"/>
          </a:p>
        </p:txBody>
      </p:sp>
    </p:spTree>
    <p:extLst>
      <p:ext uri="{BB962C8B-B14F-4D97-AF65-F5344CB8AC3E}">
        <p14:creationId xmlns:p14="http://schemas.microsoft.com/office/powerpoint/2010/main" val="148712844"/>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endParaRPr lang="en-US" dirty="0"/>
          </a:p>
        </p:txBody>
      </p:sp>
      <p:sp>
        <p:nvSpPr>
          <p:cNvPr id="3" name="Text Placeholder 2"/>
          <p:cNvSpPr>
            <a:spLocks noGrp="1"/>
          </p:cNvSpPr>
          <p:nvPr>
            <p:ph type="body" idx="1"/>
          </p:nvPr>
        </p:nvSpPr>
        <p:spPr>
          <a:xfrm>
            <a:off x="1772179" y="2658533"/>
            <a:ext cx="4607188" cy="576262"/>
          </a:xfrm>
        </p:spPr>
        <p:txBody>
          <a:bodyPr anchor="b">
            <a:noAutofit/>
          </a:bodyPr>
          <a:lstStyle>
            <a:lvl1pPr marL="0" indent="0">
              <a:buNone/>
              <a:defRPr sz="2800" b="0">
                <a:solidFill>
                  <a:schemeClr val="accent1">
                    <a:lumMod val="75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1484311" y="3335337"/>
            <a:ext cx="4895056" cy="2455862"/>
          </a:xfrm>
        </p:spPr>
        <p:txBody>
          <a:bodyPr anchor="t">
            <a:normAutofit/>
          </a:bodyPr>
          <a:lstStyle>
            <a:lvl1pPr>
              <a:defRPr sz="1800"/>
            </a:lvl1pPr>
            <a:lvl2pPr>
              <a:defRPr sz="1600"/>
            </a:lvl2pPr>
            <a:lvl3pPr>
              <a:defRPr sz="1400"/>
            </a:lvl3pPr>
            <a:lvl4pPr>
              <a:defRPr sz="1200"/>
            </a:lvl4pPr>
            <a:lvl5pPr>
              <a:defRPr sz="1200"/>
            </a:lvl5pPr>
            <a:lvl6pPr>
              <a:defRPr sz="1200"/>
            </a:lvl6pPr>
            <a:lvl7pPr>
              <a:defRPr sz="1200"/>
            </a:lvl7pPr>
            <a:lvl8pPr>
              <a:defRPr sz="1200"/>
            </a:lvl8pPr>
            <a:lvl9pPr>
              <a:defRPr sz="12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6880487" y="2667000"/>
            <a:ext cx="4622537" cy="576262"/>
          </a:xfrm>
        </p:spPr>
        <p:txBody>
          <a:bodyPr anchor="b">
            <a:noAutofit/>
          </a:bodyPr>
          <a:lstStyle>
            <a:lvl1pPr marL="0" indent="0">
              <a:buNone/>
              <a:defRPr sz="2800" b="0">
                <a:solidFill>
                  <a:schemeClr val="accent1">
                    <a:lumMod val="75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607967" y="3335337"/>
            <a:ext cx="4895056" cy="2455862"/>
          </a:xfrm>
        </p:spPr>
        <p:txBody>
          <a:bodyPr anchor="t">
            <a:normAutofit/>
          </a:bodyPr>
          <a:lstStyle>
            <a:lvl1pPr>
              <a:defRPr sz="1800"/>
            </a:lvl1pPr>
            <a:lvl2pPr>
              <a:defRPr sz="1600"/>
            </a:lvl2pPr>
            <a:lvl3pPr>
              <a:defRPr sz="1400"/>
            </a:lvl3pPr>
            <a:lvl4pPr>
              <a:defRPr sz="1200"/>
            </a:lvl4pPr>
            <a:lvl5pPr>
              <a:defRPr sz="1200"/>
            </a:lvl5pPr>
            <a:lvl6pPr>
              <a:defRPr sz="1200"/>
            </a:lvl6pPr>
            <a:lvl7pPr>
              <a:defRPr sz="1200"/>
            </a:lvl7pPr>
            <a:lvl8pPr>
              <a:defRPr sz="1200"/>
            </a:lvl8pPr>
            <a:lvl9pPr>
              <a:defRPr sz="12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497FC5E1-CC90-47D6-85A6-0FD8BB1BFA5E}" type="datetime1">
              <a:rPr lang="en-IN" smtClean="0"/>
              <a:t>02-08-2026</a:t>
            </a:fld>
            <a:endParaRPr lang="en-IN"/>
          </a:p>
        </p:txBody>
      </p:sp>
      <p:sp>
        <p:nvSpPr>
          <p:cNvPr id="8" name="Footer Placeholder 7"/>
          <p:cNvSpPr>
            <a:spLocks noGrp="1"/>
          </p:cNvSpPr>
          <p:nvPr>
            <p:ph type="ftr" sz="quarter" idx="11"/>
          </p:nvPr>
        </p:nvSpPr>
        <p:spPr/>
        <p:txBody>
          <a:bodyPr/>
          <a:lstStyle/>
          <a:p>
            <a:endParaRPr lang="en-IN"/>
          </a:p>
        </p:txBody>
      </p:sp>
      <p:sp>
        <p:nvSpPr>
          <p:cNvPr id="9" name="Slide Number Placeholder 8"/>
          <p:cNvSpPr>
            <a:spLocks noGrp="1"/>
          </p:cNvSpPr>
          <p:nvPr>
            <p:ph type="sldNum" sz="quarter" idx="12"/>
          </p:nvPr>
        </p:nvSpPr>
        <p:spPr/>
        <p:txBody>
          <a:bodyPr/>
          <a:lstStyle/>
          <a:p>
            <a:fld id="{FC17D557-F0CE-4392-A7D6-8FC60F89328E}" type="slidenum">
              <a:rPr lang="en-IN" smtClean="0"/>
              <a:t>‹#›</a:t>
            </a:fld>
            <a:endParaRPr lang="en-IN"/>
          </a:p>
        </p:txBody>
      </p:sp>
    </p:spTree>
    <p:extLst>
      <p:ext uri="{BB962C8B-B14F-4D97-AF65-F5344CB8AC3E}">
        <p14:creationId xmlns:p14="http://schemas.microsoft.com/office/powerpoint/2010/main" val="2797778411"/>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5C4924DA-117A-412A-845D-F8BFF2BF280C}" type="datetime1">
              <a:rPr lang="en-IN" smtClean="0"/>
              <a:t>02-08-2026</a:t>
            </a:fld>
            <a:endParaRPr lang="en-IN"/>
          </a:p>
        </p:txBody>
      </p:sp>
      <p:sp>
        <p:nvSpPr>
          <p:cNvPr id="4" name="Footer Placeholder 3"/>
          <p:cNvSpPr>
            <a:spLocks noGrp="1"/>
          </p:cNvSpPr>
          <p:nvPr>
            <p:ph type="ftr" sz="quarter" idx="11"/>
          </p:nvPr>
        </p:nvSpPr>
        <p:spPr/>
        <p:txBody>
          <a:bodyPr/>
          <a:lstStyle/>
          <a:p>
            <a:endParaRPr lang="en-IN"/>
          </a:p>
        </p:txBody>
      </p:sp>
      <p:sp>
        <p:nvSpPr>
          <p:cNvPr id="5" name="Slide Number Placeholder 4"/>
          <p:cNvSpPr>
            <a:spLocks noGrp="1"/>
          </p:cNvSpPr>
          <p:nvPr>
            <p:ph type="sldNum" sz="quarter" idx="12"/>
          </p:nvPr>
        </p:nvSpPr>
        <p:spPr/>
        <p:txBody>
          <a:bodyPr/>
          <a:lstStyle/>
          <a:p>
            <a:fld id="{FC17D557-F0CE-4392-A7D6-8FC60F89328E}" type="slidenum">
              <a:rPr lang="en-IN" smtClean="0"/>
              <a:t>‹#›</a:t>
            </a:fld>
            <a:endParaRPr lang="en-IN"/>
          </a:p>
        </p:txBody>
      </p:sp>
    </p:spTree>
    <p:extLst>
      <p:ext uri="{BB962C8B-B14F-4D97-AF65-F5344CB8AC3E}">
        <p14:creationId xmlns:p14="http://schemas.microsoft.com/office/powerpoint/2010/main" val="1983500199"/>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80AA2B34-A5C2-4EC5-A4C9-E54D970780FD}" type="datetime1">
              <a:rPr lang="en-IN" smtClean="0"/>
              <a:t>02-08-2026</a:t>
            </a:fld>
            <a:endParaRPr lang="en-IN"/>
          </a:p>
        </p:txBody>
      </p:sp>
      <p:sp>
        <p:nvSpPr>
          <p:cNvPr id="3" name="Footer Placeholder 2"/>
          <p:cNvSpPr>
            <a:spLocks noGrp="1"/>
          </p:cNvSpPr>
          <p:nvPr>
            <p:ph type="ftr" sz="quarter" idx="11"/>
          </p:nvPr>
        </p:nvSpPr>
        <p:spPr/>
        <p:txBody>
          <a:bodyPr/>
          <a:lstStyle/>
          <a:p>
            <a:endParaRPr lang="en-IN"/>
          </a:p>
        </p:txBody>
      </p:sp>
      <p:sp>
        <p:nvSpPr>
          <p:cNvPr id="4" name="Slide Number Placeholder 3"/>
          <p:cNvSpPr>
            <a:spLocks noGrp="1"/>
          </p:cNvSpPr>
          <p:nvPr>
            <p:ph type="sldNum" sz="quarter" idx="12"/>
          </p:nvPr>
        </p:nvSpPr>
        <p:spPr/>
        <p:txBody>
          <a:bodyPr/>
          <a:lstStyle/>
          <a:p>
            <a:fld id="{FC17D557-F0CE-4392-A7D6-8FC60F89328E}" type="slidenum">
              <a:rPr lang="en-IN" smtClean="0"/>
              <a:t>‹#›</a:t>
            </a:fld>
            <a:endParaRPr lang="en-IN"/>
          </a:p>
        </p:txBody>
      </p:sp>
    </p:spTree>
    <p:extLst>
      <p:ext uri="{BB962C8B-B14F-4D97-AF65-F5344CB8AC3E}">
        <p14:creationId xmlns:p14="http://schemas.microsoft.com/office/powerpoint/2010/main" val="299541305"/>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484312" y="1600200"/>
            <a:ext cx="3549121" cy="1371600"/>
          </a:xfrm>
        </p:spPr>
        <p:txBody>
          <a:bodyPr anchor="b">
            <a:normAutofit/>
          </a:bodyPr>
          <a:lstStyle>
            <a:lvl1pPr algn="ctr">
              <a:defRPr sz="2400" b="0"/>
            </a:lvl1pPr>
          </a:lstStyle>
          <a:p>
            <a:r>
              <a:rPr lang="en-US"/>
              <a:t>Click to edit Master title style</a:t>
            </a:r>
            <a:endParaRPr lang="en-US" dirty="0"/>
          </a:p>
        </p:txBody>
      </p:sp>
      <p:sp>
        <p:nvSpPr>
          <p:cNvPr id="3" name="Content Placeholder 2"/>
          <p:cNvSpPr>
            <a:spLocks noGrp="1"/>
          </p:cNvSpPr>
          <p:nvPr>
            <p:ph idx="1"/>
          </p:nvPr>
        </p:nvSpPr>
        <p:spPr>
          <a:xfrm>
            <a:off x="5262033" y="685799"/>
            <a:ext cx="6240990" cy="5105401"/>
          </a:xfrm>
        </p:spPr>
        <p:txBody>
          <a:bodyPr anchor="ctr">
            <a:normAutofit/>
          </a:bodyPr>
          <a:lstStyle>
            <a:lvl1pPr>
              <a:defRPr sz="2000"/>
            </a:lvl1pPr>
            <a:lvl2pPr>
              <a:defRPr sz="1800"/>
            </a:lvl2pPr>
            <a:lvl3pPr>
              <a:defRPr sz="1600"/>
            </a:lvl3pPr>
            <a:lvl4pPr>
              <a:defRPr sz="1400"/>
            </a:lvl4pPr>
            <a:lvl5pPr>
              <a:defRPr sz="1400"/>
            </a:lvl5pPr>
            <a:lvl6pPr>
              <a:defRPr sz="1400"/>
            </a:lvl6pPr>
            <a:lvl7pPr>
              <a:defRPr sz="1400"/>
            </a:lvl7pPr>
            <a:lvl8pPr>
              <a:defRPr sz="1400"/>
            </a:lvl8pPr>
            <a:lvl9pPr>
              <a:defRPr sz="14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1484312" y="2971800"/>
            <a:ext cx="3549121" cy="1828800"/>
          </a:xfrm>
        </p:spPr>
        <p:txBody>
          <a:bodyPr>
            <a:normAutofit/>
          </a:bodyPr>
          <a:lstStyle>
            <a:lvl1pPr marL="0" indent="0" algn="ctr">
              <a:buNone/>
              <a:defRPr sz="16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63861EFB-87AA-46CF-A823-30311AED4F18}" type="datetime1">
              <a:rPr lang="en-IN" smtClean="0"/>
              <a:t>02-08-2026</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FC17D557-F0CE-4392-A7D6-8FC60F89328E}" type="slidenum">
              <a:rPr lang="en-IN" smtClean="0"/>
              <a:t>‹#›</a:t>
            </a:fld>
            <a:endParaRPr lang="en-IN"/>
          </a:p>
        </p:txBody>
      </p:sp>
    </p:spTree>
    <p:extLst>
      <p:ext uri="{BB962C8B-B14F-4D97-AF65-F5344CB8AC3E}">
        <p14:creationId xmlns:p14="http://schemas.microsoft.com/office/powerpoint/2010/main" val="860188079"/>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482724" y="1752599"/>
            <a:ext cx="5426158" cy="1371600"/>
          </a:xfrm>
        </p:spPr>
        <p:txBody>
          <a:bodyPr anchor="b">
            <a:normAutofit/>
          </a:bodyPr>
          <a:lstStyle>
            <a:lvl1pPr algn="ctr">
              <a:defRPr sz="2800" b="0"/>
            </a:lvl1pPr>
          </a:lstStyle>
          <a:p>
            <a:r>
              <a:rPr lang="en-US"/>
              <a:t>Click to edit Master title style</a:t>
            </a:r>
            <a:endParaRPr lang="en-US" dirty="0"/>
          </a:p>
        </p:txBody>
      </p:sp>
      <p:sp>
        <p:nvSpPr>
          <p:cNvPr id="14" name="Picture Placeholder 2"/>
          <p:cNvSpPr>
            <a:spLocks noGrp="1" noChangeAspect="1"/>
          </p:cNvSpPr>
          <p:nvPr>
            <p:ph type="pic" idx="1"/>
          </p:nvPr>
        </p:nvSpPr>
        <p:spPr>
          <a:xfrm>
            <a:off x="7594682" y="914400"/>
            <a:ext cx="3280974" cy="4572000"/>
          </a:xfrm>
          <a:prstGeom prst="roundRect">
            <a:avLst>
              <a:gd name="adj" fmla="val 4280"/>
            </a:avLst>
          </a:prstGeom>
          <a:ln w="38100">
            <a:gradFill flip="none" rotWithShape="1">
              <a:gsLst>
                <a:gs pos="0">
                  <a:schemeClr val="bg2"/>
                </a:gs>
                <a:gs pos="100000">
                  <a:schemeClr val="bg2">
                    <a:lumMod val="75000"/>
                  </a:schemeClr>
                </a:gs>
              </a:gsLst>
              <a:lin ang="5400000" scaled="0"/>
              <a:tileRect/>
            </a:gradFill>
          </a:ln>
          <a:effectLst>
            <a:innerShdw blurRad="57150" dist="38100" dir="14460000">
              <a:srgbClr val="000000">
                <a:alpha val="70000"/>
              </a:srgbClr>
            </a:inn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4" name="Text Placeholder 3"/>
          <p:cNvSpPr>
            <a:spLocks noGrp="1"/>
          </p:cNvSpPr>
          <p:nvPr>
            <p:ph type="body" sz="half" idx="2"/>
          </p:nvPr>
        </p:nvSpPr>
        <p:spPr>
          <a:xfrm>
            <a:off x="1482724" y="3124199"/>
            <a:ext cx="5426158" cy="1828800"/>
          </a:xfrm>
        </p:spPr>
        <p:txBody>
          <a:bodyPr>
            <a:normAutofit/>
          </a:bodyPr>
          <a:lstStyle>
            <a:lvl1pPr marL="0" indent="0" algn="ctr">
              <a:buNone/>
              <a:defRPr sz="18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47940CFB-7D24-4468-ABBE-7B2FA822F93B}" type="datetime1">
              <a:rPr lang="en-IN" smtClean="0"/>
              <a:t>02-08-2026</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FC17D557-F0CE-4392-A7D6-8FC60F89328E}" type="slidenum">
              <a:rPr lang="en-IN" smtClean="0"/>
              <a:t>‹#›</a:t>
            </a:fld>
            <a:endParaRPr lang="en-IN"/>
          </a:p>
        </p:txBody>
      </p:sp>
    </p:spTree>
    <p:extLst>
      <p:ext uri="{BB962C8B-B14F-4D97-AF65-F5344CB8AC3E}">
        <p14:creationId xmlns:p14="http://schemas.microsoft.com/office/powerpoint/2010/main" val="4125509094"/>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Panoramic 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484311" y="4732865"/>
            <a:ext cx="10018711" cy="566738"/>
          </a:xfrm>
        </p:spPr>
        <p:txBody>
          <a:bodyPr anchor="b">
            <a:normAutofit/>
          </a:bodyPr>
          <a:lstStyle>
            <a:lvl1pPr algn="ctr">
              <a:defRPr sz="2400" b="0"/>
            </a:lvl1pPr>
          </a:lstStyle>
          <a:p>
            <a:r>
              <a:rPr lang="en-US"/>
              <a:t>Click to edit Master title style</a:t>
            </a:r>
            <a:endParaRPr lang="en-US" dirty="0"/>
          </a:p>
        </p:txBody>
      </p:sp>
      <p:sp>
        <p:nvSpPr>
          <p:cNvPr id="3" name="Picture Placeholder 2"/>
          <p:cNvSpPr>
            <a:spLocks noGrp="1" noChangeAspect="1"/>
          </p:cNvSpPr>
          <p:nvPr>
            <p:ph type="pic" idx="1"/>
          </p:nvPr>
        </p:nvSpPr>
        <p:spPr>
          <a:xfrm>
            <a:off x="2386012" y="932112"/>
            <a:ext cx="8225944" cy="3164976"/>
          </a:xfrm>
          <a:prstGeom prst="roundRect">
            <a:avLst>
              <a:gd name="adj" fmla="val 4380"/>
            </a:avLst>
          </a:prstGeom>
          <a:ln w="38100">
            <a:gradFill flip="none" rotWithShape="1">
              <a:gsLst>
                <a:gs pos="0">
                  <a:schemeClr val="bg2"/>
                </a:gs>
                <a:gs pos="100000">
                  <a:schemeClr val="bg2">
                    <a:lumMod val="75000"/>
                  </a:schemeClr>
                </a:gs>
              </a:gsLst>
              <a:lin ang="5400000" scaled="0"/>
              <a:tileRect/>
            </a:gradFill>
          </a:ln>
          <a:effectLst>
            <a:innerShdw blurRad="57150" dist="38100" dir="14460000">
              <a:srgbClr val="000000">
                <a:alpha val="70000"/>
              </a:srgbClr>
            </a:inn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4" name="Text Placeholder 3"/>
          <p:cNvSpPr>
            <a:spLocks noGrp="1"/>
          </p:cNvSpPr>
          <p:nvPr>
            <p:ph type="body" sz="half" idx="2"/>
          </p:nvPr>
        </p:nvSpPr>
        <p:spPr>
          <a:xfrm>
            <a:off x="1484311" y="5299603"/>
            <a:ext cx="10018711" cy="493712"/>
          </a:xfrm>
        </p:spPr>
        <p:txBody>
          <a:bodyPr>
            <a:normAutofit/>
          </a:bodyPr>
          <a:lstStyle>
            <a:lvl1pPr marL="0" indent="0" algn="ctr">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1E4424E-3A5C-4CEB-A680-7A203E7D10A7}" type="datetime1">
              <a:rPr lang="en-IN" smtClean="0"/>
              <a:t>02-08-2026</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FC17D557-F0CE-4392-A7D6-8FC60F89328E}" type="slidenum">
              <a:rPr lang="en-IN" smtClean="0"/>
              <a:t>‹#›</a:t>
            </a:fld>
            <a:endParaRPr lang="en-IN"/>
          </a:p>
        </p:txBody>
      </p:sp>
    </p:spTree>
    <p:extLst>
      <p:ext uri="{BB962C8B-B14F-4D97-AF65-F5344CB8AC3E}">
        <p14:creationId xmlns:p14="http://schemas.microsoft.com/office/powerpoint/2010/main" val="2955303411"/>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Title and Caption">
    <p:spTree>
      <p:nvGrpSpPr>
        <p:cNvPr id="1" name=""/>
        <p:cNvGrpSpPr/>
        <p:nvPr/>
      </p:nvGrpSpPr>
      <p:grpSpPr>
        <a:xfrm>
          <a:off x="0" y="0"/>
          <a:ext cx="0" cy="0"/>
          <a:chOff x="0" y="0"/>
          <a:chExt cx="0" cy="0"/>
        </a:xfrm>
      </p:grpSpPr>
      <p:sp>
        <p:nvSpPr>
          <p:cNvPr id="2" name="Title 1"/>
          <p:cNvSpPr>
            <a:spLocks noGrp="1"/>
          </p:cNvSpPr>
          <p:nvPr>
            <p:ph type="title"/>
          </p:nvPr>
        </p:nvSpPr>
        <p:spPr>
          <a:xfrm>
            <a:off x="1484312" y="685800"/>
            <a:ext cx="10018711" cy="3048000"/>
          </a:xfrm>
        </p:spPr>
        <p:txBody>
          <a:bodyPr anchor="ctr">
            <a:normAutofit/>
          </a:bodyPr>
          <a:lstStyle>
            <a:lvl1pPr algn="ctr">
              <a:defRPr sz="3200" b="0" cap="none"/>
            </a:lvl1pPr>
          </a:lstStyle>
          <a:p>
            <a:r>
              <a:rPr lang="en-US"/>
              <a:t>Click to edit Master title style</a:t>
            </a:r>
            <a:endParaRPr lang="en-US" dirty="0"/>
          </a:p>
        </p:txBody>
      </p:sp>
      <p:sp>
        <p:nvSpPr>
          <p:cNvPr id="3" name="Text Placeholder 2"/>
          <p:cNvSpPr>
            <a:spLocks noGrp="1"/>
          </p:cNvSpPr>
          <p:nvPr>
            <p:ph type="body" idx="1"/>
          </p:nvPr>
        </p:nvSpPr>
        <p:spPr>
          <a:xfrm>
            <a:off x="1484312" y="4343400"/>
            <a:ext cx="10018713" cy="1447800"/>
          </a:xfrm>
        </p:spPr>
        <p:txBody>
          <a:bodyPr anchor="ctr">
            <a:normAutofit/>
          </a:bodyPr>
          <a:lstStyle>
            <a:lvl1pPr marL="0" indent="0" algn="ctr">
              <a:buNone/>
              <a:defRPr sz="20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23F481F1-7FDE-4DD6-B7ED-56EDABB39DE3}" type="datetime1">
              <a:rPr lang="en-IN" smtClean="0"/>
              <a:t>02-08-2026</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FC17D557-F0CE-4392-A7D6-8FC60F89328E}" type="slidenum">
              <a:rPr lang="en-IN" smtClean="0"/>
              <a:t>‹#›</a:t>
            </a:fld>
            <a:endParaRPr lang="en-IN"/>
          </a:p>
        </p:txBody>
      </p:sp>
    </p:spTree>
    <p:extLst>
      <p:ext uri="{BB962C8B-B14F-4D97-AF65-F5344CB8AC3E}">
        <p14:creationId xmlns:p14="http://schemas.microsoft.com/office/powerpoint/2010/main" val="2882540465"/>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Quote with Caption">
    <p:spTree>
      <p:nvGrpSpPr>
        <p:cNvPr id="1" name=""/>
        <p:cNvGrpSpPr/>
        <p:nvPr/>
      </p:nvGrpSpPr>
      <p:grpSpPr>
        <a:xfrm>
          <a:off x="0" y="0"/>
          <a:ext cx="0" cy="0"/>
          <a:chOff x="0" y="0"/>
          <a:chExt cx="0" cy="0"/>
        </a:xfrm>
      </p:grpSpPr>
      <p:sp>
        <p:nvSpPr>
          <p:cNvPr id="14" name="TextBox 13"/>
          <p:cNvSpPr txBox="1"/>
          <p:nvPr/>
        </p:nvSpPr>
        <p:spPr>
          <a:xfrm>
            <a:off x="1598612" y="863023"/>
            <a:ext cx="609600" cy="584776"/>
          </a:xfrm>
          <a:prstGeom prst="rect">
            <a:avLst/>
          </a:prstGeom>
        </p:spPr>
        <p:txBody>
          <a:bodyPr vert="horz" lIns="91440" tIns="45720" rIns="91440" bIns="45720" rtlCol="0" anchor="ctr">
            <a:noAutofit/>
          </a:bodyPr>
          <a:lstStyle>
            <a:lvl1pPr>
              <a:spcBef>
                <a:spcPct val="0"/>
              </a:spcBef>
              <a:buNone/>
              <a:defRPr sz="3200" b="0" cap="all">
                <a:ln w="3175" cmpd="sng">
                  <a:noFill/>
                </a:ln>
                <a:effectLst>
                  <a:glow rad="38100">
                    <a:schemeClr val="bg1">
                      <a:lumMod val="65000"/>
                      <a:lumOff val="35000"/>
                      <a:alpha val="40000"/>
                    </a:schemeClr>
                  </a:glow>
                  <a:outerShdw blurRad="28575" dist="38100" dir="14040000" algn="tl" rotWithShape="0">
                    <a:srgbClr val="000000">
                      <a:alpha val="25000"/>
                    </a:srgbClr>
                  </a:outerShdw>
                </a:effectLst>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vl6pPr>
              <a:defRPr>
                <a:solidFill>
                  <a:schemeClr val="tx2"/>
                </a:solidFill>
              </a:defRPr>
            </a:lvl6pPr>
            <a:lvl7pPr>
              <a:defRPr>
                <a:solidFill>
                  <a:schemeClr val="tx2"/>
                </a:solidFill>
              </a:defRPr>
            </a:lvl7pPr>
            <a:lvl8pPr>
              <a:defRPr>
                <a:solidFill>
                  <a:schemeClr val="tx2"/>
                </a:solidFill>
              </a:defRPr>
            </a:lvl8pPr>
            <a:lvl9pPr>
              <a:defRPr>
                <a:solidFill>
                  <a:schemeClr val="tx2"/>
                </a:solidFill>
              </a:defRPr>
            </a:lvl9pPr>
          </a:lstStyle>
          <a:p>
            <a:pPr lvl="0"/>
            <a:r>
              <a:rPr lang="en-US" sz="8000" dirty="0">
                <a:solidFill>
                  <a:schemeClr val="tx1"/>
                </a:solidFill>
                <a:effectLst/>
              </a:rPr>
              <a:t>“</a:t>
            </a:r>
          </a:p>
        </p:txBody>
      </p:sp>
      <p:sp>
        <p:nvSpPr>
          <p:cNvPr id="15" name="TextBox 14"/>
          <p:cNvSpPr txBox="1"/>
          <p:nvPr/>
        </p:nvSpPr>
        <p:spPr>
          <a:xfrm>
            <a:off x="10893425" y="2819399"/>
            <a:ext cx="609600" cy="584776"/>
          </a:xfrm>
          <a:prstGeom prst="rect">
            <a:avLst/>
          </a:prstGeom>
        </p:spPr>
        <p:txBody>
          <a:bodyPr vert="horz" lIns="91440" tIns="45720" rIns="91440" bIns="45720" rtlCol="0" anchor="ctr">
            <a:noAutofit/>
          </a:bodyPr>
          <a:lstStyle>
            <a:lvl1pPr>
              <a:spcBef>
                <a:spcPct val="0"/>
              </a:spcBef>
              <a:buNone/>
              <a:defRPr sz="3200" b="0" cap="all">
                <a:ln w="3175" cmpd="sng">
                  <a:noFill/>
                </a:ln>
                <a:effectLst>
                  <a:glow rad="38100">
                    <a:schemeClr val="bg1">
                      <a:lumMod val="65000"/>
                      <a:lumOff val="35000"/>
                      <a:alpha val="40000"/>
                    </a:schemeClr>
                  </a:glow>
                  <a:outerShdw blurRad="28575" dist="38100" dir="14040000" algn="tl" rotWithShape="0">
                    <a:srgbClr val="000000">
                      <a:alpha val="25000"/>
                    </a:srgbClr>
                  </a:outerShdw>
                </a:effectLst>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vl6pPr>
              <a:defRPr>
                <a:solidFill>
                  <a:schemeClr val="tx2"/>
                </a:solidFill>
              </a:defRPr>
            </a:lvl6pPr>
            <a:lvl7pPr>
              <a:defRPr>
                <a:solidFill>
                  <a:schemeClr val="tx2"/>
                </a:solidFill>
              </a:defRPr>
            </a:lvl7pPr>
            <a:lvl8pPr>
              <a:defRPr>
                <a:solidFill>
                  <a:schemeClr val="tx2"/>
                </a:solidFill>
              </a:defRPr>
            </a:lvl8pPr>
            <a:lvl9pPr>
              <a:defRPr>
                <a:solidFill>
                  <a:schemeClr val="tx2"/>
                </a:solidFill>
              </a:defRPr>
            </a:lvl9pPr>
          </a:lstStyle>
          <a:p>
            <a:pPr lvl="0" algn="r"/>
            <a:r>
              <a:rPr lang="en-US" sz="8000" dirty="0">
                <a:solidFill>
                  <a:schemeClr val="tx1"/>
                </a:solidFill>
                <a:effectLst/>
              </a:rPr>
              <a:t>”</a:t>
            </a:r>
          </a:p>
        </p:txBody>
      </p:sp>
      <p:sp>
        <p:nvSpPr>
          <p:cNvPr id="2" name="Title 1"/>
          <p:cNvSpPr>
            <a:spLocks noGrp="1"/>
          </p:cNvSpPr>
          <p:nvPr>
            <p:ph type="title"/>
          </p:nvPr>
        </p:nvSpPr>
        <p:spPr>
          <a:xfrm>
            <a:off x="2208212" y="685800"/>
            <a:ext cx="8990012" cy="2743199"/>
          </a:xfrm>
        </p:spPr>
        <p:txBody>
          <a:bodyPr anchor="ctr">
            <a:normAutofit/>
          </a:bodyPr>
          <a:lstStyle>
            <a:lvl1pPr algn="ctr">
              <a:defRPr sz="3200" b="0" cap="none">
                <a:solidFill>
                  <a:schemeClr val="tx1"/>
                </a:solidFill>
              </a:defRPr>
            </a:lvl1pPr>
          </a:lstStyle>
          <a:p>
            <a:r>
              <a:rPr lang="en-US"/>
              <a:t>Click to edit Master title style</a:t>
            </a:r>
            <a:endParaRPr lang="en-US" dirty="0"/>
          </a:p>
        </p:txBody>
      </p:sp>
      <p:sp>
        <p:nvSpPr>
          <p:cNvPr id="10" name="Text Placeholder 9"/>
          <p:cNvSpPr>
            <a:spLocks noGrp="1"/>
          </p:cNvSpPr>
          <p:nvPr>
            <p:ph type="body" sz="quarter" idx="13"/>
          </p:nvPr>
        </p:nvSpPr>
        <p:spPr>
          <a:xfrm>
            <a:off x="2436811" y="3428999"/>
            <a:ext cx="8532815" cy="381000"/>
          </a:xfrm>
        </p:spPr>
        <p:txBody>
          <a:bodyPr anchor="ctr">
            <a:normAutofit/>
          </a:bodyPr>
          <a:lstStyle>
            <a:lvl1pPr marL="0" indent="0">
              <a:buFontTx/>
              <a:buNone/>
              <a:defRPr sz="1800"/>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Click to edit Master text styles</a:t>
            </a:r>
          </a:p>
        </p:txBody>
      </p:sp>
      <p:sp>
        <p:nvSpPr>
          <p:cNvPr id="3" name="Text Placeholder 2"/>
          <p:cNvSpPr>
            <a:spLocks noGrp="1"/>
          </p:cNvSpPr>
          <p:nvPr>
            <p:ph type="body" idx="1"/>
          </p:nvPr>
        </p:nvSpPr>
        <p:spPr>
          <a:xfrm>
            <a:off x="1484311" y="4343400"/>
            <a:ext cx="10018711" cy="1447800"/>
          </a:xfrm>
        </p:spPr>
        <p:txBody>
          <a:bodyPr anchor="ctr">
            <a:normAutofit/>
          </a:bodyPr>
          <a:lstStyle>
            <a:lvl1pPr marL="0" indent="0" algn="ctr">
              <a:buNone/>
              <a:defRPr sz="20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BC4DB9A0-79BD-4786-8A7A-8F58CC8DD379}" type="datetime1">
              <a:rPr lang="en-IN" smtClean="0"/>
              <a:t>02-08-2026</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FC17D557-F0CE-4392-A7D6-8FC60F89328E}" type="slidenum">
              <a:rPr lang="en-IN" smtClean="0"/>
              <a:t>‹#›</a:t>
            </a:fld>
            <a:endParaRPr lang="en-IN"/>
          </a:p>
        </p:txBody>
      </p:sp>
    </p:spTree>
    <p:extLst>
      <p:ext uri="{BB962C8B-B14F-4D97-AF65-F5344CB8AC3E}">
        <p14:creationId xmlns:p14="http://schemas.microsoft.com/office/powerpoint/2010/main" val="3536890108"/>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Name Card">
    <p:spTree>
      <p:nvGrpSpPr>
        <p:cNvPr id="1" name=""/>
        <p:cNvGrpSpPr/>
        <p:nvPr/>
      </p:nvGrpSpPr>
      <p:grpSpPr>
        <a:xfrm>
          <a:off x="0" y="0"/>
          <a:ext cx="0" cy="0"/>
          <a:chOff x="0" y="0"/>
          <a:chExt cx="0" cy="0"/>
        </a:xfrm>
      </p:grpSpPr>
      <p:sp>
        <p:nvSpPr>
          <p:cNvPr id="2" name="Title 1"/>
          <p:cNvSpPr>
            <a:spLocks noGrp="1"/>
          </p:cNvSpPr>
          <p:nvPr>
            <p:ph type="title"/>
          </p:nvPr>
        </p:nvSpPr>
        <p:spPr>
          <a:xfrm>
            <a:off x="1484313" y="3308581"/>
            <a:ext cx="10018709" cy="1468800"/>
          </a:xfrm>
        </p:spPr>
        <p:txBody>
          <a:bodyPr anchor="b">
            <a:normAutofit/>
          </a:bodyPr>
          <a:lstStyle>
            <a:lvl1pPr algn="r">
              <a:defRPr sz="3200" b="0" cap="none"/>
            </a:lvl1pPr>
          </a:lstStyle>
          <a:p>
            <a:r>
              <a:rPr lang="en-US"/>
              <a:t>Click to edit Master title style</a:t>
            </a:r>
            <a:endParaRPr lang="en-US" dirty="0"/>
          </a:p>
        </p:txBody>
      </p:sp>
      <p:sp>
        <p:nvSpPr>
          <p:cNvPr id="3" name="Text Placeholder 2"/>
          <p:cNvSpPr>
            <a:spLocks noGrp="1"/>
          </p:cNvSpPr>
          <p:nvPr>
            <p:ph type="body" idx="1"/>
          </p:nvPr>
        </p:nvSpPr>
        <p:spPr>
          <a:xfrm>
            <a:off x="1484312" y="4777381"/>
            <a:ext cx="10018710" cy="860400"/>
          </a:xfrm>
        </p:spPr>
        <p:txBody>
          <a:bodyPr anchor="t">
            <a:normAutofit/>
          </a:bodyPr>
          <a:lstStyle>
            <a:lvl1pPr marL="0" indent="0" algn="r">
              <a:buNone/>
              <a:defRPr sz="20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1BE08180-1011-4CA0-AA9D-AC21217CBEE6}" type="datetime1">
              <a:rPr lang="en-IN" smtClean="0"/>
              <a:t>02-08-2026</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FC17D557-F0CE-4392-A7D6-8FC60F89328E}" type="slidenum">
              <a:rPr lang="en-IN" smtClean="0"/>
              <a:t>‹#›</a:t>
            </a:fld>
            <a:endParaRPr lang="en-IN"/>
          </a:p>
        </p:txBody>
      </p:sp>
    </p:spTree>
    <p:extLst>
      <p:ext uri="{BB962C8B-B14F-4D97-AF65-F5344CB8AC3E}">
        <p14:creationId xmlns:p14="http://schemas.microsoft.com/office/powerpoint/2010/main" val="3812396949"/>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Quote Name Card">
    <p:spTree>
      <p:nvGrpSpPr>
        <p:cNvPr id="1" name=""/>
        <p:cNvGrpSpPr/>
        <p:nvPr/>
      </p:nvGrpSpPr>
      <p:grpSpPr>
        <a:xfrm>
          <a:off x="0" y="0"/>
          <a:ext cx="0" cy="0"/>
          <a:chOff x="0" y="0"/>
          <a:chExt cx="0" cy="0"/>
        </a:xfrm>
      </p:grpSpPr>
      <p:sp>
        <p:nvSpPr>
          <p:cNvPr id="14" name="TextBox 13"/>
          <p:cNvSpPr txBox="1"/>
          <p:nvPr/>
        </p:nvSpPr>
        <p:spPr>
          <a:xfrm>
            <a:off x="1598612" y="863023"/>
            <a:ext cx="609600" cy="584776"/>
          </a:xfrm>
          <a:prstGeom prst="rect">
            <a:avLst/>
          </a:prstGeom>
        </p:spPr>
        <p:txBody>
          <a:bodyPr vert="horz" lIns="91440" tIns="45720" rIns="91440" bIns="45720" rtlCol="0" anchor="ctr">
            <a:noAutofit/>
          </a:bodyPr>
          <a:lstStyle>
            <a:lvl1pPr>
              <a:spcBef>
                <a:spcPct val="0"/>
              </a:spcBef>
              <a:buNone/>
              <a:defRPr sz="3200" b="0" cap="all">
                <a:ln w="3175" cmpd="sng">
                  <a:noFill/>
                </a:ln>
                <a:effectLst>
                  <a:glow rad="38100">
                    <a:schemeClr val="bg1">
                      <a:lumMod val="65000"/>
                      <a:lumOff val="35000"/>
                      <a:alpha val="40000"/>
                    </a:schemeClr>
                  </a:glow>
                  <a:outerShdw blurRad="28575" dist="38100" dir="14040000" algn="tl" rotWithShape="0">
                    <a:srgbClr val="000000">
                      <a:alpha val="25000"/>
                    </a:srgbClr>
                  </a:outerShdw>
                </a:effectLst>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vl6pPr>
              <a:defRPr>
                <a:solidFill>
                  <a:schemeClr val="tx2"/>
                </a:solidFill>
              </a:defRPr>
            </a:lvl6pPr>
            <a:lvl7pPr>
              <a:defRPr>
                <a:solidFill>
                  <a:schemeClr val="tx2"/>
                </a:solidFill>
              </a:defRPr>
            </a:lvl7pPr>
            <a:lvl8pPr>
              <a:defRPr>
                <a:solidFill>
                  <a:schemeClr val="tx2"/>
                </a:solidFill>
              </a:defRPr>
            </a:lvl8pPr>
            <a:lvl9pPr>
              <a:defRPr>
                <a:solidFill>
                  <a:schemeClr val="tx2"/>
                </a:solidFill>
              </a:defRPr>
            </a:lvl9pPr>
          </a:lstStyle>
          <a:p>
            <a:pPr lvl="0"/>
            <a:r>
              <a:rPr lang="en-US" sz="8000" dirty="0">
                <a:solidFill>
                  <a:schemeClr val="tx1"/>
                </a:solidFill>
                <a:effectLst/>
              </a:rPr>
              <a:t>“</a:t>
            </a:r>
          </a:p>
        </p:txBody>
      </p:sp>
      <p:sp>
        <p:nvSpPr>
          <p:cNvPr id="15" name="TextBox 14"/>
          <p:cNvSpPr txBox="1"/>
          <p:nvPr/>
        </p:nvSpPr>
        <p:spPr>
          <a:xfrm>
            <a:off x="10893425" y="2819399"/>
            <a:ext cx="609600" cy="584776"/>
          </a:xfrm>
          <a:prstGeom prst="rect">
            <a:avLst/>
          </a:prstGeom>
        </p:spPr>
        <p:txBody>
          <a:bodyPr vert="horz" lIns="91440" tIns="45720" rIns="91440" bIns="45720" rtlCol="0" anchor="ctr">
            <a:noAutofit/>
          </a:bodyPr>
          <a:lstStyle>
            <a:lvl1pPr>
              <a:spcBef>
                <a:spcPct val="0"/>
              </a:spcBef>
              <a:buNone/>
              <a:defRPr sz="3200" b="0" cap="all">
                <a:ln w="3175" cmpd="sng">
                  <a:noFill/>
                </a:ln>
                <a:effectLst>
                  <a:glow rad="38100">
                    <a:schemeClr val="bg1">
                      <a:lumMod val="65000"/>
                      <a:lumOff val="35000"/>
                      <a:alpha val="40000"/>
                    </a:schemeClr>
                  </a:glow>
                  <a:outerShdw blurRad="28575" dist="38100" dir="14040000" algn="tl" rotWithShape="0">
                    <a:srgbClr val="000000">
                      <a:alpha val="25000"/>
                    </a:srgbClr>
                  </a:outerShdw>
                </a:effectLst>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vl6pPr>
              <a:defRPr>
                <a:solidFill>
                  <a:schemeClr val="tx2"/>
                </a:solidFill>
              </a:defRPr>
            </a:lvl6pPr>
            <a:lvl7pPr>
              <a:defRPr>
                <a:solidFill>
                  <a:schemeClr val="tx2"/>
                </a:solidFill>
              </a:defRPr>
            </a:lvl7pPr>
            <a:lvl8pPr>
              <a:defRPr>
                <a:solidFill>
                  <a:schemeClr val="tx2"/>
                </a:solidFill>
              </a:defRPr>
            </a:lvl8pPr>
            <a:lvl9pPr>
              <a:defRPr>
                <a:solidFill>
                  <a:schemeClr val="tx2"/>
                </a:solidFill>
              </a:defRPr>
            </a:lvl9pPr>
          </a:lstStyle>
          <a:p>
            <a:pPr lvl="0" algn="r"/>
            <a:r>
              <a:rPr lang="en-US" sz="8000" dirty="0">
                <a:solidFill>
                  <a:schemeClr val="tx1"/>
                </a:solidFill>
                <a:effectLst/>
              </a:rPr>
              <a:t>”</a:t>
            </a:r>
          </a:p>
        </p:txBody>
      </p:sp>
      <p:sp>
        <p:nvSpPr>
          <p:cNvPr id="2" name="Title 1"/>
          <p:cNvSpPr>
            <a:spLocks noGrp="1"/>
          </p:cNvSpPr>
          <p:nvPr>
            <p:ph type="title"/>
          </p:nvPr>
        </p:nvSpPr>
        <p:spPr>
          <a:xfrm>
            <a:off x="2208212" y="685800"/>
            <a:ext cx="8990012" cy="2743199"/>
          </a:xfrm>
        </p:spPr>
        <p:txBody>
          <a:bodyPr anchor="ctr">
            <a:normAutofit/>
          </a:bodyPr>
          <a:lstStyle>
            <a:lvl1pPr algn="ctr">
              <a:defRPr sz="3200" b="0" cap="none">
                <a:solidFill>
                  <a:schemeClr val="tx1"/>
                </a:solidFill>
              </a:defRPr>
            </a:lvl1pPr>
          </a:lstStyle>
          <a:p>
            <a:r>
              <a:rPr lang="en-US"/>
              <a:t>Click to edit Master title style</a:t>
            </a:r>
            <a:endParaRPr lang="en-US" dirty="0"/>
          </a:p>
        </p:txBody>
      </p:sp>
      <p:sp>
        <p:nvSpPr>
          <p:cNvPr id="10" name="Text Placeholder 9"/>
          <p:cNvSpPr>
            <a:spLocks noGrp="1"/>
          </p:cNvSpPr>
          <p:nvPr>
            <p:ph type="body" sz="quarter" idx="13"/>
          </p:nvPr>
        </p:nvSpPr>
        <p:spPr>
          <a:xfrm>
            <a:off x="1484313" y="3886200"/>
            <a:ext cx="10018710" cy="889000"/>
          </a:xfrm>
        </p:spPr>
        <p:txBody>
          <a:bodyPr vert="horz" lIns="91440" tIns="45720" rIns="91440" bIns="45720" rtlCol="0" anchor="b">
            <a:normAutofit/>
          </a:bodyPr>
          <a:lstStyle>
            <a:lvl1pPr algn="r">
              <a:buNone/>
              <a:defRPr lang="en-US" sz="2400" b="0" cap="none" dirty="0">
                <a:ln w="3175" cmpd="sng">
                  <a:noFill/>
                </a:ln>
                <a:solidFill>
                  <a:schemeClr val="tx1"/>
                </a:solidFill>
                <a:effectLst/>
              </a:defRPr>
            </a:lvl1pPr>
          </a:lstStyle>
          <a:p>
            <a:pPr marL="0" lvl="0">
              <a:spcBef>
                <a:spcPct val="0"/>
              </a:spcBef>
              <a:buNone/>
            </a:pPr>
            <a:r>
              <a:rPr lang="en-US"/>
              <a:t>Click to edit Master text styles</a:t>
            </a:r>
          </a:p>
        </p:txBody>
      </p:sp>
      <p:sp>
        <p:nvSpPr>
          <p:cNvPr id="3" name="Text Placeholder 2"/>
          <p:cNvSpPr>
            <a:spLocks noGrp="1"/>
          </p:cNvSpPr>
          <p:nvPr>
            <p:ph type="body" idx="1"/>
          </p:nvPr>
        </p:nvSpPr>
        <p:spPr>
          <a:xfrm>
            <a:off x="1484312" y="4775200"/>
            <a:ext cx="10018710" cy="1016000"/>
          </a:xfrm>
        </p:spPr>
        <p:txBody>
          <a:bodyPr anchor="t">
            <a:normAutofit/>
          </a:bodyPr>
          <a:lstStyle>
            <a:lvl1pPr marL="0" indent="0" algn="r">
              <a:buNone/>
              <a:defRPr sz="18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29B65A6F-278B-4CDD-9D87-CDBCEA575D87}" type="datetime1">
              <a:rPr lang="en-IN" smtClean="0"/>
              <a:t>02-08-2026</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FC17D557-F0CE-4392-A7D6-8FC60F89328E}" type="slidenum">
              <a:rPr lang="en-IN" smtClean="0"/>
              <a:t>‹#›</a:t>
            </a:fld>
            <a:endParaRPr lang="en-IN"/>
          </a:p>
        </p:txBody>
      </p:sp>
    </p:spTree>
    <p:extLst>
      <p:ext uri="{BB962C8B-B14F-4D97-AF65-F5344CB8AC3E}">
        <p14:creationId xmlns:p14="http://schemas.microsoft.com/office/powerpoint/2010/main" val="3902525636"/>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p:cSld name="True or False">
    <p:spTree>
      <p:nvGrpSpPr>
        <p:cNvPr id="1" name=""/>
        <p:cNvGrpSpPr/>
        <p:nvPr/>
      </p:nvGrpSpPr>
      <p:grpSpPr>
        <a:xfrm>
          <a:off x="0" y="0"/>
          <a:ext cx="0" cy="0"/>
          <a:chOff x="0" y="0"/>
          <a:chExt cx="0" cy="0"/>
        </a:xfrm>
      </p:grpSpPr>
      <p:sp>
        <p:nvSpPr>
          <p:cNvPr id="2" name="Title 1"/>
          <p:cNvSpPr>
            <a:spLocks noGrp="1"/>
          </p:cNvSpPr>
          <p:nvPr>
            <p:ph type="title"/>
          </p:nvPr>
        </p:nvSpPr>
        <p:spPr>
          <a:xfrm>
            <a:off x="1484313" y="685800"/>
            <a:ext cx="10018712" cy="2727325"/>
          </a:xfrm>
        </p:spPr>
        <p:txBody>
          <a:bodyPr vert="horz" lIns="91440" tIns="45720" rIns="91440" bIns="45720" rtlCol="0" anchor="ctr">
            <a:normAutofit/>
          </a:bodyPr>
          <a:lstStyle>
            <a:lvl1pPr>
              <a:defRPr lang="en-US" b="0" dirty="0"/>
            </a:lvl1pPr>
          </a:lstStyle>
          <a:p>
            <a:pPr marL="0" lvl="0"/>
            <a:r>
              <a:rPr lang="en-US"/>
              <a:t>Click to edit Master title style</a:t>
            </a:r>
            <a:endParaRPr lang="en-US" dirty="0"/>
          </a:p>
        </p:txBody>
      </p:sp>
      <p:sp>
        <p:nvSpPr>
          <p:cNvPr id="10" name="Text Placeholder 9"/>
          <p:cNvSpPr>
            <a:spLocks noGrp="1"/>
          </p:cNvSpPr>
          <p:nvPr>
            <p:ph type="body" sz="quarter" idx="13"/>
          </p:nvPr>
        </p:nvSpPr>
        <p:spPr>
          <a:xfrm>
            <a:off x="1484312" y="3505200"/>
            <a:ext cx="10018713" cy="838200"/>
          </a:xfrm>
        </p:spPr>
        <p:txBody>
          <a:bodyPr vert="horz" lIns="91440" tIns="45720" rIns="91440" bIns="45720" rtlCol="0" anchor="b">
            <a:normAutofit/>
          </a:bodyPr>
          <a:lstStyle>
            <a:lvl1pPr>
              <a:buNone/>
              <a:defRPr lang="en-US" sz="2800" b="0" cap="none" dirty="0">
                <a:ln w="3175" cmpd="sng">
                  <a:noFill/>
                </a:ln>
                <a:solidFill>
                  <a:schemeClr val="tx1"/>
                </a:solidFill>
                <a:effectLst/>
              </a:defRPr>
            </a:lvl1pPr>
          </a:lstStyle>
          <a:p>
            <a:pPr marL="0" lvl="0">
              <a:spcBef>
                <a:spcPct val="0"/>
              </a:spcBef>
              <a:buNone/>
            </a:pPr>
            <a:r>
              <a:rPr lang="en-US"/>
              <a:t>Click to edit Master text styles</a:t>
            </a:r>
          </a:p>
        </p:txBody>
      </p:sp>
      <p:sp>
        <p:nvSpPr>
          <p:cNvPr id="3" name="Text Placeholder 2"/>
          <p:cNvSpPr>
            <a:spLocks noGrp="1"/>
          </p:cNvSpPr>
          <p:nvPr>
            <p:ph type="body" idx="1"/>
          </p:nvPr>
        </p:nvSpPr>
        <p:spPr>
          <a:xfrm>
            <a:off x="1484311" y="4343400"/>
            <a:ext cx="10018713" cy="1447800"/>
          </a:xfrm>
        </p:spPr>
        <p:txBody>
          <a:bodyPr anchor="t">
            <a:normAutofit/>
          </a:bodyPr>
          <a:lstStyle>
            <a:lvl1pPr marL="0" indent="0" algn="l">
              <a:buNone/>
              <a:defRPr sz="18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D6912660-003B-4A0F-A0F1-3150D01A960C}" type="datetime1">
              <a:rPr lang="en-IN" smtClean="0"/>
              <a:t>02-08-2026</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FC17D557-F0CE-4392-A7D6-8FC60F89328E}" type="slidenum">
              <a:rPr lang="en-IN" smtClean="0"/>
              <a:t>‹#›</a:t>
            </a:fld>
            <a:endParaRPr lang="en-IN"/>
          </a:p>
        </p:txBody>
      </p:sp>
    </p:spTree>
    <p:extLst>
      <p:ext uri="{BB962C8B-B14F-4D97-AF65-F5344CB8AC3E}">
        <p14:creationId xmlns:p14="http://schemas.microsoft.com/office/powerpoint/2010/main" val="219740882"/>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lgn="ctr">
              <a:defRPr/>
            </a:lvl1p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ncho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07AF1413-B5F0-480E-B0EA-79FABB385181}" type="datetime1">
              <a:rPr lang="en-IN" smtClean="0"/>
              <a:t>02-08-2026</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FC17D557-F0CE-4392-A7D6-8FC60F89328E}" type="slidenum">
              <a:rPr lang="en-IN" smtClean="0"/>
              <a:t>‹#›</a:t>
            </a:fld>
            <a:endParaRPr lang="en-IN"/>
          </a:p>
        </p:txBody>
      </p:sp>
    </p:spTree>
    <p:extLst>
      <p:ext uri="{BB962C8B-B14F-4D97-AF65-F5344CB8AC3E}">
        <p14:creationId xmlns:p14="http://schemas.microsoft.com/office/powerpoint/2010/main" val="4186855356"/>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9732655" y="685800"/>
            <a:ext cx="1770369" cy="5105400"/>
          </a:xfrm>
        </p:spPr>
        <p:txBody>
          <a:bodyPr vert="eaVert"/>
          <a:lstStyle/>
          <a:p>
            <a:r>
              <a:rPr lang="en-US"/>
              <a:t>Click to edit Master title style</a:t>
            </a:r>
            <a:endParaRPr lang="en-US" dirty="0"/>
          </a:p>
        </p:txBody>
      </p:sp>
      <p:sp>
        <p:nvSpPr>
          <p:cNvPr id="3" name="Vertical Text Placeholder 2"/>
          <p:cNvSpPr>
            <a:spLocks noGrp="1"/>
          </p:cNvSpPr>
          <p:nvPr>
            <p:ph type="body" orient="vert" idx="1"/>
          </p:nvPr>
        </p:nvSpPr>
        <p:spPr>
          <a:xfrm>
            <a:off x="1484312" y="685800"/>
            <a:ext cx="8019742" cy="5105400"/>
          </a:xfrm>
        </p:spPr>
        <p:txBody>
          <a:bodyPr vert="eaVert" ancho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3F3E2DF0-A1A9-4465-98A5-C23D3C64224D}" type="datetime1">
              <a:rPr lang="en-IN" smtClean="0"/>
              <a:t>02-08-2026</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FC17D557-F0CE-4392-A7D6-8FC60F89328E}" type="slidenum">
              <a:rPr lang="en-IN" smtClean="0"/>
              <a:t>‹#›</a:t>
            </a:fld>
            <a:endParaRPr lang="en-IN"/>
          </a:p>
        </p:txBody>
      </p:sp>
    </p:spTree>
    <p:extLst>
      <p:ext uri="{BB962C8B-B14F-4D97-AF65-F5344CB8AC3E}">
        <p14:creationId xmlns:p14="http://schemas.microsoft.com/office/powerpoint/2010/main" val="3561100855"/>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3">
        <a:schemeClr val="bg2"/>
      </p:bgRef>
    </p:bg>
    <p:spTree>
      <p:nvGrpSpPr>
        <p:cNvPr id="1" name=""/>
        <p:cNvGrpSpPr/>
        <p:nvPr/>
      </p:nvGrpSpPr>
      <p:grpSpPr>
        <a:xfrm>
          <a:off x="0" y="0"/>
          <a:ext cx="0" cy="0"/>
          <a:chOff x="0" y="0"/>
          <a:chExt cx="0" cy="0"/>
        </a:xfrm>
      </p:grpSpPr>
      <p:grpSp>
        <p:nvGrpSpPr>
          <p:cNvPr id="7" name="Group 6"/>
          <p:cNvGrpSpPr/>
          <p:nvPr/>
        </p:nvGrpSpPr>
        <p:grpSpPr>
          <a:xfrm>
            <a:off x="150812" y="0"/>
            <a:ext cx="2436813" cy="6858001"/>
            <a:chOff x="1320800" y="0"/>
            <a:chExt cx="2436813" cy="6858001"/>
          </a:xfrm>
        </p:grpSpPr>
        <p:sp>
          <p:nvSpPr>
            <p:cNvPr id="8" name="Freeform 6"/>
            <p:cNvSpPr/>
            <p:nvPr/>
          </p:nvSpPr>
          <p:spPr bwMode="auto">
            <a:xfrm>
              <a:off x="1627188" y="0"/>
              <a:ext cx="1122363" cy="5329238"/>
            </a:xfrm>
            <a:custGeom>
              <a:avLst/>
              <a:gdLst/>
              <a:ahLst/>
              <a:cxnLst/>
              <a:rect l="0" t="0" r="r" b="b"/>
              <a:pathLst>
                <a:path w="707" h="3357">
                  <a:moveTo>
                    <a:pt x="0" y="3330"/>
                  </a:moveTo>
                  <a:lnTo>
                    <a:pt x="156" y="3357"/>
                  </a:lnTo>
                  <a:lnTo>
                    <a:pt x="707" y="0"/>
                  </a:lnTo>
                  <a:lnTo>
                    <a:pt x="547" y="0"/>
                  </a:lnTo>
                  <a:lnTo>
                    <a:pt x="0" y="3330"/>
                  </a:lnTo>
                  <a:close/>
                </a:path>
              </a:pathLst>
            </a:custGeom>
            <a:solidFill>
              <a:schemeClr val="accent1"/>
            </a:solidFill>
            <a:ln>
              <a:noFill/>
            </a:ln>
          </p:spPr>
        </p:sp>
        <p:sp>
          <p:nvSpPr>
            <p:cNvPr id="9" name="Freeform 7"/>
            <p:cNvSpPr/>
            <p:nvPr/>
          </p:nvSpPr>
          <p:spPr bwMode="auto">
            <a:xfrm>
              <a:off x="1320800" y="0"/>
              <a:ext cx="1117600" cy="5276850"/>
            </a:xfrm>
            <a:custGeom>
              <a:avLst/>
              <a:gdLst/>
              <a:ahLst/>
              <a:cxnLst/>
              <a:rect l="0" t="0" r="r" b="b"/>
              <a:pathLst>
                <a:path w="704" h="3324">
                  <a:moveTo>
                    <a:pt x="704" y="0"/>
                  </a:moveTo>
                  <a:lnTo>
                    <a:pt x="545" y="0"/>
                  </a:lnTo>
                  <a:lnTo>
                    <a:pt x="0" y="3300"/>
                  </a:lnTo>
                  <a:lnTo>
                    <a:pt x="157" y="3324"/>
                  </a:lnTo>
                  <a:lnTo>
                    <a:pt x="704" y="0"/>
                  </a:lnTo>
                  <a:close/>
                </a:path>
              </a:pathLst>
            </a:custGeom>
            <a:solidFill>
              <a:schemeClr val="tx1">
                <a:lumMod val="65000"/>
                <a:lumOff val="35000"/>
              </a:schemeClr>
            </a:solidFill>
            <a:ln>
              <a:noFill/>
            </a:ln>
          </p:spPr>
        </p:sp>
        <p:sp>
          <p:nvSpPr>
            <p:cNvPr id="10" name="Freeform 8"/>
            <p:cNvSpPr/>
            <p:nvPr/>
          </p:nvSpPr>
          <p:spPr bwMode="auto">
            <a:xfrm>
              <a:off x="1320800" y="5238750"/>
              <a:ext cx="1228725" cy="1619250"/>
            </a:xfrm>
            <a:custGeom>
              <a:avLst/>
              <a:gdLst/>
              <a:ahLst/>
              <a:cxnLst/>
              <a:rect l="0" t="0" r="r" b="b"/>
              <a:pathLst>
                <a:path w="774" h="1020">
                  <a:moveTo>
                    <a:pt x="0" y="0"/>
                  </a:moveTo>
                  <a:lnTo>
                    <a:pt x="740" y="1020"/>
                  </a:lnTo>
                  <a:lnTo>
                    <a:pt x="774" y="1020"/>
                  </a:lnTo>
                  <a:lnTo>
                    <a:pt x="0" y="0"/>
                  </a:lnTo>
                  <a:close/>
                </a:path>
              </a:pathLst>
            </a:custGeom>
            <a:solidFill>
              <a:schemeClr val="tx1">
                <a:lumMod val="85000"/>
                <a:lumOff val="15000"/>
              </a:schemeClr>
            </a:solidFill>
            <a:ln>
              <a:noFill/>
            </a:ln>
          </p:spPr>
        </p:sp>
        <p:sp>
          <p:nvSpPr>
            <p:cNvPr id="11" name="Freeform 9"/>
            <p:cNvSpPr/>
            <p:nvPr/>
          </p:nvSpPr>
          <p:spPr bwMode="auto">
            <a:xfrm>
              <a:off x="1627188" y="5291138"/>
              <a:ext cx="1495425" cy="1566863"/>
            </a:xfrm>
            <a:custGeom>
              <a:avLst/>
              <a:gdLst/>
              <a:ahLst/>
              <a:cxnLst/>
              <a:rect l="0" t="0" r="r" b="b"/>
              <a:pathLst>
                <a:path w="942" h="987">
                  <a:moveTo>
                    <a:pt x="0" y="0"/>
                  </a:moveTo>
                  <a:lnTo>
                    <a:pt x="909" y="987"/>
                  </a:lnTo>
                  <a:lnTo>
                    <a:pt x="942" y="987"/>
                  </a:lnTo>
                  <a:lnTo>
                    <a:pt x="0" y="0"/>
                  </a:lnTo>
                  <a:close/>
                </a:path>
              </a:pathLst>
            </a:custGeom>
            <a:solidFill>
              <a:schemeClr val="accent1">
                <a:lumMod val="50000"/>
              </a:schemeClr>
            </a:solidFill>
            <a:ln>
              <a:noFill/>
            </a:ln>
          </p:spPr>
        </p:sp>
        <p:sp>
          <p:nvSpPr>
            <p:cNvPr id="12" name="Freeform 10"/>
            <p:cNvSpPr/>
            <p:nvPr/>
          </p:nvSpPr>
          <p:spPr bwMode="auto">
            <a:xfrm>
              <a:off x="1627188" y="5286375"/>
              <a:ext cx="2130425" cy="1571625"/>
            </a:xfrm>
            <a:custGeom>
              <a:avLst/>
              <a:gdLst/>
              <a:ahLst/>
              <a:cxnLst/>
              <a:rect l="0" t="0" r="r" b="b"/>
              <a:pathLst>
                <a:path w="1342" h="990">
                  <a:moveTo>
                    <a:pt x="0" y="3"/>
                  </a:moveTo>
                  <a:lnTo>
                    <a:pt x="942" y="990"/>
                  </a:lnTo>
                  <a:lnTo>
                    <a:pt x="1342" y="990"/>
                  </a:lnTo>
                  <a:lnTo>
                    <a:pt x="156" y="27"/>
                  </a:lnTo>
                  <a:lnTo>
                    <a:pt x="0" y="0"/>
                  </a:lnTo>
                  <a:lnTo>
                    <a:pt x="0" y="3"/>
                  </a:lnTo>
                  <a:close/>
                </a:path>
              </a:pathLst>
            </a:custGeom>
            <a:solidFill>
              <a:schemeClr val="accent1">
                <a:lumMod val="75000"/>
              </a:schemeClr>
            </a:solidFill>
            <a:ln>
              <a:noFill/>
            </a:ln>
          </p:spPr>
        </p:sp>
        <p:sp>
          <p:nvSpPr>
            <p:cNvPr id="13" name="Freeform 11"/>
            <p:cNvSpPr/>
            <p:nvPr/>
          </p:nvSpPr>
          <p:spPr bwMode="auto">
            <a:xfrm>
              <a:off x="1320800" y="5238750"/>
              <a:ext cx="1695450" cy="1619250"/>
            </a:xfrm>
            <a:custGeom>
              <a:avLst/>
              <a:gdLst/>
              <a:ahLst/>
              <a:cxnLst/>
              <a:rect l="0" t="0" r="r" b="b"/>
              <a:pathLst>
                <a:path w="1068" h="1020">
                  <a:moveTo>
                    <a:pt x="1068" y="1020"/>
                  </a:moveTo>
                  <a:lnTo>
                    <a:pt x="184" y="60"/>
                  </a:lnTo>
                  <a:lnTo>
                    <a:pt x="154" y="27"/>
                  </a:lnTo>
                  <a:lnTo>
                    <a:pt x="157" y="27"/>
                  </a:lnTo>
                  <a:lnTo>
                    <a:pt x="157" y="24"/>
                  </a:lnTo>
                  <a:lnTo>
                    <a:pt x="154" y="24"/>
                  </a:lnTo>
                  <a:lnTo>
                    <a:pt x="0" y="0"/>
                  </a:lnTo>
                  <a:lnTo>
                    <a:pt x="0" y="0"/>
                  </a:lnTo>
                  <a:lnTo>
                    <a:pt x="774" y="1020"/>
                  </a:lnTo>
                  <a:lnTo>
                    <a:pt x="1068" y="1020"/>
                  </a:lnTo>
                  <a:close/>
                </a:path>
              </a:pathLst>
            </a:custGeom>
            <a:solidFill>
              <a:schemeClr val="tx1">
                <a:lumMod val="75000"/>
                <a:lumOff val="25000"/>
              </a:schemeClr>
            </a:solidFill>
            <a:ln>
              <a:noFill/>
            </a:ln>
          </p:spPr>
        </p:sp>
      </p:grpSp>
      <p:sp>
        <p:nvSpPr>
          <p:cNvPr id="2" name="Title Placeholder 1"/>
          <p:cNvSpPr>
            <a:spLocks noGrp="1"/>
          </p:cNvSpPr>
          <p:nvPr>
            <p:ph type="title"/>
          </p:nvPr>
        </p:nvSpPr>
        <p:spPr>
          <a:xfrm>
            <a:off x="1484311" y="685800"/>
            <a:ext cx="10018713" cy="1752599"/>
          </a:xfrm>
          <a:prstGeom prst="rect">
            <a:avLst/>
          </a:prstGeom>
          <a:effectLst/>
        </p:spPr>
        <p:txBody>
          <a:bodyPr vert="horz" lIns="91440" tIns="45720" rIns="91440" bIns="45720" rtlCol="0" anchor="ctr">
            <a:normAutofit/>
          </a:bodyPr>
          <a:lstStyle/>
          <a:p>
            <a:r>
              <a:rPr lang="en-US"/>
              <a:t>Click to edit Master title style</a:t>
            </a:r>
            <a:endParaRPr lang="en-US" dirty="0"/>
          </a:p>
        </p:txBody>
      </p:sp>
      <p:sp>
        <p:nvSpPr>
          <p:cNvPr id="3" name="Text Placeholder 2"/>
          <p:cNvSpPr>
            <a:spLocks noGrp="1"/>
          </p:cNvSpPr>
          <p:nvPr>
            <p:ph type="body" idx="1"/>
          </p:nvPr>
        </p:nvSpPr>
        <p:spPr>
          <a:xfrm>
            <a:off x="1484310" y="2666999"/>
            <a:ext cx="10018713" cy="3124201"/>
          </a:xfrm>
          <a:prstGeom prst="rect">
            <a:avLst/>
          </a:prstGeom>
        </p:spPr>
        <p:txBody>
          <a:bodyPr vert="horz" lIns="91440" tIns="45720" rIns="91440" bIns="45720" rtlCol="0" anchor="ct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9732656" y="5883275"/>
            <a:ext cx="1143000" cy="365125"/>
          </a:xfrm>
          <a:prstGeom prst="rect">
            <a:avLst/>
          </a:prstGeom>
        </p:spPr>
        <p:txBody>
          <a:bodyPr vert="horz" lIns="91440" tIns="45720" rIns="91440" bIns="45720" rtlCol="0" anchor="ctr"/>
          <a:lstStyle>
            <a:lvl1pPr algn="r">
              <a:defRPr sz="1000" b="0" i="0">
                <a:solidFill>
                  <a:schemeClr val="tx1"/>
                </a:solidFill>
                <a:effectLst/>
                <a:latin typeface="+mn-lt"/>
              </a:defRPr>
            </a:lvl1pPr>
          </a:lstStyle>
          <a:p>
            <a:fld id="{228464DB-750B-42C2-8D3B-831CE6389F0D}" type="datetime1">
              <a:rPr lang="en-IN" smtClean="0"/>
              <a:t>02-08-2026</a:t>
            </a:fld>
            <a:endParaRPr lang="en-IN"/>
          </a:p>
        </p:txBody>
      </p:sp>
      <p:sp>
        <p:nvSpPr>
          <p:cNvPr id="5" name="Footer Placeholder 4"/>
          <p:cNvSpPr>
            <a:spLocks noGrp="1"/>
          </p:cNvSpPr>
          <p:nvPr>
            <p:ph type="ftr" sz="quarter" idx="3"/>
          </p:nvPr>
        </p:nvSpPr>
        <p:spPr>
          <a:xfrm>
            <a:off x="2572279" y="5883275"/>
            <a:ext cx="7084177" cy="365125"/>
          </a:xfrm>
          <a:prstGeom prst="rect">
            <a:avLst/>
          </a:prstGeom>
        </p:spPr>
        <p:txBody>
          <a:bodyPr vert="horz" lIns="91440" tIns="45720" rIns="91440" bIns="45720" rtlCol="0" anchor="ctr"/>
          <a:lstStyle>
            <a:lvl1pPr algn="l">
              <a:defRPr sz="1000" b="0" i="0">
                <a:solidFill>
                  <a:schemeClr val="tx1"/>
                </a:solidFill>
                <a:effectLst/>
                <a:latin typeface="+mn-lt"/>
              </a:defRPr>
            </a:lvl1pPr>
          </a:lstStyle>
          <a:p>
            <a:endParaRPr lang="en-IN"/>
          </a:p>
        </p:txBody>
      </p:sp>
      <p:sp>
        <p:nvSpPr>
          <p:cNvPr id="6" name="Slide Number Placeholder 5"/>
          <p:cNvSpPr>
            <a:spLocks noGrp="1"/>
          </p:cNvSpPr>
          <p:nvPr>
            <p:ph type="sldNum" sz="quarter" idx="4"/>
          </p:nvPr>
        </p:nvSpPr>
        <p:spPr>
          <a:xfrm>
            <a:off x="10951856" y="5883275"/>
            <a:ext cx="551167" cy="365125"/>
          </a:xfrm>
          <a:prstGeom prst="rect">
            <a:avLst/>
          </a:prstGeom>
        </p:spPr>
        <p:txBody>
          <a:bodyPr vert="horz" lIns="91440" tIns="45720" rIns="91440" bIns="45720" rtlCol="0" anchor="ctr"/>
          <a:lstStyle>
            <a:lvl1pPr algn="r">
              <a:defRPr sz="1000" b="0" i="0">
                <a:solidFill>
                  <a:schemeClr val="tx1"/>
                </a:solidFill>
                <a:effectLst/>
                <a:latin typeface="+mn-lt"/>
              </a:defRPr>
            </a:lvl1pPr>
          </a:lstStyle>
          <a:p>
            <a:fld id="{FC17D557-F0CE-4392-A7D6-8FC60F89328E}" type="slidenum">
              <a:rPr lang="en-IN" smtClean="0"/>
              <a:t>‹#›</a:t>
            </a:fld>
            <a:endParaRPr lang="en-IN"/>
          </a:p>
        </p:txBody>
      </p:sp>
    </p:spTree>
    <p:extLst>
      <p:ext uri="{BB962C8B-B14F-4D97-AF65-F5344CB8AC3E}">
        <p14:creationId xmlns:p14="http://schemas.microsoft.com/office/powerpoint/2010/main" val="3227952138"/>
      </p:ext>
    </p:extLst>
  </p:cSld>
  <p:clrMap bg1="lt1" tx1="dk1" bg2="lt2" tx2="dk2" accent1="accent1" accent2="accent2" accent3="accent3" accent4="accent4" accent5="accent5" accent6="accent6" hlink="hlink" folHlink="folHlink"/>
  <p:sldLayoutIdLst>
    <p:sldLayoutId id="2147483756" r:id="rId1"/>
    <p:sldLayoutId id="2147483757" r:id="rId2"/>
    <p:sldLayoutId id="2147483758" r:id="rId3"/>
    <p:sldLayoutId id="2147483759" r:id="rId4"/>
    <p:sldLayoutId id="2147483760" r:id="rId5"/>
    <p:sldLayoutId id="2147483761" r:id="rId6"/>
    <p:sldLayoutId id="2147483762" r:id="rId7"/>
    <p:sldLayoutId id="2147483763" r:id="rId8"/>
    <p:sldLayoutId id="2147483764" r:id="rId9"/>
    <p:sldLayoutId id="2147483765" r:id="rId10"/>
    <p:sldLayoutId id="2147483766" r:id="rId11"/>
    <p:sldLayoutId id="2147483767" r:id="rId12"/>
    <p:sldLayoutId id="2147483768" r:id="rId13"/>
    <p:sldLayoutId id="2147483769" r:id="rId14"/>
    <p:sldLayoutId id="2147483770" r:id="rId15"/>
    <p:sldLayoutId id="2147483771" r:id="rId16"/>
    <p:sldLayoutId id="2147483772" r:id="rId17"/>
  </p:sldLayoutIdLst>
  <p:hf sldNum="0" hdr="0" ftr="0" dt="0"/>
  <p:txStyles>
    <p:titleStyle>
      <a:lvl1pPr algn="ctr" defTabSz="457200" rtl="0" eaLnBrk="1" latinLnBrk="0" hangingPunct="1">
        <a:spcBef>
          <a:spcPct val="0"/>
        </a:spcBef>
        <a:buNone/>
        <a:defRPr sz="4000" kern="1200" cap="none">
          <a:ln w="3175" cmpd="sng">
            <a:noFill/>
          </a:ln>
          <a:solidFill>
            <a:schemeClr val="tx1"/>
          </a:solidFill>
          <a:effectLst/>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285750" indent="-285750" algn="l" defTabSz="457200" rtl="0" eaLnBrk="1" latinLnBrk="0" hangingPunct="1">
        <a:spcBef>
          <a:spcPct val="20000"/>
        </a:spcBef>
        <a:spcAft>
          <a:spcPts val="600"/>
        </a:spcAft>
        <a:buClr>
          <a:schemeClr val="accent1">
            <a:lumMod val="75000"/>
          </a:schemeClr>
        </a:buClr>
        <a:buSzPct val="145000"/>
        <a:buFont typeface="Arial"/>
        <a:buChar char="•"/>
        <a:defRPr sz="2400" kern="1200" cap="none">
          <a:solidFill>
            <a:schemeClr val="tx1"/>
          </a:solidFill>
          <a:effectLst/>
          <a:latin typeface="+mn-lt"/>
          <a:ea typeface="+mn-ea"/>
          <a:cs typeface="+mn-cs"/>
        </a:defRPr>
      </a:lvl1pPr>
      <a:lvl2pPr marL="742950" indent="-285750" algn="l" defTabSz="457200" rtl="0" eaLnBrk="1" latinLnBrk="0" hangingPunct="1">
        <a:spcBef>
          <a:spcPct val="20000"/>
        </a:spcBef>
        <a:spcAft>
          <a:spcPts val="600"/>
        </a:spcAft>
        <a:buClr>
          <a:schemeClr val="accent1">
            <a:lumMod val="75000"/>
          </a:schemeClr>
        </a:buClr>
        <a:buSzPct val="145000"/>
        <a:buFont typeface="Arial"/>
        <a:buChar char="•"/>
        <a:defRPr sz="2000" kern="1200" cap="none">
          <a:solidFill>
            <a:schemeClr val="tx1"/>
          </a:solidFill>
          <a:effectLst/>
          <a:latin typeface="+mn-lt"/>
          <a:ea typeface="+mn-ea"/>
          <a:cs typeface="+mn-cs"/>
        </a:defRPr>
      </a:lvl2pPr>
      <a:lvl3pPr marL="1200150" indent="-285750" algn="l" defTabSz="457200" rtl="0" eaLnBrk="1" latinLnBrk="0" hangingPunct="1">
        <a:spcBef>
          <a:spcPct val="20000"/>
        </a:spcBef>
        <a:spcAft>
          <a:spcPts val="600"/>
        </a:spcAft>
        <a:buClr>
          <a:schemeClr val="accent1">
            <a:lumMod val="75000"/>
          </a:schemeClr>
        </a:buClr>
        <a:buSzPct val="145000"/>
        <a:buFont typeface="Arial"/>
        <a:buChar char="•"/>
        <a:defRPr sz="1800" kern="1200" cap="none">
          <a:solidFill>
            <a:schemeClr val="tx1"/>
          </a:solidFill>
          <a:effectLst/>
          <a:latin typeface="+mn-lt"/>
          <a:ea typeface="+mn-ea"/>
          <a:cs typeface="+mn-cs"/>
        </a:defRPr>
      </a:lvl3pPr>
      <a:lvl4pPr marL="1543050" indent="-171450" algn="l" defTabSz="457200" rtl="0" eaLnBrk="1" latinLnBrk="0" hangingPunct="1">
        <a:spcBef>
          <a:spcPct val="20000"/>
        </a:spcBef>
        <a:spcAft>
          <a:spcPts val="600"/>
        </a:spcAft>
        <a:buClr>
          <a:schemeClr val="accent1">
            <a:lumMod val="75000"/>
          </a:schemeClr>
        </a:buClr>
        <a:buSzPct val="145000"/>
        <a:buFont typeface="Arial"/>
        <a:buChar char="•"/>
        <a:defRPr sz="1600" kern="1200" cap="none">
          <a:solidFill>
            <a:schemeClr val="tx1"/>
          </a:solidFill>
          <a:effectLst/>
          <a:latin typeface="+mn-lt"/>
          <a:ea typeface="+mn-ea"/>
          <a:cs typeface="+mn-cs"/>
        </a:defRPr>
      </a:lvl4pPr>
      <a:lvl5pPr marL="2000250" indent="-171450" algn="l" defTabSz="457200" rtl="0" eaLnBrk="1" latinLnBrk="0" hangingPunct="1">
        <a:spcBef>
          <a:spcPct val="20000"/>
        </a:spcBef>
        <a:spcAft>
          <a:spcPts val="600"/>
        </a:spcAft>
        <a:buClr>
          <a:schemeClr val="accent1">
            <a:lumMod val="75000"/>
          </a:schemeClr>
        </a:buClr>
        <a:buSzPct val="145000"/>
        <a:buFont typeface="Arial"/>
        <a:buChar char="•"/>
        <a:defRPr sz="1400" kern="1200" cap="none">
          <a:solidFill>
            <a:schemeClr val="tx1"/>
          </a:solidFill>
          <a:effectLst/>
          <a:latin typeface="+mn-lt"/>
          <a:ea typeface="+mn-ea"/>
          <a:cs typeface="+mn-cs"/>
        </a:defRPr>
      </a:lvl5pPr>
      <a:lvl6pPr marL="2514600" indent="-228600" algn="l" defTabSz="457200" rtl="0" eaLnBrk="1" latinLnBrk="0" hangingPunct="1">
        <a:spcBef>
          <a:spcPct val="20000"/>
        </a:spcBef>
        <a:spcAft>
          <a:spcPts val="600"/>
        </a:spcAft>
        <a:buClr>
          <a:schemeClr val="accent1">
            <a:lumMod val="75000"/>
          </a:schemeClr>
        </a:buClr>
        <a:buSzPct val="145000"/>
        <a:buFont typeface="Arial"/>
        <a:buChar char="•"/>
        <a:defRPr sz="1400" kern="1200" cap="none">
          <a:solidFill>
            <a:schemeClr val="tx1"/>
          </a:solidFill>
          <a:effectLst/>
          <a:latin typeface="+mn-lt"/>
          <a:ea typeface="+mn-ea"/>
          <a:cs typeface="+mn-cs"/>
        </a:defRPr>
      </a:lvl6pPr>
      <a:lvl7pPr marL="2971800" indent="-228600" algn="l" defTabSz="457200" rtl="0" eaLnBrk="1" latinLnBrk="0" hangingPunct="1">
        <a:spcBef>
          <a:spcPct val="20000"/>
        </a:spcBef>
        <a:spcAft>
          <a:spcPts val="600"/>
        </a:spcAft>
        <a:buClr>
          <a:schemeClr val="accent1">
            <a:lumMod val="75000"/>
          </a:schemeClr>
        </a:buClr>
        <a:buSzPct val="145000"/>
        <a:buFont typeface="Arial"/>
        <a:buChar char="•"/>
        <a:defRPr sz="1400" kern="1200" cap="none">
          <a:solidFill>
            <a:schemeClr val="tx1"/>
          </a:solidFill>
          <a:effectLst/>
          <a:latin typeface="+mn-lt"/>
          <a:ea typeface="+mn-ea"/>
          <a:cs typeface="+mn-cs"/>
        </a:defRPr>
      </a:lvl7pPr>
      <a:lvl8pPr marL="3429000" indent="-228600" algn="l" defTabSz="457200" rtl="0" eaLnBrk="1" latinLnBrk="0" hangingPunct="1">
        <a:spcBef>
          <a:spcPct val="20000"/>
        </a:spcBef>
        <a:spcAft>
          <a:spcPts val="600"/>
        </a:spcAft>
        <a:buClr>
          <a:schemeClr val="accent1">
            <a:lumMod val="75000"/>
          </a:schemeClr>
        </a:buClr>
        <a:buSzPct val="145000"/>
        <a:buFont typeface="Arial"/>
        <a:buChar char="•"/>
        <a:defRPr sz="1400" kern="1200" cap="none">
          <a:solidFill>
            <a:schemeClr val="tx1"/>
          </a:solidFill>
          <a:effectLst/>
          <a:latin typeface="+mn-lt"/>
          <a:ea typeface="+mn-ea"/>
          <a:cs typeface="+mn-cs"/>
        </a:defRPr>
      </a:lvl8pPr>
      <a:lvl9pPr marL="3886200" indent="-228600" algn="l" defTabSz="457200" rtl="0" eaLnBrk="1" latinLnBrk="0" hangingPunct="1">
        <a:spcBef>
          <a:spcPct val="20000"/>
        </a:spcBef>
        <a:spcAft>
          <a:spcPts val="600"/>
        </a:spcAft>
        <a:buClr>
          <a:schemeClr val="accent1">
            <a:lumMod val="75000"/>
          </a:schemeClr>
        </a:buClr>
        <a:buSzPct val="145000"/>
        <a:buFont typeface="Arial"/>
        <a:buChar char="•"/>
        <a:defRPr sz="1400" kern="1200" cap="none">
          <a:solidFill>
            <a:schemeClr val="tx1"/>
          </a:solidFill>
          <a:effectLst/>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4.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4.xml"/></Relationships>
</file>

<file path=ppt/slides/_rels/slide5.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4.xml"/></Relationships>
</file>

<file path=ppt/slides/_rels/slide8.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image" Target="../media/image8.png"/><Relationship Id="rId1" Type="http://schemas.openxmlformats.org/officeDocument/2006/relationships/slideLayout" Target="../slideLayouts/slideLayout7.xml"/><Relationship Id="rId4" Type="http://schemas.openxmlformats.org/officeDocument/2006/relationships/image" Target="../media/image10.png"/></Relationships>
</file>

<file path=ppt/slides/_rels/slide9.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image" Target="../media/image11.png"/><Relationship Id="rId1" Type="http://schemas.openxmlformats.org/officeDocument/2006/relationships/slideLayout" Target="../slideLayouts/slideLayout7.xml"/><Relationship Id="rId4" Type="http://schemas.openxmlformats.org/officeDocument/2006/relationships/image" Target="../media/image13.png"/></Relationships>
</file>

<file path=ppt/slides/_rels/slide10.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image" Target="../media/image15.png"/><Relationship Id="rId1" Type="http://schemas.openxmlformats.org/officeDocument/2006/relationships/slideLayout" Target="../slideLayouts/slideLayout7.xml"/><Relationship Id="rId4" Type="http://schemas.openxmlformats.org/officeDocument/2006/relationships/image" Target="../media/image17.png"/></Relationships>
</file>

<file path=ppt/slides/_rels/slide12.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image" Target="../media/image18.png"/><Relationship Id="rId1" Type="http://schemas.openxmlformats.org/officeDocument/2006/relationships/slideLayout" Target="../slideLayouts/slideLayout7.xml"/><Relationship Id="rId6" Type="http://schemas.openxmlformats.org/officeDocument/2006/relationships/image" Target="../media/image22.png"/><Relationship Id="rId5" Type="http://schemas.openxmlformats.org/officeDocument/2006/relationships/image" Target="../media/image21.png"/><Relationship Id="rId4" Type="http://schemas.openxmlformats.org/officeDocument/2006/relationships/image" Target="../media/image20.png"/></Relationships>
</file>

<file path=ppt/slides/_rels/slide13.xml.rels><?xml version="1.0" encoding="UTF-8" standalone="yes"?>
<Relationships xmlns="http://schemas.openxmlformats.org/package/2006/relationships"><Relationship Id="rId2" Type="http://schemas.openxmlformats.org/officeDocument/2006/relationships/image" Target="../media/image23.png"/><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3D087522-EA9B-1FFF-9C53-D7B8F58F69CD}"/>
              </a:ext>
            </a:extLst>
          </p:cNvPr>
          <p:cNvSpPr>
            <a:spLocks noGrp="1"/>
          </p:cNvSpPr>
          <p:nvPr>
            <p:ph type="title"/>
          </p:nvPr>
        </p:nvSpPr>
        <p:spPr>
          <a:xfrm>
            <a:off x="2118820" y="1420190"/>
            <a:ext cx="7954359" cy="1710353"/>
          </a:xfrm>
        </p:spPr>
        <p:txBody>
          <a:bodyPr>
            <a:noAutofit/>
          </a:bodyPr>
          <a:lstStyle/>
          <a:p>
            <a:r>
              <a:rPr lang="en-US" sz="2800" b="1" dirty="0">
                <a:latin typeface="Agency FB" panose="020B0503020202020204" pitchFamily="34" charset="0"/>
                <a:ea typeface="Calibri" panose="020F0502020204030204" pitchFamily="34" charset="0"/>
                <a:cs typeface="Times New Roman" panose="02020603050405020304" pitchFamily="18" charset="0"/>
              </a:rPr>
              <a:t>IE 501: Optimization Models</a:t>
            </a:r>
            <a:br>
              <a:rPr lang="en-US" sz="2800" b="1" dirty="0">
                <a:latin typeface="Times New Roman" panose="02020603050405020304" pitchFamily="18" charset="0"/>
                <a:ea typeface="Calibri" panose="020F0502020204030204" pitchFamily="34" charset="0"/>
                <a:cs typeface="Times New Roman" panose="02020603050405020304" pitchFamily="18" charset="0"/>
              </a:rPr>
            </a:br>
            <a:br>
              <a:rPr lang="en-US" sz="2800" b="1" dirty="0">
                <a:latin typeface="Times New Roman" panose="02020603050405020304" pitchFamily="18" charset="0"/>
                <a:ea typeface="Calibri" panose="020F0502020204030204" pitchFamily="34" charset="0"/>
                <a:cs typeface="Times New Roman" panose="02020603050405020304" pitchFamily="18" charset="0"/>
              </a:rPr>
            </a:br>
            <a:r>
              <a:rPr lang="en-US" sz="2400" b="1" dirty="0">
                <a:latin typeface="Agency FB" panose="020B0503020202020204" pitchFamily="34" charset="0"/>
              </a:rPr>
              <a:t>Network Flow Models for Optimal Survey Sampling and Fieldwork Allocation</a:t>
            </a:r>
            <a:br>
              <a:rPr lang="en-IN" sz="2400" b="1" dirty="0">
                <a:latin typeface="Agency FB" panose="020B0503020202020204" pitchFamily="34" charset="0"/>
                <a:ea typeface="Calibri" panose="020F0502020204030204" pitchFamily="34" charset="0"/>
                <a:cs typeface="Calibri" panose="020F0502020204030204" pitchFamily="34" charset="0"/>
              </a:rPr>
            </a:br>
            <a:endParaRPr lang="en-IN" sz="2400" b="1" dirty="0">
              <a:latin typeface="Agency FB" panose="020B0503020202020204" pitchFamily="34" charset="0"/>
              <a:ea typeface="Calibri" panose="020F0502020204030204" pitchFamily="34" charset="0"/>
              <a:cs typeface="Calibri" panose="020F0502020204030204" pitchFamily="34" charset="0"/>
            </a:endParaRPr>
          </a:p>
        </p:txBody>
      </p:sp>
      <p:sp>
        <p:nvSpPr>
          <p:cNvPr id="5" name="Content Placeholder 4">
            <a:extLst>
              <a:ext uri="{FF2B5EF4-FFF2-40B4-BE49-F238E27FC236}">
                <a16:creationId xmlns:a16="http://schemas.microsoft.com/office/drawing/2014/main" id="{66D88FCF-D0D2-FB05-6595-E7282392CB04}"/>
              </a:ext>
            </a:extLst>
          </p:cNvPr>
          <p:cNvSpPr>
            <a:spLocks noGrp="1"/>
          </p:cNvSpPr>
          <p:nvPr>
            <p:ph idx="1"/>
          </p:nvPr>
        </p:nvSpPr>
        <p:spPr>
          <a:xfrm>
            <a:off x="1550368" y="2583057"/>
            <a:ext cx="10515600" cy="3493627"/>
          </a:xfrm>
        </p:spPr>
        <p:txBody>
          <a:bodyPr>
            <a:noAutofit/>
          </a:bodyPr>
          <a:lstStyle/>
          <a:p>
            <a:pPr marL="0" indent="0">
              <a:buNone/>
            </a:pPr>
            <a:r>
              <a:rPr lang="en-US" sz="2000" b="1" dirty="0">
                <a:latin typeface="Agency FB" panose="020B0503020202020204" pitchFamily="34" charset="0"/>
                <a:ea typeface="Calibri" panose="020F0502020204030204" pitchFamily="34" charset="0"/>
                <a:cs typeface="Times New Roman" panose="02020603050405020304" pitchFamily="18" charset="0"/>
              </a:rPr>
              <a:t>Submitted By: </a:t>
            </a:r>
          </a:p>
          <a:p>
            <a:pPr marL="0" indent="0">
              <a:buNone/>
            </a:pPr>
            <a:r>
              <a:rPr lang="en-US" sz="2000" b="1" dirty="0">
                <a:latin typeface="Agency FB" panose="020B0503020202020204" pitchFamily="34" charset="0"/>
                <a:ea typeface="Calibri" panose="020F0502020204030204" pitchFamily="34" charset="0"/>
                <a:cs typeface="Times New Roman" panose="02020603050405020304" pitchFamily="18" charset="0"/>
              </a:rPr>
              <a:t>Dipendu Pal 25N0465</a:t>
            </a:r>
          </a:p>
          <a:p>
            <a:pPr marL="0" indent="0">
              <a:buNone/>
            </a:pPr>
            <a:r>
              <a:rPr lang="en-US" sz="2000" b="1" dirty="0">
                <a:latin typeface="Agency FB" panose="020B0503020202020204" pitchFamily="34" charset="0"/>
                <a:ea typeface="Calibri" panose="020F0502020204030204" pitchFamily="34" charset="0"/>
                <a:cs typeface="Times New Roman" panose="02020603050405020304" pitchFamily="18" charset="0"/>
              </a:rPr>
              <a:t>Under Guidance of </a:t>
            </a:r>
          </a:p>
          <a:p>
            <a:pPr marL="0" indent="0">
              <a:buNone/>
            </a:pPr>
            <a:r>
              <a:rPr lang="en-US" sz="2000" b="1" dirty="0">
                <a:latin typeface="Agency FB" panose="020B0503020202020204" pitchFamily="34" charset="0"/>
                <a:ea typeface="Calibri" panose="020F0502020204030204" pitchFamily="34" charset="0"/>
                <a:cs typeface="Times New Roman" panose="02020603050405020304" pitchFamily="18" charset="0"/>
              </a:rPr>
              <a:t>Prof. Vishnu Narayanan</a:t>
            </a:r>
          </a:p>
          <a:p>
            <a:pPr marL="0" indent="0">
              <a:buNone/>
            </a:pPr>
            <a:r>
              <a:rPr lang="en-US" sz="2000" b="1" dirty="0">
                <a:latin typeface="Agency FB" panose="020B0503020202020204" pitchFamily="34" charset="0"/>
                <a:ea typeface="Calibri" panose="020F0502020204030204" pitchFamily="34" charset="0"/>
                <a:cs typeface="Times New Roman" panose="02020603050405020304" pitchFamily="18" charset="0"/>
              </a:rPr>
              <a:t>Department of Industrial Engineering and Operations Research</a:t>
            </a:r>
            <a:endParaRPr lang="en-IN" sz="2000" b="1" dirty="0">
              <a:latin typeface="Agency FB" panose="020B0503020202020204" pitchFamily="34" charset="0"/>
              <a:ea typeface="Calibri" panose="020F0502020204030204" pitchFamily="34" charset="0"/>
              <a:cs typeface="Times New Roman" panose="02020603050405020304" pitchFamily="18" charset="0"/>
            </a:endParaRPr>
          </a:p>
        </p:txBody>
      </p:sp>
      <p:pic>
        <p:nvPicPr>
          <p:cNvPr id="1026" name="Picture 2" descr="IEOR Homepage | IEOR @ IIT Bombay">
            <a:extLst>
              <a:ext uri="{FF2B5EF4-FFF2-40B4-BE49-F238E27FC236}">
                <a16:creationId xmlns:a16="http://schemas.microsoft.com/office/drawing/2014/main" id="{CB0BCBA8-2337-8C1A-EB95-2AFA843AB305}"/>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0382491" y="5000263"/>
            <a:ext cx="1809508" cy="1856342"/>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978388862"/>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9756AF7A-0E37-97E8-30CD-1A41303AFA00}"/>
              </a:ext>
            </a:extLst>
          </p:cNvPr>
          <p:cNvSpPr>
            <a:spLocks noGrp="1"/>
          </p:cNvSpPr>
          <p:nvPr>
            <p:ph type="title"/>
          </p:nvPr>
        </p:nvSpPr>
        <p:spPr>
          <a:xfrm>
            <a:off x="1566842" y="-125560"/>
            <a:ext cx="10515600" cy="898013"/>
          </a:xfrm>
        </p:spPr>
        <p:txBody>
          <a:bodyPr>
            <a:noAutofit/>
          </a:bodyPr>
          <a:lstStyle/>
          <a:p>
            <a:pPr algn="l"/>
            <a:r>
              <a:rPr lang="en-IN" sz="3600" b="1" dirty="0">
                <a:latin typeface="Agency FB" panose="020B0503020202020204" pitchFamily="34" charset="0"/>
              </a:rPr>
              <a:t>Introduction:</a:t>
            </a:r>
            <a:endParaRPr lang="en-IN" sz="3600" b="1" dirty="0">
              <a:latin typeface="Agency FB" panose="020B0503020202020204" pitchFamily="34" charset="0"/>
              <a:cs typeface="Times New Roman" panose="02020603050405020304" pitchFamily="18" charset="0"/>
            </a:endParaRPr>
          </a:p>
        </p:txBody>
      </p:sp>
      <p:sp>
        <p:nvSpPr>
          <p:cNvPr id="2" name="TextBox 1">
            <a:extLst>
              <a:ext uri="{FF2B5EF4-FFF2-40B4-BE49-F238E27FC236}">
                <a16:creationId xmlns:a16="http://schemas.microsoft.com/office/drawing/2014/main" id="{9F33C70C-B057-3E6C-5624-99204062550F}"/>
              </a:ext>
            </a:extLst>
          </p:cNvPr>
          <p:cNvSpPr txBox="1"/>
          <p:nvPr/>
        </p:nvSpPr>
        <p:spPr>
          <a:xfrm>
            <a:off x="1566842" y="630908"/>
            <a:ext cx="9875520" cy="5786199"/>
          </a:xfrm>
          <a:prstGeom prst="rect">
            <a:avLst/>
          </a:prstGeom>
          <a:noFill/>
        </p:spPr>
        <p:txBody>
          <a:bodyPr wrap="square" rtlCol="0">
            <a:spAutoFit/>
          </a:bodyPr>
          <a:lstStyle/>
          <a:p>
            <a:r>
              <a:rPr lang="en-US" sz="1600" dirty="0">
                <a:latin typeface="Sitka Subheading Semibold" pitchFamily="2" charset="0"/>
              </a:rPr>
              <a:t>In many real surveys, like household surveys or opinion polls, we have to collect data from different types of people or different regions. Usually, the population is divided into groups such as Urban/Rural, different zones, income groups, etc. These groups are called </a:t>
            </a:r>
            <a:r>
              <a:rPr lang="en-US" sz="1600" b="1" dirty="0">
                <a:latin typeface="Sitka Subheading Semibold" pitchFamily="2" charset="0"/>
              </a:rPr>
              <a:t>strata</a:t>
            </a:r>
            <a:r>
              <a:rPr lang="en-US" sz="1600" dirty="0">
                <a:latin typeface="Sitka Subheading Semibold" pitchFamily="2" charset="0"/>
              </a:rPr>
              <a:t>.</a:t>
            </a:r>
          </a:p>
          <a:p>
            <a:r>
              <a:rPr lang="en-US" sz="1600" dirty="0">
                <a:latin typeface="Sitka Subheading Semibold" pitchFamily="2" charset="0"/>
              </a:rPr>
              <a:t>From statistics, we know that it is better to take </a:t>
            </a:r>
            <a:r>
              <a:rPr lang="en-US" sz="1600" b="1" dirty="0">
                <a:latin typeface="Sitka Subheading Semibold" pitchFamily="2" charset="0"/>
              </a:rPr>
              <a:t>more samples from the groups that vary a lot</a:t>
            </a:r>
            <a:r>
              <a:rPr lang="en-US" sz="1600" dirty="0">
                <a:latin typeface="Sitka Subheading Semibold" pitchFamily="2" charset="0"/>
              </a:rPr>
              <a:t>. This idea leads to a method called </a:t>
            </a:r>
            <a:r>
              <a:rPr lang="en-US" sz="1600" b="1" dirty="0">
                <a:latin typeface="Sitka Subheading Semibold" pitchFamily="2" charset="0"/>
              </a:rPr>
              <a:t>stratified sampling</a:t>
            </a:r>
            <a:r>
              <a:rPr lang="en-US" sz="1600" dirty="0">
                <a:latin typeface="Sitka Subheading Semibold" pitchFamily="2" charset="0"/>
              </a:rPr>
              <a:t>, and the formula for the best sample sizes is called </a:t>
            </a:r>
            <a:r>
              <a:rPr lang="en-US" sz="1600" b="1" dirty="0">
                <a:latin typeface="Sitka Subheading Semibold" pitchFamily="2" charset="0"/>
              </a:rPr>
              <a:t>Neyman allocation</a:t>
            </a:r>
            <a:r>
              <a:rPr lang="en-US" sz="1600" dirty="0">
                <a:latin typeface="Sitka Subheading Semibold" pitchFamily="2" charset="0"/>
              </a:rPr>
              <a:t>. It tells us exactly how many people should be taken from each group if we want the survey to be as accurate as possible.</a:t>
            </a:r>
          </a:p>
          <a:p>
            <a:r>
              <a:rPr lang="en-US" sz="1600" dirty="0">
                <a:latin typeface="Sitka Subheading Semibold" pitchFamily="2" charset="0"/>
              </a:rPr>
              <a:t>But this ideal plan is not always possible in real life.</a:t>
            </a:r>
            <a:br>
              <a:rPr lang="en-US" sz="1600" dirty="0">
                <a:latin typeface="Sitka Subheading Semibold" pitchFamily="2" charset="0"/>
              </a:rPr>
            </a:br>
            <a:r>
              <a:rPr lang="en-US" sz="1600" dirty="0">
                <a:latin typeface="Sitka Subheading Semibold" pitchFamily="2" charset="0"/>
              </a:rPr>
              <a:t>Survey teams have limited capacity, travel might be expensive, and some areas are harder to reach than others. So even if statistics tells us the “best” sample size for each group, we still need a practical plan to assign field teams to those groups.</a:t>
            </a:r>
          </a:p>
          <a:p>
            <a:r>
              <a:rPr lang="en-US" sz="1600" dirty="0">
                <a:latin typeface="Sitka Subheading Semibold" pitchFamily="2" charset="0"/>
              </a:rPr>
              <a:t>To solve this practical part, we can use a method from optimization called </a:t>
            </a:r>
            <a:r>
              <a:rPr lang="en-US" sz="1600" b="1" dirty="0">
                <a:latin typeface="Sitka Subheading Semibold" pitchFamily="2" charset="0"/>
              </a:rPr>
              <a:t>network flow</a:t>
            </a:r>
            <a:r>
              <a:rPr lang="en-US" sz="1600" dirty="0">
                <a:latin typeface="Sitka Subheading Semibold" pitchFamily="2" charset="0"/>
              </a:rPr>
              <a:t>.</a:t>
            </a:r>
            <a:br>
              <a:rPr lang="en-US" sz="1600" dirty="0">
                <a:latin typeface="Sitka Subheading Semibold" pitchFamily="2" charset="0"/>
              </a:rPr>
            </a:br>
            <a:r>
              <a:rPr lang="en-US" sz="1600" dirty="0">
                <a:latin typeface="Sitka Subheading Semibold" pitchFamily="2" charset="0"/>
              </a:rPr>
              <a:t>The idea is simple:</a:t>
            </a:r>
          </a:p>
          <a:p>
            <a:r>
              <a:rPr lang="en-US" sz="1600" dirty="0">
                <a:latin typeface="Sitka Subheading Semibold" pitchFamily="2" charset="0"/>
              </a:rPr>
              <a:t>Teams are like “sources” of work</a:t>
            </a:r>
          </a:p>
          <a:p>
            <a:r>
              <a:rPr lang="en-US" sz="1600" dirty="0">
                <a:latin typeface="Sitka Subheading Semibold" pitchFamily="2" charset="0"/>
              </a:rPr>
              <a:t>Strata are “destinations”</a:t>
            </a:r>
          </a:p>
          <a:p>
            <a:r>
              <a:rPr lang="en-US" sz="1600" dirty="0">
                <a:latin typeface="Sitka Subheading Semibold" pitchFamily="2" charset="0"/>
              </a:rPr>
              <a:t>Interviews are like “flow units” moving from teams to strata</a:t>
            </a:r>
          </a:p>
          <a:p>
            <a:r>
              <a:rPr lang="en-US" sz="1600" dirty="0">
                <a:latin typeface="Sitka Subheading Semibold" pitchFamily="2" charset="0"/>
              </a:rPr>
              <a:t>Every team has a maximum capacity</a:t>
            </a:r>
          </a:p>
          <a:p>
            <a:r>
              <a:rPr lang="en-US" sz="1600" dirty="0">
                <a:latin typeface="Sitka Subheading Semibold" pitchFamily="2" charset="0"/>
              </a:rPr>
              <a:t>Each team has a cost for working in each stratum</a:t>
            </a:r>
          </a:p>
          <a:p>
            <a:r>
              <a:rPr lang="en-US" sz="1600" dirty="0">
                <a:latin typeface="Sitka Subheading Semibold" pitchFamily="2" charset="0"/>
              </a:rPr>
              <a:t>Using these, we can find the </a:t>
            </a:r>
            <a:r>
              <a:rPr lang="en-US" sz="1600" b="1" dirty="0">
                <a:latin typeface="Sitka Subheading Semibold" pitchFamily="2" charset="0"/>
              </a:rPr>
              <a:t>cheapest and most feasible plan</a:t>
            </a:r>
            <a:r>
              <a:rPr lang="en-US" sz="1600" dirty="0">
                <a:latin typeface="Sitka Subheading Semibold" pitchFamily="2" charset="0"/>
              </a:rPr>
              <a:t> to collect the required number of samples.</a:t>
            </a:r>
          </a:p>
          <a:p>
            <a:r>
              <a:rPr lang="en-US" sz="1600" dirty="0">
                <a:latin typeface="Sitka Subheading Semibold" pitchFamily="2" charset="0"/>
              </a:rPr>
              <a:t>This project shows how to combine both ideas —</a:t>
            </a:r>
            <a:br>
              <a:rPr lang="en-US" sz="1600" dirty="0">
                <a:latin typeface="Sitka Subheading Semibold" pitchFamily="2" charset="0"/>
              </a:rPr>
            </a:br>
            <a:r>
              <a:rPr lang="en-US" sz="1600" b="1" dirty="0">
                <a:latin typeface="Sitka Subheading Semibold" pitchFamily="2" charset="0"/>
              </a:rPr>
              <a:t>statistics for accuracy</a:t>
            </a:r>
            <a:r>
              <a:rPr lang="en-US" sz="1600" dirty="0">
                <a:latin typeface="Sitka Subheading Semibold" pitchFamily="2" charset="0"/>
              </a:rPr>
              <a:t> and</a:t>
            </a:r>
            <a:br>
              <a:rPr lang="en-US" sz="1600" dirty="0">
                <a:latin typeface="Sitka Subheading Semibold" pitchFamily="2" charset="0"/>
              </a:rPr>
            </a:br>
            <a:r>
              <a:rPr lang="en-US" sz="1600" b="1" dirty="0">
                <a:latin typeface="Sitka Subheading Semibold" pitchFamily="2" charset="0"/>
              </a:rPr>
              <a:t>optimization for practical feasibility</a:t>
            </a:r>
            <a:r>
              <a:rPr lang="en-US" sz="1600" dirty="0">
                <a:latin typeface="Sitka Subheading Semibold" pitchFamily="2" charset="0"/>
              </a:rPr>
              <a:t>.</a:t>
            </a:r>
          </a:p>
          <a:p>
            <a:pPr algn="just"/>
            <a:endParaRPr lang="en-US"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020274871"/>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F87CC77-DF31-8D81-790B-DF9D8774CECC}"/>
              </a:ext>
            </a:extLst>
          </p:cNvPr>
          <p:cNvSpPr>
            <a:spLocks noGrp="1"/>
          </p:cNvSpPr>
          <p:nvPr>
            <p:ph type="title"/>
          </p:nvPr>
        </p:nvSpPr>
        <p:spPr>
          <a:xfrm>
            <a:off x="1543574" y="-116812"/>
            <a:ext cx="6293877" cy="1117439"/>
          </a:xfrm>
        </p:spPr>
        <p:txBody>
          <a:bodyPr>
            <a:normAutofit/>
          </a:bodyPr>
          <a:lstStyle/>
          <a:p>
            <a:pPr algn="l"/>
            <a:r>
              <a:rPr lang="en-IN" sz="3600" b="1" dirty="0">
                <a:latin typeface="Agency FB" panose="020B0503020202020204" pitchFamily="34" charset="0"/>
              </a:rPr>
              <a:t>Background Concepts:</a:t>
            </a:r>
            <a:endParaRPr lang="en-IN" sz="3600" b="1" dirty="0">
              <a:latin typeface="Agency FB" panose="020B0503020202020204" pitchFamily="34" charset="0"/>
              <a:cs typeface="Times New Roman" panose="02020603050405020304" pitchFamily="18" charset="0"/>
            </a:endParaRPr>
          </a:p>
        </p:txBody>
      </p:sp>
      <p:sp>
        <p:nvSpPr>
          <p:cNvPr id="8" name="TextBox 7">
            <a:extLst>
              <a:ext uri="{FF2B5EF4-FFF2-40B4-BE49-F238E27FC236}">
                <a16:creationId xmlns:a16="http://schemas.microsoft.com/office/drawing/2014/main" id="{9DBDCD3C-11BC-DDD6-73D1-BC6162ECE82F}"/>
              </a:ext>
            </a:extLst>
          </p:cNvPr>
          <p:cNvSpPr txBox="1"/>
          <p:nvPr/>
        </p:nvSpPr>
        <p:spPr>
          <a:xfrm>
            <a:off x="1543574" y="797510"/>
            <a:ext cx="10024844" cy="5262979"/>
          </a:xfrm>
          <a:prstGeom prst="rect">
            <a:avLst/>
          </a:prstGeom>
          <a:noFill/>
        </p:spPr>
        <p:txBody>
          <a:bodyPr wrap="square">
            <a:spAutoFit/>
          </a:bodyPr>
          <a:lstStyle/>
          <a:p>
            <a:r>
              <a:rPr lang="en-US" sz="1600" dirty="0"/>
              <a:t> </a:t>
            </a:r>
            <a:r>
              <a:rPr lang="en-US" sz="1600" b="1" dirty="0">
                <a:latin typeface="Sitka Subheading Semibold" pitchFamily="2" charset="0"/>
              </a:rPr>
              <a:t>Stratified Sampling</a:t>
            </a:r>
            <a:br>
              <a:rPr lang="en-US" sz="1600" dirty="0">
                <a:latin typeface="Sitka Subheading Semibold" pitchFamily="2" charset="0"/>
              </a:rPr>
            </a:br>
            <a:r>
              <a:rPr lang="en-US" sz="1600" dirty="0">
                <a:latin typeface="Sitka Subheading Semibold" pitchFamily="2" charset="0"/>
              </a:rPr>
              <a:t>Instead of taking samples randomly from the whole population, we divide the population into groups (strata).Then we take samples from each group separately. This reduces the overall error of the survey.</a:t>
            </a:r>
            <a:br>
              <a:rPr lang="en-US" sz="1600" dirty="0">
                <a:latin typeface="Sitka Subheading Semibold" pitchFamily="2" charset="0"/>
              </a:rPr>
            </a:br>
            <a:r>
              <a:rPr lang="en-US" sz="1600" dirty="0">
                <a:latin typeface="Sitka Subheading Semibold" pitchFamily="2" charset="0"/>
              </a:rPr>
              <a:t> </a:t>
            </a:r>
            <a:br>
              <a:rPr lang="en-US" sz="1600" dirty="0">
                <a:latin typeface="Sitka Subheading Semibold" pitchFamily="2" charset="0"/>
              </a:rPr>
            </a:br>
            <a:r>
              <a:rPr lang="en-US" sz="1600" b="1" dirty="0">
                <a:latin typeface="Sitka Subheading Semibold" pitchFamily="2" charset="0"/>
              </a:rPr>
              <a:t>Neyman Allocation</a:t>
            </a:r>
            <a:br>
              <a:rPr lang="en-US" sz="1600" dirty="0">
                <a:latin typeface="Sitka Subheading Semibold" pitchFamily="2" charset="0"/>
              </a:rPr>
            </a:br>
            <a:r>
              <a:rPr lang="en-US" sz="1600" dirty="0">
                <a:latin typeface="Sitka Subheading Semibold" pitchFamily="2" charset="0"/>
              </a:rPr>
              <a:t>This formula tells us how many samples to take from each group. It gives more weight to groups that: </a:t>
            </a:r>
            <a:br>
              <a:rPr lang="en-US" sz="1600" dirty="0">
                <a:latin typeface="Sitka Subheading Semibold" pitchFamily="2" charset="0"/>
              </a:rPr>
            </a:br>
            <a:r>
              <a:rPr lang="en-US" sz="1600" dirty="0">
                <a:latin typeface="Sitka Subheading Semibold" pitchFamily="2" charset="0"/>
              </a:rPr>
              <a:t>have a large population, have high variation. </a:t>
            </a:r>
            <a:br>
              <a:rPr lang="en-US" sz="1600" dirty="0">
                <a:latin typeface="Sitka Subheading Semibold" pitchFamily="2" charset="0"/>
              </a:rPr>
            </a:br>
            <a:r>
              <a:rPr lang="en-US" sz="1600" dirty="0">
                <a:latin typeface="Sitka Subheading Semibold" pitchFamily="2" charset="0"/>
              </a:rPr>
              <a:t>This allocation gives the minimum variance for the estimator.</a:t>
            </a:r>
            <a:br>
              <a:rPr lang="en-US" sz="1600" dirty="0">
                <a:latin typeface="Sitka Subheading Semibold" pitchFamily="2" charset="0"/>
              </a:rPr>
            </a:br>
            <a:endParaRPr lang="en-US" sz="1600" dirty="0">
              <a:latin typeface="Sitka Subheading Semibold" pitchFamily="2" charset="0"/>
            </a:endParaRPr>
          </a:p>
          <a:p>
            <a:r>
              <a:rPr lang="en-US" sz="1600" dirty="0">
                <a:latin typeface="Sitka Subheading Semibold" pitchFamily="2" charset="0"/>
              </a:rPr>
              <a:t> </a:t>
            </a:r>
            <a:r>
              <a:rPr lang="en-US" sz="1600" b="1" dirty="0">
                <a:latin typeface="Sitka Subheading Semibold" pitchFamily="2" charset="0"/>
              </a:rPr>
              <a:t>Practical Fieldwork Problems</a:t>
            </a:r>
            <a:br>
              <a:rPr lang="en-US" sz="1600" b="1" dirty="0">
                <a:latin typeface="Sitka Subheading Semibold" pitchFamily="2" charset="0"/>
              </a:rPr>
            </a:br>
            <a:r>
              <a:rPr lang="en-US" sz="1600" dirty="0">
                <a:latin typeface="Sitka Subheading Semibold" pitchFamily="2" charset="0"/>
              </a:rPr>
              <a:t>Even if we know the ideal number of samples: </a:t>
            </a:r>
            <a:br>
              <a:rPr lang="en-US" sz="1600" dirty="0">
                <a:latin typeface="Sitka Subheading Semibold" pitchFamily="2" charset="0"/>
              </a:rPr>
            </a:br>
            <a:r>
              <a:rPr lang="en-US" sz="1600" dirty="0">
                <a:latin typeface="Sitka Subheading Semibold" pitchFamily="2" charset="0"/>
              </a:rPr>
              <a:t>Some teams cannot work in certain areas, Travel costs differ, Teams have capacity limits, Some strata take more effort</a:t>
            </a:r>
            <a:br>
              <a:rPr lang="en-US" sz="1600" dirty="0">
                <a:latin typeface="Sitka Subheading Semibold" pitchFamily="2" charset="0"/>
              </a:rPr>
            </a:br>
            <a:r>
              <a:rPr lang="en-US" sz="1600" dirty="0">
                <a:latin typeface="Sitka Subheading Semibold" pitchFamily="2" charset="0"/>
              </a:rPr>
              <a:t> So, the ideal plan must be adjusted.</a:t>
            </a:r>
            <a:br>
              <a:rPr lang="en-US" sz="1600" dirty="0">
                <a:latin typeface="Sitka Subheading Semibold" pitchFamily="2" charset="0"/>
              </a:rPr>
            </a:br>
            <a:endParaRPr lang="en-US" sz="1600" dirty="0">
              <a:latin typeface="Sitka Subheading Semibold" pitchFamily="2" charset="0"/>
            </a:endParaRPr>
          </a:p>
          <a:p>
            <a:r>
              <a:rPr lang="en-US" sz="1600" dirty="0">
                <a:latin typeface="Sitka Subheading Semibold" pitchFamily="2" charset="0"/>
              </a:rPr>
              <a:t> </a:t>
            </a:r>
            <a:r>
              <a:rPr lang="en-US" sz="1600" b="1" dirty="0">
                <a:latin typeface="Sitka Subheading Semibold" pitchFamily="2" charset="0"/>
              </a:rPr>
              <a:t>Network Flow</a:t>
            </a:r>
            <a:br>
              <a:rPr lang="en-US" sz="1600" dirty="0">
                <a:latin typeface="Sitka Subheading Semibold" pitchFamily="2" charset="0"/>
              </a:rPr>
            </a:br>
            <a:r>
              <a:rPr lang="en-US" sz="1600" dirty="0">
                <a:latin typeface="Sitka Subheading Semibold" pitchFamily="2" charset="0"/>
              </a:rPr>
              <a:t>A network flow model helps us plan who should work where: </a:t>
            </a:r>
            <a:br>
              <a:rPr lang="en-US" sz="1600" dirty="0">
                <a:latin typeface="Sitka Subheading Semibold" pitchFamily="2" charset="0"/>
              </a:rPr>
            </a:br>
            <a:r>
              <a:rPr lang="en-US" sz="1600" dirty="0">
                <a:latin typeface="Sitka Subheading Semibold" pitchFamily="2" charset="0"/>
              </a:rPr>
              <a:t>Each team is a supply node, Each stratum is a demand node, Flow represents number of interviews, Costs are added for each assignment.</a:t>
            </a:r>
            <a:br>
              <a:rPr lang="en-US" sz="1600" dirty="0">
                <a:latin typeface="Sitka Subheading Semibold" pitchFamily="2" charset="0"/>
              </a:rPr>
            </a:br>
            <a:r>
              <a:rPr lang="en-US" sz="1600" dirty="0">
                <a:latin typeface="Sitka Subheading Semibold" pitchFamily="2" charset="0"/>
              </a:rPr>
              <a:t> The goal is to assign teams to strata in a way that:</a:t>
            </a:r>
            <a:br>
              <a:rPr lang="en-US" sz="1600" dirty="0">
                <a:latin typeface="Sitka Subheading Semibold" pitchFamily="2" charset="0"/>
              </a:rPr>
            </a:br>
            <a:r>
              <a:rPr lang="en-US" sz="1600" dirty="0">
                <a:latin typeface="Sitka Subheading Semibold" pitchFamily="2" charset="0"/>
              </a:rPr>
              <a:t>Matches the required sample sizes, Stays within team capacity, Minimizes total cost</a:t>
            </a:r>
            <a:endParaRPr lang="en-IN" sz="1600" dirty="0">
              <a:latin typeface="Sitka Subheading Semibold" pitchFamily="2" charset="0"/>
            </a:endParaRPr>
          </a:p>
        </p:txBody>
      </p:sp>
    </p:spTree>
    <p:extLst>
      <p:ext uri="{BB962C8B-B14F-4D97-AF65-F5344CB8AC3E}">
        <p14:creationId xmlns:p14="http://schemas.microsoft.com/office/powerpoint/2010/main" val="3958327095"/>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11" name="TextBox 10">
                <a:extLst>
                  <a:ext uri="{FF2B5EF4-FFF2-40B4-BE49-F238E27FC236}">
                    <a16:creationId xmlns:a16="http://schemas.microsoft.com/office/drawing/2014/main" id="{9E1EEA1F-79A6-73C7-311A-9BF509E635E0}"/>
                  </a:ext>
                </a:extLst>
              </p:cNvPr>
              <p:cNvSpPr txBox="1"/>
              <p:nvPr/>
            </p:nvSpPr>
            <p:spPr>
              <a:xfrm>
                <a:off x="1518408" y="-67112"/>
                <a:ext cx="10287699" cy="6265818"/>
              </a:xfrm>
              <a:prstGeom prst="rect">
                <a:avLst/>
              </a:prstGeom>
              <a:noFill/>
            </p:spPr>
            <p:txBody>
              <a:bodyPr wrap="square">
                <a:spAutoFit/>
              </a:bodyPr>
              <a:lstStyle/>
              <a:p>
                <a:pPr>
                  <a:buNone/>
                </a:pPr>
                <a:r>
                  <a:rPr lang="en-IN" sz="3600" b="1" dirty="0">
                    <a:latin typeface="Agency FB" panose="020B0503020202020204" pitchFamily="34" charset="0"/>
                  </a:rPr>
                  <a:t>Statistical foundation: stratified sampling &amp; Neyman allocation</a:t>
                </a:r>
              </a:p>
              <a:p>
                <a:pPr>
                  <a:buNone/>
                </a:pPr>
                <a:endParaRPr lang="en-IN" dirty="0"/>
              </a:p>
              <a:p>
                <a:pPr>
                  <a:buNone/>
                </a:pPr>
                <a:r>
                  <a:rPr lang="en-IN" dirty="0">
                    <a:latin typeface="Sitka Subheading Semibold" pitchFamily="2" charset="0"/>
                  </a:rPr>
                  <a:t>We start with </a:t>
                </a:r>
                <a:r>
                  <a:rPr lang="en-IN" b="1" dirty="0">
                    <a:latin typeface="Sitka Subheading Semibold" pitchFamily="2" charset="0"/>
                  </a:rPr>
                  <a:t>stratified sampling</a:t>
                </a:r>
                <a:r>
                  <a:rPr lang="en-IN" dirty="0"/>
                  <a:t>:</a:t>
                </a:r>
              </a:p>
              <a:p>
                <a:r>
                  <a:rPr lang="en-IN" dirty="0">
                    <a:latin typeface="Sitka Subheading Semibold" pitchFamily="2" charset="0"/>
                  </a:rPr>
                  <a:t>Population divided into </a:t>
                </a:r>
                <a14:m>
                  <m:oMath xmlns:m="http://schemas.openxmlformats.org/officeDocument/2006/math">
                    <m:r>
                      <a:rPr lang="en-IN" i="1">
                        <a:latin typeface="Cambria Math" panose="02040503050406030204" pitchFamily="18" charset="0"/>
                      </a:rPr>
                      <m:t>𝐿</m:t>
                    </m:r>
                  </m:oMath>
                </a14:m>
                <a:r>
                  <a:rPr lang="en-IN" dirty="0">
                    <a:latin typeface="Sitka Subheading Semibold" pitchFamily="2" charset="0"/>
                  </a:rPr>
                  <a:t> strata </a:t>
                </a:r>
                <a14:m>
                  <m:oMath xmlns:m="http://schemas.openxmlformats.org/officeDocument/2006/math">
                    <m:r>
                      <a:rPr lang="en-IN" i="1">
                        <a:latin typeface="Cambria Math" panose="02040503050406030204" pitchFamily="18" charset="0"/>
                      </a:rPr>
                      <m:t>h</m:t>
                    </m:r>
                    <m:r>
                      <a:rPr lang="en-IN" i="0">
                        <a:latin typeface="Cambria Math" panose="02040503050406030204" pitchFamily="18" charset="0"/>
                      </a:rPr>
                      <m:t>=</m:t>
                    </m:r>
                    <m:r>
                      <a:rPr lang="en-IN" i="0">
                        <a:latin typeface="Cambria Math" panose="02040503050406030204" pitchFamily="18" charset="0"/>
                      </a:rPr>
                      <m:t>1</m:t>
                    </m:r>
                    <m:r>
                      <a:rPr lang="en-IN" i="0">
                        <a:latin typeface="Cambria Math" panose="02040503050406030204" pitchFamily="18" charset="0"/>
                      </a:rPr>
                      <m:t>,…,</m:t>
                    </m:r>
                    <m:r>
                      <a:rPr lang="en-IN" i="1">
                        <a:latin typeface="Cambria Math" panose="02040503050406030204" pitchFamily="18" charset="0"/>
                      </a:rPr>
                      <m:t>𝐿</m:t>
                    </m:r>
                  </m:oMath>
                </a14:m>
                <a:r>
                  <a:rPr lang="en-IN" dirty="0"/>
                  <a:t>.</a:t>
                </a:r>
              </a:p>
              <a:p>
                <a:endParaRPr lang="en-IN" dirty="0">
                  <a:latin typeface="Sitka Subheading Semibold" pitchFamily="2" charset="0"/>
                </a:endParaRPr>
              </a:p>
              <a:p>
                <a:r>
                  <a:rPr lang="en-IN" dirty="0">
                    <a:latin typeface="Sitka Subheading Semibold" pitchFamily="2" charset="0"/>
                  </a:rPr>
                  <a:t>Size of stratum </a:t>
                </a:r>
                <a14:m>
                  <m:oMath xmlns:m="http://schemas.openxmlformats.org/officeDocument/2006/math">
                    <m:r>
                      <a:rPr lang="en-IN" i="1">
                        <a:latin typeface="Cambria Math" panose="02040503050406030204" pitchFamily="18" charset="0"/>
                      </a:rPr>
                      <m:t>h</m:t>
                    </m:r>
                  </m:oMath>
                </a14:m>
                <a:r>
                  <a:rPr lang="en-IN" dirty="0"/>
                  <a:t>: </a:t>
                </a:r>
                <a14:m>
                  <m:oMath xmlns:m="http://schemas.openxmlformats.org/officeDocument/2006/math">
                    <m:sSub>
                      <m:sSubPr>
                        <m:ctrlPr>
                          <a:rPr lang="ar-AE" i="1">
                            <a:latin typeface="Cambria Math" panose="02040503050406030204" pitchFamily="18" charset="0"/>
                          </a:rPr>
                        </m:ctrlPr>
                      </m:sSubPr>
                      <m:e>
                        <m:r>
                          <a:rPr lang="ar-AE" i="1">
                            <a:latin typeface="Cambria Math" panose="02040503050406030204" pitchFamily="18" charset="0"/>
                          </a:rPr>
                          <m:t>𝑁</m:t>
                        </m:r>
                      </m:e>
                      <m:sub>
                        <m:r>
                          <a:rPr lang="ar-AE" i="1">
                            <a:latin typeface="Cambria Math" panose="02040503050406030204" pitchFamily="18" charset="0"/>
                          </a:rPr>
                          <m:t>h</m:t>
                        </m:r>
                      </m:sub>
                    </m:sSub>
                  </m:oMath>
                </a14:m>
                <a:r>
                  <a:rPr lang="ar-AE" dirty="0"/>
                  <a:t>, </a:t>
                </a:r>
                <a:r>
                  <a:rPr lang="en-IN" dirty="0"/>
                  <a:t> </a:t>
                </a:r>
                <a:r>
                  <a:rPr lang="en-IN" dirty="0">
                    <a:latin typeface="Sitka Subheading Semibold" pitchFamily="2" charset="0"/>
                  </a:rPr>
                  <a:t>total population </a:t>
                </a:r>
                <a14:m>
                  <m:oMath xmlns:m="http://schemas.openxmlformats.org/officeDocument/2006/math">
                    <m:r>
                      <a:rPr lang="en-IN" i="1">
                        <a:latin typeface="Cambria Math" panose="02040503050406030204" pitchFamily="18" charset="0"/>
                      </a:rPr>
                      <m:t>𝑁</m:t>
                    </m:r>
                    <m:r>
                      <a:rPr lang="en-IN" i="0">
                        <a:latin typeface="Cambria Math" panose="02040503050406030204" pitchFamily="18" charset="0"/>
                      </a:rPr>
                      <m:t>=</m:t>
                    </m:r>
                    <m:nary>
                      <m:naryPr>
                        <m:chr m:val="∑"/>
                        <m:limLoc m:val="subSup"/>
                        <m:grow m:val="on"/>
                        <m:supHide m:val="on"/>
                        <m:ctrlPr>
                          <a:rPr lang="ar-AE" i="1">
                            <a:latin typeface="Cambria Math" panose="02040503050406030204" pitchFamily="18" charset="0"/>
                          </a:rPr>
                        </m:ctrlPr>
                      </m:naryPr>
                      <m:sub>
                        <m:r>
                          <a:rPr lang="ar-AE" i="1">
                            <a:latin typeface="Cambria Math" panose="02040503050406030204" pitchFamily="18" charset="0"/>
                          </a:rPr>
                          <m:t>h</m:t>
                        </m:r>
                      </m:sub>
                      <m:sup/>
                      <m:e>
                        <m:sSub>
                          <m:sSubPr>
                            <m:ctrlPr>
                              <a:rPr lang="ar-AE" i="1">
                                <a:latin typeface="Cambria Math" panose="02040503050406030204" pitchFamily="18" charset="0"/>
                              </a:rPr>
                            </m:ctrlPr>
                          </m:sSubPr>
                          <m:e>
                            <m:r>
                              <a:rPr lang="ar-AE" i="1">
                                <a:latin typeface="Cambria Math" panose="02040503050406030204" pitchFamily="18" charset="0"/>
                              </a:rPr>
                              <m:t>𝑁</m:t>
                            </m:r>
                          </m:e>
                          <m:sub>
                            <m:r>
                              <a:rPr lang="ar-AE" i="1">
                                <a:latin typeface="Cambria Math" panose="02040503050406030204" pitchFamily="18" charset="0"/>
                              </a:rPr>
                              <m:t>h</m:t>
                            </m:r>
                          </m:sub>
                        </m:sSub>
                      </m:e>
                    </m:nary>
                  </m:oMath>
                </a14:m>
                <a:endParaRPr lang="ar-AE" dirty="0"/>
              </a:p>
              <a:p>
                <a:endParaRPr lang="en-IN" dirty="0">
                  <a:latin typeface="Sitka Subheading Semibold" pitchFamily="2" charset="0"/>
                </a:endParaRPr>
              </a:p>
              <a:p>
                <a:r>
                  <a:rPr lang="en-IN" dirty="0">
                    <a:latin typeface="Sitka Subheading Semibold" pitchFamily="2" charset="0"/>
                  </a:rPr>
                  <a:t>Suppose we want to estimate the population mean using a </a:t>
                </a:r>
                <a:br>
                  <a:rPr lang="en-IN" dirty="0">
                    <a:latin typeface="Sitka Subheading Semibold" pitchFamily="2" charset="0"/>
                  </a:rPr>
                </a:br>
                <a:r>
                  <a:rPr lang="en-IN" dirty="0">
                    <a:latin typeface="Sitka Subheading Semibold" pitchFamily="2" charset="0"/>
                  </a:rPr>
                  <a:t>total sample size</a:t>
                </a:r>
                <a:r>
                  <a:rPr lang="en-IN" dirty="0"/>
                  <a:t> </a:t>
                </a:r>
                <a14:m>
                  <m:oMath xmlns:m="http://schemas.openxmlformats.org/officeDocument/2006/math">
                    <m:r>
                      <a:rPr lang="en-IN" i="1">
                        <a:latin typeface="Cambria Math" panose="02040503050406030204" pitchFamily="18" charset="0"/>
                      </a:rPr>
                      <m:t>𝑛</m:t>
                    </m:r>
                  </m:oMath>
                </a14:m>
                <a:r>
                  <a:rPr lang="en-IN" dirty="0"/>
                  <a:t>, </a:t>
                </a:r>
                <a:r>
                  <a:rPr lang="en-IN" dirty="0">
                    <a:latin typeface="Sitka Subheading Semibold" pitchFamily="2" charset="0"/>
                  </a:rPr>
                  <a:t>with</a:t>
                </a:r>
                <a:r>
                  <a:rPr lang="en-IN" dirty="0"/>
                  <a:t> </a:t>
                </a:r>
                <a14:m>
                  <m:oMath xmlns:m="http://schemas.openxmlformats.org/officeDocument/2006/math">
                    <m:sSub>
                      <m:sSubPr>
                        <m:ctrlPr>
                          <a:rPr lang="ar-AE" i="1">
                            <a:latin typeface="Cambria Math" panose="02040503050406030204" pitchFamily="18" charset="0"/>
                          </a:rPr>
                        </m:ctrlPr>
                      </m:sSubPr>
                      <m:e>
                        <m:r>
                          <a:rPr lang="ar-AE" i="1">
                            <a:latin typeface="Cambria Math" panose="02040503050406030204" pitchFamily="18" charset="0"/>
                          </a:rPr>
                          <m:t>𝑛</m:t>
                        </m:r>
                      </m:e>
                      <m:sub>
                        <m:r>
                          <a:rPr lang="ar-AE" i="1">
                            <a:latin typeface="Cambria Math" panose="02040503050406030204" pitchFamily="18" charset="0"/>
                          </a:rPr>
                          <m:t>h</m:t>
                        </m:r>
                      </m:sub>
                    </m:sSub>
                  </m:oMath>
                </a14:m>
                <a:r>
                  <a:rPr lang="en-IN" dirty="0">
                    <a:latin typeface="Sitka Subheading Semibold" pitchFamily="2" charset="0"/>
                  </a:rPr>
                  <a:t> units from stratum </a:t>
                </a:r>
                <a14:m>
                  <m:oMath xmlns:m="http://schemas.openxmlformats.org/officeDocument/2006/math">
                    <m:r>
                      <a:rPr lang="en-IN" i="1">
                        <a:latin typeface="Cambria Math" panose="02040503050406030204" pitchFamily="18" charset="0"/>
                      </a:rPr>
                      <m:t>h</m:t>
                    </m:r>
                  </m:oMath>
                </a14:m>
                <a:r>
                  <a:rPr lang="en-IN" dirty="0"/>
                  <a:t>.</a:t>
                </a:r>
              </a:p>
              <a:p>
                <a:pPr>
                  <a:buNone/>
                </a:pPr>
                <a:endParaRPr lang="en-IN" dirty="0">
                  <a:latin typeface="Sitka Subheading Semibold" pitchFamily="2" charset="0"/>
                </a:endParaRPr>
              </a:p>
              <a:p>
                <a:pPr>
                  <a:buNone/>
                </a:pPr>
                <a:r>
                  <a:rPr lang="en-IN" dirty="0">
                    <a:latin typeface="Sitka Subheading Semibold" pitchFamily="2" charset="0"/>
                  </a:rPr>
                  <a:t>Variance of the stratified mean</a:t>
                </a:r>
                <a:r>
                  <a:rPr lang="en-IN" dirty="0"/>
                  <a:t>: </a:t>
                </a:r>
                <a:r>
                  <a:rPr lang="en-IN" dirty="0">
                    <a:latin typeface="Sitka Subheading Semibold" pitchFamily="2" charset="0"/>
                  </a:rPr>
                  <a:t>Var(Ȳₛₜ) </a:t>
                </a:r>
                <a14:m>
                  <m:oMath xmlns:m="http://schemas.openxmlformats.org/officeDocument/2006/math">
                    <m:r>
                      <a:rPr lang="en-IN" smtClean="0">
                        <a:latin typeface="Cambria Math" panose="02040503050406030204" pitchFamily="18" charset="0"/>
                      </a:rPr>
                      <m:t>≈</m:t>
                    </m:r>
                  </m:oMath>
                </a14:m>
                <a:r>
                  <a:rPr lang="en-IN" dirty="0"/>
                  <a:t> </a:t>
                </a:r>
                <a14:m>
                  <m:oMath xmlns:m="http://schemas.openxmlformats.org/officeDocument/2006/math">
                    <m:nary>
                      <m:naryPr>
                        <m:chr m:val="∑"/>
                        <m:limLoc m:val="subSup"/>
                        <m:grow m:val="on"/>
                        <m:supHide m:val="on"/>
                        <m:ctrlPr>
                          <a:rPr lang="ar-AE" i="1">
                            <a:latin typeface="Cambria Math" panose="02040503050406030204" pitchFamily="18" charset="0"/>
                          </a:rPr>
                        </m:ctrlPr>
                      </m:naryPr>
                      <m:sub>
                        <m:r>
                          <a:rPr lang="ar-AE" i="1">
                            <a:latin typeface="Cambria Math" panose="02040503050406030204" pitchFamily="18" charset="0"/>
                          </a:rPr>
                          <m:t>h</m:t>
                        </m:r>
                      </m:sub>
                      <m:sup/>
                      <m:e>
                        <m:r>
                          <m:rPr>
                            <m:nor/>
                          </m:rPr>
                          <a:rPr lang="en-IN" i="0" dirty="0">
                            <a:latin typeface="Sitka Subheading Semibold" pitchFamily="2" charset="0"/>
                          </a:rPr>
                          <m:t>( (</m:t>
                        </m:r>
                        <m:r>
                          <m:rPr>
                            <m:nor/>
                          </m:rPr>
                          <a:rPr lang="en-IN" i="0" dirty="0">
                            <a:latin typeface="Sitka Subheading Semibold" pitchFamily="2" charset="0"/>
                          </a:rPr>
                          <m:t>N</m:t>
                        </m:r>
                        <m:r>
                          <m:rPr>
                            <m:nor/>
                          </m:rPr>
                          <a:rPr lang="en-IN" i="0" dirty="0">
                            <a:latin typeface="Sitka Subheading Semibold" pitchFamily="2" charset="0"/>
                          </a:rPr>
                          <m:t>ₕ / </m:t>
                        </m:r>
                        <m:r>
                          <m:rPr>
                            <m:nor/>
                          </m:rPr>
                          <a:rPr lang="en-IN" i="0" dirty="0">
                            <a:latin typeface="Sitka Subheading Semibold" pitchFamily="2" charset="0"/>
                          </a:rPr>
                          <m:t>N</m:t>
                        </m:r>
                        <m:r>
                          <m:rPr>
                            <m:nor/>
                          </m:rPr>
                          <a:rPr lang="en-IN" i="0" dirty="0">
                            <a:latin typeface="Sitka Subheading Semibold" pitchFamily="2" charset="0"/>
                          </a:rPr>
                          <m:t>)</m:t>
                        </m:r>
                        <m:r>
                          <m:rPr>
                            <m:nor/>
                          </m:rPr>
                          <a:rPr lang="en-IN" i="0" dirty="0">
                            <a:latin typeface="Sitka Subheading Semibold" pitchFamily="2" charset="0"/>
                          </a:rPr>
                          <m:t>² </m:t>
                        </m:r>
                        <m:r>
                          <m:rPr>
                            <m:nor/>
                          </m:rPr>
                          <a:rPr lang="en-IN" i="0" dirty="0">
                            <a:latin typeface="Sitka Subheading Semibold" pitchFamily="2" charset="0"/>
                          </a:rPr>
                          <m:t>· </m:t>
                        </m:r>
                        <m:sSubSup>
                          <m:sSubSupPr>
                            <m:ctrlPr>
                              <a:rPr lang="ar-AE" i="1">
                                <a:latin typeface="Cambria Math" panose="02040503050406030204" pitchFamily="18" charset="0"/>
                              </a:rPr>
                            </m:ctrlPr>
                          </m:sSubSupPr>
                          <m:e>
                            <m:r>
                              <a:rPr lang="ar-AE" i="1">
                                <a:latin typeface="Cambria Math" panose="02040503050406030204" pitchFamily="18" charset="0"/>
                              </a:rPr>
                              <m:t>𝑆</m:t>
                            </m:r>
                          </m:e>
                          <m:sub>
                            <m:r>
                              <a:rPr lang="ar-AE" i="1">
                                <a:latin typeface="Cambria Math" panose="02040503050406030204" pitchFamily="18" charset="0"/>
                              </a:rPr>
                              <m:t>h</m:t>
                            </m:r>
                          </m:sub>
                          <m:sup>
                            <m:r>
                              <a:rPr lang="ar-AE">
                                <a:latin typeface="Cambria Math" panose="02040503050406030204" pitchFamily="18" charset="0"/>
                              </a:rPr>
                              <m:t>2</m:t>
                            </m:r>
                          </m:sup>
                        </m:sSubSup>
                        <m:r>
                          <m:rPr>
                            <m:nor/>
                          </m:rPr>
                          <a:rPr lang="en-IN" i="0" dirty="0">
                            <a:latin typeface="Sitka Subheading Semibold" pitchFamily="2" charset="0"/>
                          </a:rPr>
                          <m:t> /</m:t>
                        </m:r>
                        <m:sSub>
                          <m:sSubPr>
                            <m:ctrlPr>
                              <a:rPr lang="ar-AE" i="1">
                                <a:latin typeface="Cambria Math" panose="02040503050406030204" pitchFamily="18" charset="0"/>
                              </a:rPr>
                            </m:ctrlPr>
                          </m:sSubPr>
                          <m:e>
                            <m:r>
                              <a:rPr lang="ar-AE" i="1">
                                <a:latin typeface="Cambria Math" panose="02040503050406030204" pitchFamily="18" charset="0"/>
                              </a:rPr>
                              <m:t>𝑛</m:t>
                            </m:r>
                          </m:e>
                          <m:sub>
                            <m:r>
                              <a:rPr lang="ar-AE" i="1">
                                <a:latin typeface="Cambria Math" panose="02040503050406030204" pitchFamily="18" charset="0"/>
                              </a:rPr>
                              <m:t>h</m:t>
                            </m:r>
                          </m:sub>
                        </m:sSub>
                        <m:r>
                          <m:rPr>
                            <m:nor/>
                          </m:rPr>
                          <a:rPr lang="en-IN" i="0" dirty="0">
                            <a:latin typeface="Sitka Subheading Semibold" pitchFamily="2" charset="0"/>
                          </a:rPr>
                          <m:t> )</m:t>
                        </m:r>
                      </m:e>
                    </m:nary>
                  </m:oMath>
                </a14:m>
                <a:endParaRPr lang="en-IN" dirty="0">
                  <a:latin typeface="Sitka Subheading Semibold" pitchFamily="2" charset="0"/>
                </a:endParaRPr>
              </a:p>
              <a:p>
                <a:pPr>
                  <a:buNone/>
                </a:pPr>
                <a:r>
                  <a:rPr lang="en-IN" dirty="0">
                    <a:latin typeface="Sitka Subheading Semibold" pitchFamily="2" charset="0"/>
                  </a:rPr>
                  <a:t>where</a:t>
                </a:r>
                <a:r>
                  <a:rPr lang="en-IN" dirty="0"/>
                  <a:t> </a:t>
                </a:r>
                <a14:m>
                  <m:oMath xmlns:m="http://schemas.openxmlformats.org/officeDocument/2006/math">
                    <m:sSubSup>
                      <m:sSubSupPr>
                        <m:ctrlPr>
                          <a:rPr lang="ar-AE" i="1">
                            <a:latin typeface="Cambria Math" panose="02040503050406030204" pitchFamily="18" charset="0"/>
                          </a:rPr>
                        </m:ctrlPr>
                      </m:sSubSupPr>
                      <m:e>
                        <m:r>
                          <a:rPr lang="ar-AE" i="1">
                            <a:latin typeface="Cambria Math" panose="02040503050406030204" pitchFamily="18" charset="0"/>
                          </a:rPr>
                          <m:t>𝑆</m:t>
                        </m:r>
                      </m:e>
                      <m:sub>
                        <m:r>
                          <a:rPr lang="ar-AE" i="1">
                            <a:latin typeface="Cambria Math" panose="02040503050406030204" pitchFamily="18" charset="0"/>
                          </a:rPr>
                          <m:t>h</m:t>
                        </m:r>
                      </m:sub>
                      <m:sup>
                        <m:r>
                          <a:rPr lang="ar-AE" i="0">
                            <a:latin typeface="Cambria Math" panose="02040503050406030204" pitchFamily="18" charset="0"/>
                          </a:rPr>
                          <m:t>2</m:t>
                        </m:r>
                      </m:sup>
                    </m:sSubSup>
                  </m:oMath>
                </a14:m>
                <a:r>
                  <a:rPr lang="en-IN" dirty="0">
                    <a:latin typeface="Sitka Subheading Semibold" pitchFamily="2" charset="0"/>
                  </a:rPr>
                  <a:t> is the within-stratum variance</a:t>
                </a:r>
                <a:r>
                  <a:rPr lang="en-IN" dirty="0"/>
                  <a:t>.</a:t>
                </a:r>
              </a:p>
              <a:p>
                <a:pPr>
                  <a:buNone/>
                </a:pPr>
                <a:endParaRPr lang="en-IN" b="1" dirty="0">
                  <a:latin typeface="Sitka Subheading Semibold" pitchFamily="2" charset="0"/>
                </a:endParaRPr>
              </a:p>
              <a:p>
                <a:pPr>
                  <a:buNone/>
                </a:pPr>
                <a:r>
                  <a:rPr lang="en-IN" b="1" dirty="0">
                    <a:latin typeface="Sitka Subheading Semibold" pitchFamily="2" charset="0"/>
                  </a:rPr>
                  <a:t>Neyman allocation</a:t>
                </a:r>
                <a:r>
                  <a:rPr lang="en-IN" dirty="0">
                    <a:latin typeface="Sitka Subheading Semibold" pitchFamily="2" charset="0"/>
                  </a:rPr>
                  <a:t> minimizes this variance subject to </a:t>
                </a:r>
                <a14:m>
                  <m:oMath xmlns:m="http://schemas.openxmlformats.org/officeDocument/2006/math">
                    <m:nary>
                      <m:naryPr>
                        <m:chr m:val="∑"/>
                        <m:limLoc m:val="subSup"/>
                        <m:grow m:val="on"/>
                        <m:supHide m:val="on"/>
                        <m:ctrlPr>
                          <a:rPr lang="ar-AE" i="1">
                            <a:latin typeface="Cambria Math" panose="02040503050406030204" pitchFamily="18" charset="0"/>
                          </a:rPr>
                        </m:ctrlPr>
                      </m:naryPr>
                      <m:sub>
                        <m:r>
                          <a:rPr lang="ar-AE" i="1">
                            <a:latin typeface="Cambria Math" panose="02040503050406030204" pitchFamily="18" charset="0"/>
                          </a:rPr>
                          <m:t>h</m:t>
                        </m:r>
                      </m:sub>
                      <m:sup/>
                      <m:e>
                        <m:sSub>
                          <m:sSubPr>
                            <m:ctrlPr>
                              <a:rPr lang="ar-AE" i="1">
                                <a:latin typeface="Cambria Math" panose="02040503050406030204" pitchFamily="18" charset="0"/>
                              </a:rPr>
                            </m:ctrlPr>
                          </m:sSubPr>
                          <m:e>
                            <m:r>
                              <a:rPr lang="ar-AE" i="1">
                                <a:latin typeface="Cambria Math" panose="02040503050406030204" pitchFamily="18" charset="0"/>
                              </a:rPr>
                              <m:t>𝑛</m:t>
                            </m:r>
                          </m:e>
                          <m:sub>
                            <m:r>
                              <a:rPr lang="ar-AE" i="1">
                                <a:latin typeface="Cambria Math" panose="02040503050406030204" pitchFamily="18" charset="0"/>
                              </a:rPr>
                              <m:t>h</m:t>
                            </m:r>
                          </m:sub>
                        </m:sSub>
                      </m:e>
                    </m:nary>
                    <m:r>
                      <a:rPr lang="ar-AE" i="0">
                        <a:latin typeface="Cambria Math" panose="02040503050406030204" pitchFamily="18" charset="0"/>
                      </a:rPr>
                      <m:t>=</m:t>
                    </m:r>
                    <m:r>
                      <a:rPr lang="ar-AE" i="1">
                        <a:latin typeface="Cambria Math" panose="02040503050406030204" pitchFamily="18" charset="0"/>
                      </a:rPr>
                      <m:t>𝑛</m:t>
                    </m:r>
                  </m:oMath>
                </a14:m>
                <a:r>
                  <a:rPr lang="ar-AE" dirty="0"/>
                  <a:t>. </a:t>
                </a:r>
                <a:endParaRPr lang="en-IN" dirty="0"/>
              </a:p>
              <a:p>
                <a:pPr>
                  <a:buNone/>
                </a:pPr>
                <a:endParaRPr lang="en-IN" dirty="0">
                  <a:latin typeface="Sitka Subheading Semibold" pitchFamily="2" charset="0"/>
                </a:endParaRPr>
              </a:p>
              <a:p>
                <a:pPr>
                  <a:buNone/>
                </a:pPr>
                <a:r>
                  <a:rPr lang="en-IN" dirty="0">
                    <a:latin typeface="Sitka Subheading Semibold" pitchFamily="2" charset="0"/>
                  </a:rPr>
                  <a:t>The optimal allocation is</a:t>
                </a:r>
                <a:r>
                  <a:rPr lang="en-IN" dirty="0"/>
                  <a:t>:</a:t>
                </a:r>
              </a:p>
              <a:p>
                <a:pPr>
                  <a:buNone/>
                </a:pPr>
                <a14:m>
                  <m:oMathPara xmlns:m="http://schemas.openxmlformats.org/officeDocument/2006/math">
                    <m:oMathParaPr>
                      <m:jc m:val="centerGroup"/>
                    </m:oMathParaPr>
                    <m:oMath xmlns:m="http://schemas.openxmlformats.org/officeDocument/2006/math">
                      <m:sSubSup>
                        <m:sSubSupPr>
                          <m:ctrlPr>
                            <a:rPr lang="ar-AE" i="1">
                              <a:latin typeface="Cambria Math" panose="02040503050406030204" pitchFamily="18" charset="0"/>
                            </a:rPr>
                          </m:ctrlPr>
                        </m:sSubSupPr>
                        <m:e>
                          <m:r>
                            <a:rPr lang="ar-AE" i="1">
                              <a:latin typeface="Cambria Math" panose="02040503050406030204" pitchFamily="18" charset="0"/>
                            </a:rPr>
                            <m:t>𝑛</m:t>
                          </m:r>
                        </m:e>
                        <m:sub>
                          <m:r>
                            <a:rPr lang="ar-AE" i="1">
                              <a:latin typeface="Cambria Math" panose="02040503050406030204" pitchFamily="18" charset="0"/>
                            </a:rPr>
                            <m:t>h</m:t>
                          </m:r>
                        </m:sub>
                        <m:sup>
                          <m:r>
                            <a:rPr lang="ar-AE" i="0">
                              <a:latin typeface="Cambria Math" panose="02040503050406030204" pitchFamily="18" charset="0"/>
                            </a:rPr>
                            <m:t>⋆</m:t>
                          </m:r>
                        </m:sup>
                      </m:sSubSup>
                      <m:r>
                        <a:rPr lang="ar-AE" i="0">
                          <a:latin typeface="Cambria Math" panose="02040503050406030204" pitchFamily="18" charset="0"/>
                        </a:rPr>
                        <m:t>=</m:t>
                      </m:r>
                      <m:r>
                        <a:rPr lang="ar-AE" i="1">
                          <a:latin typeface="Cambria Math" panose="02040503050406030204" pitchFamily="18" charset="0"/>
                        </a:rPr>
                        <m:t>𝑛</m:t>
                      </m:r>
                      <m:r>
                        <a:rPr lang="ar-AE" i="0">
                          <a:latin typeface="Cambria Math" panose="02040503050406030204" pitchFamily="18" charset="0"/>
                        </a:rPr>
                        <m:t>⋅</m:t>
                      </m:r>
                      <m:f>
                        <m:fPr>
                          <m:ctrlPr>
                            <a:rPr lang="ar-AE" i="1">
                              <a:latin typeface="Cambria Math" panose="02040503050406030204" pitchFamily="18" charset="0"/>
                            </a:rPr>
                          </m:ctrlPr>
                        </m:fPr>
                        <m:num>
                          <m:sSub>
                            <m:sSubPr>
                              <m:ctrlPr>
                                <a:rPr lang="ar-AE" i="1">
                                  <a:latin typeface="Cambria Math" panose="02040503050406030204" pitchFamily="18" charset="0"/>
                                </a:rPr>
                              </m:ctrlPr>
                            </m:sSubPr>
                            <m:e>
                              <m:r>
                                <a:rPr lang="ar-AE" i="1">
                                  <a:latin typeface="Cambria Math" panose="02040503050406030204" pitchFamily="18" charset="0"/>
                                </a:rPr>
                                <m:t>𝑁</m:t>
                              </m:r>
                            </m:e>
                            <m:sub>
                              <m:r>
                                <a:rPr lang="ar-AE" i="1">
                                  <a:latin typeface="Cambria Math" panose="02040503050406030204" pitchFamily="18" charset="0"/>
                                </a:rPr>
                                <m:t>h</m:t>
                              </m:r>
                            </m:sub>
                          </m:sSub>
                          <m:sSub>
                            <m:sSubPr>
                              <m:ctrlPr>
                                <a:rPr lang="ar-AE" i="1">
                                  <a:latin typeface="Cambria Math" panose="02040503050406030204" pitchFamily="18" charset="0"/>
                                </a:rPr>
                              </m:ctrlPr>
                            </m:sSubPr>
                            <m:e>
                              <m:r>
                                <a:rPr lang="ar-AE" i="1">
                                  <a:latin typeface="Cambria Math" panose="02040503050406030204" pitchFamily="18" charset="0"/>
                                </a:rPr>
                                <m:t>𝑆</m:t>
                              </m:r>
                            </m:e>
                            <m:sub>
                              <m:r>
                                <a:rPr lang="ar-AE" i="1">
                                  <a:latin typeface="Cambria Math" panose="02040503050406030204" pitchFamily="18" charset="0"/>
                                </a:rPr>
                                <m:t>h</m:t>
                              </m:r>
                            </m:sub>
                          </m:sSub>
                        </m:num>
                        <m:den>
                          <m:nary>
                            <m:naryPr>
                              <m:chr m:val="∑"/>
                              <m:grow m:val="on"/>
                              <m:ctrlPr>
                                <a:rPr lang="ar-AE" i="1">
                                  <a:latin typeface="Cambria Math" panose="02040503050406030204" pitchFamily="18" charset="0"/>
                                </a:rPr>
                              </m:ctrlPr>
                            </m:naryPr>
                            <m:sub>
                              <m:r>
                                <a:rPr lang="ar-AE" i="1">
                                  <a:latin typeface="Cambria Math" panose="02040503050406030204" pitchFamily="18" charset="0"/>
                                </a:rPr>
                                <m:t>𝑗</m:t>
                              </m:r>
                              <m:r>
                                <a:rPr lang="ar-AE" i="0">
                                  <a:latin typeface="Cambria Math" panose="02040503050406030204" pitchFamily="18" charset="0"/>
                                </a:rPr>
                                <m:t>=</m:t>
                              </m:r>
                              <m:r>
                                <a:rPr lang="ar-AE" i="0">
                                  <a:latin typeface="Cambria Math" panose="02040503050406030204" pitchFamily="18" charset="0"/>
                                </a:rPr>
                                <m:t>1</m:t>
                              </m:r>
                            </m:sub>
                            <m:sup>
                              <m:r>
                                <a:rPr lang="ar-AE" i="1">
                                  <a:latin typeface="Cambria Math" panose="02040503050406030204" pitchFamily="18" charset="0"/>
                                </a:rPr>
                                <m:t>𝐿</m:t>
                              </m:r>
                            </m:sup>
                            <m:e>
                              <m:sSub>
                                <m:sSubPr>
                                  <m:ctrlPr>
                                    <a:rPr lang="ar-AE" i="1">
                                      <a:latin typeface="Cambria Math" panose="02040503050406030204" pitchFamily="18" charset="0"/>
                                    </a:rPr>
                                  </m:ctrlPr>
                                </m:sSubPr>
                                <m:e>
                                  <m:r>
                                    <a:rPr lang="ar-AE" i="1">
                                      <a:latin typeface="Cambria Math" panose="02040503050406030204" pitchFamily="18" charset="0"/>
                                    </a:rPr>
                                    <m:t>𝑁</m:t>
                                  </m:r>
                                </m:e>
                                <m:sub>
                                  <m:r>
                                    <a:rPr lang="ar-AE" i="1">
                                      <a:latin typeface="Cambria Math" panose="02040503050406030204" pitchFamily="18" charset="0"/>
                                    </a:rPr>
                                    <m:t>𝑗</m:t>
                                  </m:r>
                                </m:sub>
                              </m:sSub>
                            </m:e>
                          </m:nary>
                          <m:sSub>
                            <m:sSubPr>
                              <m:ctrlPr>
                                <a:rPr lang="ar-AE" i="1">
                                  <a:latin typeface="Cambria Math" panose="02040503050406030204" pitchFamily="18" charset="0"/>
                                </a:rPr>
                              </m:ctrlPr>
                            </m:sSubPr>
                            <m:e>
                              <m:r>
                                <a:rPr lang="ar-AE" i="1">
                                  <a:latin typeface="Cambria Math" panose="02040503050406030204" pitchFamily="18" charset="0"/>
                                </a:rPr>
                                <m:t>𝑆</m:t>
                              </m:r>
                            </m:e>
                            <m:sub>
                              <m:r>
                                <a:rPr lang="ar-AE" i="1">
                                  <a:latin typeface="Cambria Math" panose="02040503050406030204" pitchFamily="18" charset="0"/>
                                </a:rPr>
                                <m:t>𝑗</m:t>
                              </m:r>
                            </m:sub>
                          </m:sSub>
                        </m:den>
                      </m:f>
                    </m:oMath>
                  </m:oMathPara>
                </a14:m>
                <a:endParaRPr lang="ar-AE" dirty="0"/>
              </a:p>
              <a:p>
                <a:pPr>
                  <a:buNone/>
                </a:pPr>
                <a:endParaRPr lang="en-IN" dirty="0">
                  <a:latin typeface="Sitka Subheading Semibold" pitchFamily="2" charset="0"/>
                </a:endParaRPr>
              </a:p>
              <a:p>
                <a:pPr>
                  <a:buNone/>
                </a:pPr>
                <a:r>
                  <a:rPr lang="en-IN" dirty="0">
                    <a:latin typeface="Sitka Subheading Semibold" pitchFamily="2" charset="0"/>
                  </a:rPr>
                  <a:t>If per-unit cost differs by stratum, we can use cost-optimal allocation variant</a:t>
                </a:r>
                <a:r>
                  <a:rPr lang="en-IN" dirty="0"/>
                  <a:t>.</a:t>
                </a:r>
              </a:p>
            </p:txBody>
          </p:sp>
        </mc:Choice>
        <mc:Fallback xmlns="">
          <p:sp>
            <p:nvSpPr>
              <p:cNvPr id="11" name="TextBox 10">
                <a:extLst>
                  <a:ext uri="{FF2B5EF4-FFF2-40B4-BE49-F238E27FC236}">
                    <a16:creationId xmlns:a16="http://schemas.microsoft.com/office/drawing/2014/main" id="{9E1EEA1F-79A6-73C7-311A-9BF509E635E0}"/>
                  </a:ext>
                </a:extLst>
              </p:cNvPr>
              <p:cNvSpPr txBox="1">
                <a:spLocks noRot="1" noChangeAspect="1" noMove="1" noResize="1" noEditPoints="1" noAdjustHandles="1" noChangeArrowheads="1" noChangeShapeType="1" noTextEdit="1"/>
              </p:cNvSpPr>
              <p:nvPr/>
            </p:nvSpPr>
            <p:spPr>
              <a:xfrm>
                <a:off x="1518408" y="-67112"/>
                <a:ext cx="10287699" cy="6265818"/>
              </a:xfrm>
              <a:prstGeom prst="rect">
                <a:avLst/>
              </a:prstGeom>
              <a:blipFill>
                <a:blip r:embed="rId2"/>
                <a:stretch>
                  <a:fillRect l="-1777" t="-1459" b="-1556"/>
                </a:stretch>
              </a:blipFill>
            </p:spPr>
            <p:txBody>
              <a:bodyPr/>
              <a:lstStyle/>
              <a:p>
                <a:r>
                  <a:rPr lang="en-IN">
                    <a:noFill/>
                  </a:rPr>
                  <a:t> </a:t>
                </a:r>
              </a:p>
            </p:txBody>
          </p:sp>
        </mc:Fallback>
      </mc:AlternateContent>
    </p:spTree>
    <p:extLst>
      <p:ext uri="{BB962C8B-B14F-4D97-AF65-F5344CB8AC3E}">
        <p14:creationId xmlns:p14="http://schemas.microsoft.com/office/powerpoint/2010/main" val="2708892542"/>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3" name="TextBox 2">
                <a:extLst>
                  <a:ext uri="{FF2B5EF4-FFF2-40B4-BE49-F238E27FC236}">
                    <a16:creationId xmlns:a16="http://schemas.microsoft.com/office/drawing/2014/main" id="{EC48D1F8-CAB4-8B7F-5993-428E4C5C5218}"/>
                  </a:ext>
                </a:extLst>
              </p:cNvPr>
              <p:cNvSpPr txBox="1"/>
              <p:nvPr/>
            </p:nvSpPr>
            <p:spPr>
              <a:xfrm>
                <a:off x="1990287" y="481204"/>
                <a:ext cx="8839899" cy="5693866"/>
              </a:xfrm>
              <a:prstGeom prst="rect">
                <a:avLst/>
              </a:prstGeom>
              <a:noFill/>
            </p:spPr>
            <p:txBody>
              <a:bodyPr wrap="square">
                <a:spAutoFit/>
              </a:bodyPr>
              <a:lstStyle/>
              <a:p>
                <a:pPr>
                  <a:buNone/>
                </a:pPr>
                <a:r>
                  <a:rPr lang="en-IN" sz="3600" b="1" dirty="0">
                    <a:latin typeface="Agency FB" panose="020B0503020202020204" pitchFamily="34" charset="0"/>
                  </a:rPr>
                  <a:t>Where network flows enter: the fieldwork allocation problem</a:t>
                </a:r>
              </a:p>
              <a:p>
                <a:pPr>
                  <a:buNone/>
                </a:pPr>
                <a:endParaRPr lang="en-IN" sz="4000" dirty="0"/>
              </a:p>
              <a:p>
                <a:pPr>
                  <a:buNone/>
                </a:pPr>
                <a:r>
                  <a:rPr lang="en-IN" dirty="0">
                    <a:latin typeface="Sitka Subheading Semibold" pitchFamily="2" charset="0"/>
                  </a:rPr>
                  <a:t>Stat theory tells us </a:t>
                </a:r>
                <a:r>
                  <a:rPr lang="en-IN" b="1" dirty="0">
                    <a:latin typeface="Sitka Subheading Semibold" pitchFamily="2" charset="0"/>
                  </a:rPr>
                  <a:t>how many</a:t>
                </a:r>
                <a:r>
                  <a:rPr lang="en-IN" dirty="0">
                    <a:latin typeface="Sitka Subheading Semibold" pitchFamily="2" charset="0"/>
                  </a:rPr>
                  <a:t> to sample from each stratum.</a:t>
                </a:r>
                <a:br>
                  <a:rPr lang="en-IN" dirty="0">
                    <a:latin typeface="Sitka Subheading Semibold" pitchFamily="2" charset="0"/>
                  </a:rPr>
                </a:br>
                <a:endParaRPr lang="en-IN" dirty="0">
                  <a:latin typeface="Sitka Subheading Semibold" pitchFamily="2" charset="0"/>
                </a:endParaRPr>
              </a:p>
              <a:p>
                <a:pPr>
                  <a:buNone/>
                </a:pPr>
                <a:r>
                  <a:rPr lang="en-IN" dirty="0">
                    <a:latin typeface="Sitka Subheading Semibold" pitchFamily="2" charset="0"/>
                  </a:rPr>
                  <a:t>But in practice, we also need to decide </a:t>
                </a:r>
                <a:r>
                  <a:rPr lang="en-IN" b="1" dirty="0">
                    <a:latin typeface="Sitka Subheading Semibold" pitchFamily="2" charset="0"/>
                  </a:rPr>
                  <a:t>who goes where</a:t>
                </a:r>
                <a:r>
                  <a:rPr lang="en-IN" dirty="0">
                    <a:latin typeface="Sitka Subheading Semibold" pitchFamily="2" charset="0"/>
                  </a:rPr>
                  <a:t> to actually collect those </a:t>
                </a:r>
                <a14:m>
                  <m:oMath xmlns:m="http://schemas.openxmlformats.org/officeDocument/2006/math">
                    <m:sSubSup>
                      <m:sSubSupPr>
                        <m:ctrlPr>
                          <a:rPr lang="ar-AE" i="1">
                            <a:latin typeface="Cambria Math" panose="02040503050406030204" pitchFamily="18" charset="0"/>
                          </a:rPr>
                        </m:ctrlPr>
                      </m:sSubSupPr>
                      <m:e>
                        <m:r>
                          <a:rPr lang="ar-AE" i="1">
                            <a:latin typeface="Cambria Math" panose="02040503050406030204" pitchFamily="18" charset="0"/>
                          </a:rPr>
                          <m:t>𝑛</m:t>
                        </m:r>
                      </m:e>
                      <m:sub>
                        <m:r>
                          <a:rPr lang="ar-AE" i="1">
                            <a:latin typeface="Cambria Math" panose="02040503050406030204" pitchFamily="18" charset="0"/>
                          </a:rPr>
                          <m:t>h</m:t>
                        </m:r>
                      </m:sub>
                      <m:sup>
                        <m:r>
                          <a:rPr lang="ar-AE" i="0">
                            <a:latin typeface="Cambria Math" panose="02040503050406030204" pitchFamily="18" charset="0"/>
                          </a:rPr>
                          <m:t>⋆</m:t>
                        </m:r>
                      </m:sup>
                    </m:sSubSup>
                  </m:oMath>
                </a14:m>
                <a:r>
                  <a:rPr lang="en-IN" dirty="0"/>
                  <a:t> </a:t>
                </a:r>
                <a:r>
                  <a:rPr lang="en-IN" dirty="0">
                    <a:latin typeface="Sitka Subheading Semibold" pitchFamily="2" charset="0"/>
                  </a:rPr>
                  <a:t>interviews</a:t>
                </a:r>
                <a:r>
                  <a:rPr lang="en-IN" dirty="0"/>
                  <a:t>.</a:t>
                </a:r>
              </a:p>
              <a:p>
                <a:pPr>
                  <a:buNone/>
                </a:pPr>
                <a:endParaRPr lang="en-IN" dirty="0">
                  <a:latin typeface="Sitka Subheading Semibold" pitchFamily="2" charset="0"/>
                </a:endParaRPr>
              </a:p>
              <a:p>
                <a:pPr>
                  <a:buNone/>
                </a:pPr>
                <a:r>
                  <a:rPr lang="en-IN" dirty="0">
                    <a:latin typeface="Sitka Subheading Semibold" pitchFamily="2" charset="0"/>
                  </a:rPr>
                  <a:t>Think of</a:t>
                </a:r>
                <a:r>
                  <a:rPr lang="en-IN" dirty="0"/>
                  <a:t>:</a:t>
                </a:r>
              </a:p>
              <a:p>
                <a:r>
                  <a:rPr lang="en-IN" dirty="0">
                    <a:latin typeface="Sitka Subheading Semibold" pitchFamily="2" charset="0"/>
                  </a:rPr>
                  <a:t>There are </a:t>
                </a:r>
                <a14:m>
                  <m:oMath xmlns:m="http://schemas.openxmlformats.org/officeDocument/2006/math">
                    <m:r>
                      <a:rPr lang="en-IN" i="1">
                        <a:latin typeface="Cambria Math" panose="02040503050406030204" pitchFamily="18" charset="0"/>
                      </a:rPr>
                      <m:t>𝐾</m:t>
                    </m:r>
                  </m:oMath>
                </a14:m>
                <a:r>
                  <a:rPr lang="en-IN" b="1" dirty="0">
                    <a:latin typeface="Sitka Subheading Semibold" pitchFamily="2" charset="0"/>
                  </a:rPr>
                  <a:t> field teams/interviewers</a:t>
                </a:r>
                <a:r>
                  <a:rPr lang="en-IN" dirty="0"/>
                  <a:t>.</a:t>
                </a:r>
              </a:p>
              <a:p>
                <a:r>
                  <a:rPr lang="en-IN" dirty="0">
                    <a:latin typeface="Sitka Subheading Semibold" pitchFamily="2" charset="0"/>
                  </a:rPr>
                  <a:t>Each team </a:t>
                </a:r>
                <a14:m>
                  <m:oMath xmlns:m="http://schemas.openxmlformats.org/officeDocument/2006/math">
                    <m:r>
                      <a:rPr lang="en-IN" i="1">
                        <a:latin typeface="Cambria Math" panose="02040503050406030204" pitchFamily="18" charset="0"/>
                      </a:rPr>
                      <m:t>𝑘</m:t>
                    </m:r>
                  </m:oMath>
                </a14:m>
                <a:r>
                  <a:rPr lang="en-IN" dirty="0">
                    <a:latin typeface="Sitka Subheading Semibold" pitchFamily="2" charset="0"/>
                  </a:rPr>
                  <a:t> can complete at most </a:t>
                </a:r>
                <a14:m>
                  <m:oMath xmlns:m="http://schemas.openxmlformats.org/officeDocument/2006/math">
                    <m:sSub>
                      <m:sSubPr>
                        <m:ctrlPr>
                          <a:rPr lang="ar-AE" i="1">
                            <a:latin typeface="Cambria Math" panose="02040503050406030204" pitchFamily="18" charset="0"/>
                          </a:rPr>
                        </m:ctrlPr>
                      </m:sSubPr>
                      <m:e>
                        <m:r>
                          <a:rPr lang="ar-AE" i="1">
                            <a:latin typeface="Cambria Math" panose="02040503050406030204" pitchFamily="18" charset="0"/>
                          </a:rPr>
                          <m:t>𝐶</m:t>
                        </m:r>
                      </m:e>
                      <m:sub>
                        <m:r>
                          <a:rPr lang="ar-AE" i="1">
                            <a:latin typeface="Cambria Math" panose="02040503050406030204" pitchFamily="18" charset="0"/>
                          </a:rPr>
                          <m:t>𝑘</m:t>
                        </m:r>
                      </m:sub>
                    </m:sSub>
                  </m:oMath>
                </a14:m>
                <a:r>
                  <a:rPr lang="en-IN" dirty="0">
                    <a:latin typeface="Sitka Subheading Semibold" pitchFamily="2" charset="0"/>
                  </a:rPr>
                  <a:t> interviews (capacity).</a:t>
                </a:r>
              </a:p>
              <a:p>
                <a:r>
                  <a:rPr lang="en-IN" dirty="0">
                    <a:latin typeface="Sitka Subheading Semibold" pitchFamily="2" charset="0"/>
                  </a:rPr>
                  <a:t>Sending team </a:t>
                </a:r>
                <a14:m>
                  <m:oMath xmlns:m="http://schemas.openxmlformats.org/officeDocument/2006/math">
                    <m:r>
                      <a:rPr lang="en-IN" i="1">
                        <a:latin typeface="Cambria Math" panose="02040503050406030204" pitchFamily="18" charset="0"/>
                      </a:rPr>
                      <m:t>𝑘</m:t>
                    </m:r>
                    <m:r>
                      <a:rPr lang="en-IN" b="0" i="1" smtClean="0">
                        <a:latin typeface="Cambria Math" panose="02040503050406030204" pitchFamily="18" charset="0"/>
                      </a:rPr>
                      <m:t> </m:t>
                    </m:r>
                  </m:oMath>
                </a14:m>
                <a:r>
                  <a:rPr lang="en-IN" dirty="0">
                    <a:latin typeface="Sitka Subheading Semibold" pitchFamily="2" charset="0"/>
                  </a:rPr>
                  <a:t>to work in stratum </a:t>
                </a:r>
                <a14:m>
                  <m:oMath xmlns:m="http://schemas.openxmlformats.org/officeDocument/2006/math">
                    <m:r>
                      <a:rPr lang="en-IN" i="1">
                        <a:latin typeface="Cambria Math" panose="02040503050406030204" pitchFamily="18" charset="0"/>
                      </a:rPr>
                      <m:t>h</m:t>
                    </m:r>
                  </m:oMath>
                </a14:m>
                <a:r>
                  <a:rPr lang="en-IN" dirty="0">
                    <a:latin typeface="Sitka Subheading Semibold" pitchFamily="2" charset="0"/>
                  </a:rPr>
                  <a:t> has a </a:t>
                </a:r>
                <a:r>
                  <a:rPr lang="en-IN" b="1" dirty="0">
                    <a:latin typeface="Sitka Subheading Semibold" pitchFamily="2" charset="0"/>
                  </a:rPr>
                  <a:t>cost per interview</a:t>
                </a:r>
                <a:r>
                  <a:rPr lang="en-IN" dirty="0"/>
                  <a:t> </a:t>
                </a:r>
                <a14:m>
                  <m:oMath xmlns:m="http://schemas.openxmlformats.org/officeDocument/2006/math">
                    <m:sSub>
                      <m:sSubPr>
                        <m:ctrlPr>
                          <a:rPr lang="ar-AE" i="1">
                            <a:latin typeface="Cambria Math" panose="02040503050406030204" pitchFamily="18" charset="0"/>
                          </a:rPr>
                        </m:ctrlPr>
                      </m:sSubPr>
                      <m:e>
                        <m:r>
                          <a:rPr lang="ar-AE" i="1">
                            <a:latin typeface="Cambria Math" panose="02040503050406030204" pitchFamily="18" charset="0"/>
                          </a:rPr>
                          <m:t>𝑐</m:t>
                        </m:r>
                      </m:e>
                      <m:sub>
                        <m:r>
                          <a:rPr lang="ar-AE" i="1">
                            <a:latin typeface="Cambria Math" panose="02040503050406030204" pitchFamily="18" charset="0"/>
                          </a:rPr>
                          <m:t>𝑘</m:t>
                        </m:r>
                        <m:r>
                          <a:rPr lang="ar-AE" i="1">
                            <a:latin typeface="Cambria Math" panose="02040503050406030204" pitchFamily="18" charset="0"/>
                          </a:rPr>
                          <m:t>h</m:t>
                        </m:r>
                      </m:sub>
                    </m:sSub>
                    <m:r>
                      <a:rPr lang="en-IN" b="0" i="0" smtClean="0">
                        <a:latin typeface="Cambria Math" panose="02040503050406030204" pitchFamily="18" charset="0"/>
                      </a:rPr>
                      <m:t> </m:t>
                    </m:r>
                  </m:oMath>
                </a14:m>
                <a:r>
                  <a:rPr lang="en-IN" dirty="0"/>
                  <a:t> </a:t>
                </a:r>
                <a:r>
                  <a:rPr lang="en-IN" dirty="0">
                    <a:latin typeface="Sitka Subheading Semibold" pitchFamily="2" charset="0"/>
                  </a:rPr>
                  <a:t>(travel, time, difficulty, etc.)</a:t>
                </a:r>
                <a:r>
                  <a:rPr lang="en-IN" dirty="0"/>
                  <a:t>.</a:t>
                </a:r>
              </a:p>
              <a:p>
                <a:endParaRPr lang="en-IN" dirty="0">
                  <a:latin typeface="Sitka Subheading Semibold" pitchFamily="2" charset="0"/>
                </a:endParaRPr>
              </a:p>
              <a:p>
                <a:r>
                  <a:rPr lang="en-IN" dirty="0">
                    <a:latin typeface="Sitka Subheading Semibold" pitchFamily="2" charset="0"/>
                  </a:rPr>
                  <a:t>We want total interviews in stratum </a:t>
                </a:r>
                <a14:m>
                  <m:oMath xmlns:m="http://schemas.openxmlformats.org/officeDocument/2006/math">
                    <m:r>
                      <a:rPr lang="en-IN" i="1">
                        <a:latin typeface="Cambria Math" panose="02040503050406030204" pitchFamily="18" charset="0"/>
                      </a:rPr>
                      <m:t>h</m:t>
                    </m:r>
                    <m:r>
                      <a:rPr lang="en-IN" b="0" i="1" smtClean="0">
                        <a:latin typeface="Cambria Math" panose="02040503050406030204" pitchFamily="18" charset="0"/>
                      </a:rPr>
                      <m:t> </m:t>
                    </m:r>
                  </m:oMath>
                </a14:m>
                <a:r>
                  <a:rPr lang="en-IN" dirty="0">
                    <a:latin typeface="Sitka Subheading Semibold" pitchFamily="2" charset="0"/>
                  </a:rPr>
                  <a:t>to be </a:t>
                </a:r>
                <a:r>
                  <a:rPr lang="en-IN" i="1" dirty="0">
                    <a:latin typeface="Sitka Subheading Semibold" pitchFamily="2" charset="0"/>
                  </a:rPr>
                  <a:t>close</a:t>
                </a:r>
                <a:r>
                  <a:rPr lang="en-IN" dirty="0">
                    <a:latin typeface="Sitka Subheading Semibold" pitchFamily="2" charset="0"/>
                  </a:rPr>
                  <a:t> to Neyman target </a:t>
                </a:r>
                <a14:m>
                  <m:oMath xmlns:m="http://schemas.openxmlformats.org/officeDocument/2006/math">
                    <m:sSubSup>
                      <m:sSubSupPr>
                        <m:ctrlPr>
                          <a:rPr lang="ar-AE" i="1">
                            <a:latin typeface="Cambria Math" panose="02040503050406030204" pitchFamily="18" charset="0"/>
                          </a:rPr>
                        </m:ctrlPr>
                      </m:sSubSupPr>
                      <m:e>
                        <m:r>
                          <a:rPr lang="ar-AE" i="1">
                            <a:latin typeface="Cambria Math" panose="02040503050406030204" pitchFamily="18" charset="0"/>
                          </a:rPr>
                          <m:t>𝑛</m:t>
                        </m:r>
                      </m:e>
                      <m:sub>
                        <m:r>
                          <a:rPr lang="ar-AE" i="1">
                            <a:latin typeface="Cambria Math" panose="02040503050406030204" pitchFamily="18" charset="0"/>
                          </a:rPr>
                          <m:t>h</m:t>
                        </m:r>
                      </m:sub>
                      <m:sup>
                        <m:r>
                          <a:rPr lang="ar-AE" i="0">
                            <a:latin typeface="Cambria Math" panose="02040503050406030204" pitchFamily="18" charset="0"/>
                          </a:rPr>
                          <m:t>⋆</m:t>
                        </m:r>
                      </m:sup>
                    </m:sSubSup>
                  </m:oMath>
                </a14:m>
                <a:r>
                  <a:rPr lang="ar-AE" dirty="0"/>
                  <a:t>.</a:t>
                </a:r>
              </a:p>
              <a:p>
                <a:pPr>
                  <a:buNone/>
                </a:pPr>
                <a:endParaRPr lang="en-IN" dirty="0">
                  <a:latin typeface="Sitka Subheading Semibold" pitchFamily="2" charset="0"/>
                </a:endParaRPr>
              </a:p>
              <a:p>
                <a:pPr>
                  <a:buNone/>
                </a:pPr>
                <a:r>
                  <a:rPr lang="en-IN" dirty="0">
                    <a:latin typeface="Sitka Subheading Semibold" pitchFamily="2" charset="0"/>
                  </a:rPr>
                  <a:t>This becomes a classical </a:t>
                </a:r>
                <a:r>
                  <a:rPr lang="en-IN" b="1" dirty="0">
                    <a:latin typeface="Sitka Subheading Semibold" pitchFamily="2" charset="0"/>
                  </a:rPr>
                  <a:t>transportation /minimum-cost flow</a:t>
                </a:r>
                <a:r>
                  <a:rPr lang="en-IN" dirty="0">
                    <a:latin typeface="Sitka Subheading Semibold" pitchFamily="2" charset="0"/>
                  </a:rPr>
                  <a:t> model</a:t>
                </a:r>
                <a:r>
                  <a:rPr lang="en-IN" dirty="0"/>
                  <a:t>.</a:t>
                </a:r>
              </a:p>
            </p:txBody>
          </p:sp>
        </mc:Choice>
        <mc:Fallback xmlns="">
          <p:sp>
            <p:nvSpPr>
              <p:cNvPr id="3" name="TextBox 2">
                <a:extLst>
                  <a:ext uri="{FF2B5EF4-FFF2-40B4-BE49-F238E27FC236}">
                    <a16:creationId xmlns:a16="http://schemas.microsoft.com/office/drawing/2014/main" id="{EC48D1F8-CAB4-8B7F-5993-428E4C5C5218}"/>
                  </a:ext>
                </a:extLst>
              </p:cNvPr>
              <p:cNvSpPr txBox="1">
                <a:spLocks noRot="1" noChangeAspect="1" noMove="1" noResize="1" noEditPoints="1" noAdjustHandles="1" noChangeArrowheads="1" noChangeShapeType="1" noTextEdit="1"/>
              </p:cNvSpPr>
              <p:nvPr/>
            </p:nvSpPr>
            <p:spPr>
              <a:xfrm>
                <a:off x="1990287" y="481204"/>
                <a:ext cx="8839899" cy="5693866"/>
              </a:xfrm>
              <a:prstGeom prst="rect">
                <a:avLst/>
              </a:prstGeom>
              <a:blipFill>
                <a:blip r:embed="rId2"/>
                <a:stretch>
                  <a:fillRect l="-2068" t="-1606" b="-857"/>
                </a:stretch>
              </a:blipFill>
            </p:spPr>
            <p:txBody>
              <a:bodyPr/>
              <a:lstStyle/>
              <a:p>
                <a:r>
                  <a:rPr lang="en-IN">
                    <a:noFill/>
                  </a:rPr>
                  <a:t> </a:t>
                </a:r>
              </a:p>
            </p:txBody>
          </p:sp>
        </mc:Fallback>
      </mc:AlternateContent>
    </p:spTree>
    <p:extLst>
      <p:ext uri="{BB962C8B-B14F-4D97-AF65-F5344CB8AC3E}">
        <p14:creationId xmlns:p14="http://schemas.microsoft.com/office/powerpoint/2010/main" val="1702659126"/>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3" name="TextBox 2">
                <a:extLst>
                  <a:ext uri="{FF2B5EF4-FFF2-40B4-BE49-F238E27FC236}">
                    <a16:creationId xmlns:a16="http://schemas.microsoft.com/office/drawing/2014/main" id="{ACA5259A-1789-7F88-B03E-8843899AFEBB}"/>
                  </a:ext>
                </a:extLst>
              </p:cNvPr>
              <p:cNvSpPr txBox="1"/>
              <p:nvPr/>
            </p:nvSpPr>
            <p:spPr>
              <a:xfrm>
                <a:off x="1600549" y="443295"/>
                <a:ext cx="10110482" cy="6414705"/>
              </a:xfrm>
              <a:prstGeom prst="rect">
                <a:avLst/>
              </a:prstGeom>
              <a:noFill/>
            </p:spPr>
            <p:txBody>
              <a:bodyPr wrap="square">
                <a:spAutoFit/>
              </a:bodyPr>
              <a:lstStyle/>
              <a:p>
                <a:pPr>
                  <a:buNone/>
                </a:pPr>
                <a:r>
                  <a:rPr lang="en-IN" sz="3600" b="1" dirty="0">
                    <a:latin typeface="Agency FB" panose="020B0503020202020204" pitchFamily="34" charset="0"/>
                  </a:rPr>
                  <a:t>Sets and parameters</a:t>
                </a:r>
              </a:p>
              <a:p>
                <a:endParaRPr lang="en-IN" dirty="0">
                  <a:latin typeface="Sitka Subheading Semibold" pitchFamily="2" charset="0"/>
                </a:endParaRPr>
              </a:p>
              <a:p>
                <a:r>
                  <a:rPr lang="en-IN" dirty="0">
                    <a:latin typeface="Sitka Subheading Semibold" pitchFamily="2" charset="0"/>
                  </a:rPr>
                  <a:t>Strata</a:t>
                </a:r>
                <a:r>
                  <a:rPr lang="en-IN" dirty="0"/>
                  <a:t>: </a:t>
                </a:r>
                <a14:m>
                  <m:oMath xmlns:m="http://schemas.openxmlformats.org/officeDocument/2006/math">
                    <m:r>
                      <a:rPr lang="en-IN" i="1">
                        <a:latin typeface="Cambria Math" panose="02040503050406030204" pitchFamily="18" charset="0"/>
                      </a:rPr>
                      <m:t>h</m:t>
                    </m:r>
                    <m:r>
                      <a:rPr lang="en-IN" i="0">
                        <a:latin typeface="Cambria Math" panose="02040503050406030204" pitchFamily="18" charset="0"/>
                      </a:rPr>
                      <m:t>=1,…,</m:t>
                    </m:r>
                    <m:r>
                      <a:rPr lang="en-IN" i="1">
                        <a:latin typeface="Cambria Math" panose="02040503050406030204" pitchFamily="18" charset="0"/>
                      </a:rPr>
                      <m:t>𝐿</m:t>
                    </m:r>
                  </m:oMath>
                </a14:m>
                <a:r>
                  <a:rPr lang="en-IN" dirty="0"/>
                  <a:t>.</a:t>
                </a:r>
              </a:p>
              <a:p>
                <a:r>
                  <a:rPr lang="en-IN" dirty="0">
                    <a:latin typeface="Sitka Subheading Semibold" pitchFamily="2" charset="0"/>
                  </a:rPr>
                  <a:t>Teams</a:t>
                </a:r>
                <a:r>
                  <a:rPr lang="en-IN" dirty="0"/>
                  <a:t>: </a:t>
                </a:r>
                <a14:m>
                  <m:oMath xmlns:m="http://schemas.openxmlformats.org/officeDocument/2006/math">
                    <m:r>
                      <a:rPr lang="en-IN" i="1">
                        <a:latin typeface="Cambria Math" panose="02040503050406030204" pitchFamily="18" charset="0"/>
                      </a:rPr>
                      <m:t>𝑘</m:t>
                    </m:r>
                    <m:r>
                      <a:rPr lang="en-IN" i="0">
                        <a:latin typeface="Cambria Math" panose="02040503050406030204" pitchFamily="18" charset="0"/>
                      </a:rPr>
                      <m:t>=1,…,</m:t>
                    </m:r>
                    <m:r>
                      <a:rPr lang="en-IN" i="1">
                        <a:latin typeface="Cambria Math" panose="02040503050406030204" pitchFamily="18" charset="0"/>
                      </a:rPr>
                      <m:t>𝐾</m:t>
                    </m:r>
                  </m:oMath>
                </a14:m>
                <a:r>
                  <a:rPr lang="en-IN" dirty="0"/>
                  <a:t>.</a:t>
                </a:r>
              </a:p>
              <a:p>
                <a:pPr>
                  <a:buNone/>
                </a:pPr>
                <a:endParaRPr lang="en-IN" dirty="0">
                  <a:latin typeface="Sitka Subheading Semibold" pitchFamily="2" charset="0"/>
                </a:endParaRPr>
              </a:p>
              <a:p>
                <a:pPr>
                  <a:buNone/>
                </a:pPr>
                <a:r>
                  <a:rPr lang="en-IN" dirty="0">
                    <a:latin typeface="Sitka Subheading Semibold" pitchFamily="2" charset="0"/>
                  </a:rPr>
                  <a:t>Parameters</a:t>
                </a:r>
                <a:r>
                  <a:rPr lang="en-IN" dirty="0"/>
                  <a:t>:</a:t>
                </a:r>
              </a:p>
              <a:p>
                <a14:m>
                  <m:oMath xmlns:m="http://schemas.openxmlformats.org/officeDocument/2006/math">
                    <m:sSubSup>
                      <m:sSubSupPr>
                        <m:ctrlPr>
                          <a:rPr lang="ar-AE" i="1" smtClean="0">
                            <a:latin typeface="Cambria Math" panose="02040503050406030204" pitchFamily="18" charset="0"/>
                          </a:rPr>
                        </m:ctrlPr>
                      </m:sSubSupPr>
                      <m:e>
                        <m:r>
                          <a:rPr lang="ar-AE" i="1">
                            <a:latin typeface="Cambria Math" panose="02040503050406030204" pitchFamily="18" charset="0"/>
                          </a:rPr>
                          <m:t>𝑛</m:t>
                        </m:r>
                      </m:e>
                      <m:sub>
                        <m:r>
                          <a:rPr lang="ar-AE" i="1">
                            <a:latin typeface="Cambria Math" panose="02040503050406030204" pitchFamily="18" charset="0"/>
                          </a:rPr>
                          <m:t>h</m:t>
                        </m:r>
                      </m:sub>
                      <m:sup>
                        <m:r>
                          <a:rPr lang="ar-AE" i="0">
                            <a:latin typeface="Cambria Math" panose="02040503050406030204" pitchFamily="18" charset="0"/>
                          </a:rPr>
                          <m:t>⋆</m:t>
                        </m:r>
                      </m:sup>
                    </m:sSubSup>
                  </m:oMath>
                </a14:m>
                <a:r>
                  <a:rPr lang="ar-AE" dirty="0"/>
                  <a:t>: </a:t>
                </a:r>
                <a:r>
                  <a:rPr lang="en-IN" dirty="0">
                    <a:latin typeface="Sitka Subheading Semibold" pitchFamily="2" charset="0"/>
                  </a:rPr>
                  <a:t>target sample size for stratum </a:t>
                </a:r>
                <a14:m>
                  <m:oMath xmlns:m="http://schemas.openxmlformats.org/officeDocument/2006/math">
                    <m:r>
                      <a:rPr lang="en-IN" i="1">
                        <a:latin typeface="Cambria Math" panose="02040503050406030204" pitchFamily="18" charset="0"/>
                      </a:rPr>
                      <m:t>h</m:t>
                    </m:r>
                  </m:oMath>
                </a14:m>
                <a:r>
                  <a:rPr lang="en-IN" dirty="0">
                    <a:latin typeface="Sitka Subheading Semibold" pitchFamily="2" charset="0"/>
                  </a:rPr>
                  <a:t>(from Neyman).</a:t>
                </a:r>
              </a:p>
              <a:p>
                <a14:m>
                  <m:oMath xmlns:m="http://schemas.openxmlformats.org/officeDocument/2006/math">
                    <m:sSub>
                      <m:sSubPr>
                        <m:ctrlPr>
                          <a:rPr lang="ar-AE" i="1">
                            <a:latin typeface="Cambria Math" panose="02040503050406030204" pitchFamily="18" charset="0"/>
                          </a:rPr>
                        </m:ctrlPr>
                      </m:sSubPr>
                      <m:e>
                        <m:r>
                          <a:rPr lang="ar-AE" i="1">
                            <a:latin typeface="Cambria Math" panose="02040503050406030204" pitchFamily="18" charset="0"/>
                          </a:rPr>
                          <m:t>𝐶</m:t>
                        </m:r>
                      </m:e>
                      <m:sub>
                        <m:r>
                          <a:rPr lang="ar-AE" i="1">
                            <a:latin typeface="Cambria Math" panose="02040503050406030204" pitchFamily="18" charset="0"/>
                          </a:rPr>
                          <m:t>𝑘</m:t>
                        </m:r>
                      </m:sub>
                    </m:sSub>
                  </m:oMath>
                </a14:m>
                <a:r>
                  <a:rPr lang="ar-AE" dirty="0"/>
                  <a:t>: </a:t>
                </a:r>
                <a:r>
                  <a:rPr lang="en-IN" dirty="0">
                    <a:latin typeface="Sitka Subheading Semibold" pitchFamily="2" charset="0"/>
                  </a:rPr>
                  <a:t>capacity (max number of interviews) that team </a:t>
                </a:r>
                <a14:m>
                  <m:oMath xmlns:m="http://schemas.openxmlformats.org/officeDocument/2006/math">
                    <m:r>
                      <a:rPr lang="en-IN" i="1">
                        <a:latin typeface="Cambria Math" panose="02040503050406030204" pitchFamily="18" charset="0"/>
                      </a:rPr>
                      <m:t>𝑘</m:t>
                    </m:r>
                    <m:r>
                      <a:rPr lang="en-IN" b="0" i="1" smtClean="0">
                        <a:latin typeface="Cambria Math" panose="02040503050406030204" pitchFamily="18" charset="0"/>
                      </a:rPr>
                      <m:t> </m:t>
                    </m:r>
                  </m:oMath>
                </a14:m>
                <a:r>
                  <a:rPr lang="en-IN" dirty="0">
                    <a:latin typeface="Sitka Subheading Semibold" pitchFamily="2" charset="0"/>
                  </a:rPr>
                  <a:t>can conduct.</a:t>
                </a:r>
              </a:p>
              <a:p>
                <a14:m>
                  <m:oMath xmlns:m="http://schemas.openxmlformats.org/officeDocument/2006/math">
                    <m:sSub>
                      <m:sSubPr>
                        <m:ctrlPr>
                          <a:rPr lang="ar-AE" i="1">
                            <a:latin typeface="Cambria Math" panose="02040503050406030204" pitchFamily="18" charset="0"/>
                          </a:rPr>
                        </m:ctrlPr>
                      </m:sSubPr>
                      <m:e>
                        <m:r>
                          <a:rPr lang="ar-AE" i="1">
                            <a:latin typeface="Cambria Math" panose="02040503050406030204" pitchFamily="18" charset="0"/>
                          </a:rPr>
                          <m:t>𝑐</m:t>
                        </m:r>
                      </m:e>
                      <m:sub>
                        <m:r>
                          <a:rPr lang="ar-AE" i="1">
                            <a:latin typeface="Cambria Math" panose="02040503050406030204" pitchFamily="18" charset="0"/>
                          </a:rPr>
                          <m:t>𝑘</m:t>
                        </m:r>
                        <m:r>
                          <a:rPr lang="ar-AE" i="1">
                            <a:latin typeface="Cambria Math" panose="02040503050406030204" pitchFamily="18" charset="0"/>
                          </a:rPr>
                          <m:t>h</m:t>
                        </m:r>
                      </m:sub>
                    </m:sSub>
                  </m:oMath>
                </a14:m>
                <a:r>
                  <a:rPr lang="ar-AE" dirty="0"/>
                  <a:t>:</a:t>
                </a:r>
                <a:r>
                  <a:rPr lang="en-IN" dirty="0">
                    <a:latin typeface="Sitka Subheading Semibold" pitchFamily="2" charset="0"/>
                  </a:rPr>
                  <a:t>cost per interview for team </a:t>
                </a:r>
                <a14:m>
                  <m:oMath xmlns:m="http://schemas.openxmlformats.org/officeDocument/2006/math">
                    <m:r>
                      <a:rPr lang="en-IN" i="1">
                        <a:latin typeface="Cambria Math" panose="02040503050406030204" pitchFamily="18" charset="0"/>
                      </a:rPr>
                      <m:t>𝑘</m:t>
                    </m:r>
                  </m:oMath>
                </a14:m>
                <a:r>
                  <a:rPr lang="en-IN" dirty="0">
                    <a:latin typeface="Sitka Subheading Semibold" pitchFamily="2" charset="0"/>
                  </a:rPr>
                  <a:t> working in stratum </a:t>
                </a:r>
                <a14:m>
                  <m:oMath xmlns:m="http://schemas.openxmlformats.org/officeDocument/2006/math">
                    <m:r>
                      <a:rPr lang="en-IN" i="1">
                        <a:latin typeface="Cambria Math" panose="02040503050406030204" pitchFamily="18" charset="0"/>
                      </a:rPr>
                      <m:t>h</m:t>
                    </m:r>
                  </m:oMath>
                </a14:m>
                <a:r>
                  <a:rPr lang="en-IN" dirty="0">
                    <a:latin typeface="Sitka Subheading Semibold" pitchFamily="2" charset="0"/>
                  </a:rPr>
                  <a:t>.</a:t>
                </a:r>
              </a:p>
              <a:p>
                <a:r>
                  <a:rPr lang="en-IN" dirty="0">
                    <a:latin typeface="Sitka Subheading Semibold" pitchFamily="2" charset="0"/>
                  </a:rPr>
                  <a:t>Allow deviation from Neyman targets up to some bounds, or penalize deviations.</a:t>
                </a:r>
              </a:p>
              <a:p>
                <a:pPr>
                  <a:buNone/>
                </a:pPr>
                <a:endParaRPr lang="en-IN" sz="3600" b="1" dirty="0">
                  <a:latin typeface="Agency FB" panose="020B0503020202020204" pitchFamily="34" charset="0"/>
                </a:endParaRPr>
              </a:p>
              <a:p>
                <a:pPr>
                  <a:buNone/>
                </a:pPr>
                <a:r>
                  <a:rPr lang="en-IN" sz="3600" b="1" dirty="0">
                    <a:latin typeface="Agency FB" panose="020B0503020202020204" pitchFamily="34" charset="0"/>
                  </a:rPr>
                  <a:t>Decision variables</a:t>
                </a:r>
              </a:p>
              <a:p>
                <a14:m>
                  <m:oMath xmlns:m="http://schemas.openxmlformats.org/officeDocument/2006/math">
                    <m:sSub>
                      <m:sSubPr>
                        <m:ctrlPr>
                          <a:rPr lang="ar-AE" i="1">
                            <a:latin typeface="Cambria Math" panose="02040503050406030204" pitchFamily="18" charset="0"/>
                          </a:rPr>
                        </m:ctrlPr>
                      </m:sSubPr>
                      <m:e>
                        <m:r>
                          <a:rPr lang="ar-AE" i="1">
                            <a:latin typeface="Cambria Math" panose="02040503050406030204" pitchFamily="18" charset="0"/>
                          </a:rPr>
                          <m:t>𝑥</m:t>
                        </m:r>
                      </m:e>
                      <m:sub>
                        <m:r>
                          <a:rPr lang="ar-AE" i="1">
                            <a:latin typeface="Cambria Math" panose="02040503050406030204" pitchFamily="18" charset="0"/>
                          </a:rPr>
                          <m:t>𝑘</m:t>
                        </m:r>
                        <m:r>
                          <a:rPr lang="ar-AE" i="1">
                            <a:latin typeface="Cambria Math" panose="02040503050406030204" pitchFamily="18" charset="0"/>
                          </a:rPr>
                          <m:t>h</m:t>
                        </m:r>
                      </m:sub>
                    </m:sSub>
                    <m:r>
                      <a:rPr lang="ar-AE" i="0">
                        <a:latin typeface="Cambria Math" panose="02040503050406030204" pitchFamily="18" charset="0"/>
                      </a:rPr>
                      <m:t>≥</m:t>
                    </m:r>
                    <m:r>
                      <a:rPr lang="ar-AE" i="0">
                        <a:latin typeface="Cambria Math" panose="02040503050406030204" pitchFamily="18" charset="0"/>
                      </a:rPr>
                      <m:t>0</m:t>
                    </m:r>
                  </m:oMath>
                </a14:m>
                <a:r>
                  <a:rPr lang="ar-AE" dirty="0"/>
                  <a:t>: </a:t>
                </a:r>
                <a:r>
                  <a:rPr lang="en-IN" dirty="0">
                    <a:latin typeface="Sitka Subheading Semibold" pitchFamily="2" charset="0"/>
                  </a:rPr>
                  <a:t>number of interviews conducted by team </a:t>
                </a:r>
                <a14:m>
                  <m:oMath xmlns:m="http://schemas.openxmlformats.org/officeDocument/2006/math">
                    <m:r>
                      <a:rPr lang="en-IN" i="1">
                        <a:latin typeface="Cambria Math" panose="02040503050406030204" pitchFamily="18" charset="0"/>
                      </a:rPr>
                      <m:t>𝑘</m:t>
                    </m:r>
                    <m:r>
                      <a:rPr lang="en-IN" b="0" i="1" smtClean="0">
                        <a:latin typeface="Cambria Math" panose="02040503050406030204" pitchFamily="18" charset="0"/>
                      </a:rPr>
                      <m:t> </m:t>
                    </m:r>
                  </m:oMath>
                </a14:m>
                <a:r>
                  <a:rPr lang="en-IN" dirty="0">
                    <a:latin typeface="Sitka Subheading Semibold" pitchFamily="2" charset="0"/>
                  </a:rPr>
                  <a:t>in stratum </a:t>
                </a:r>
                <a14:m>
                  <m:oMath xmlns:m="http://schemas.openxmlformats.org/officeDocument/2006/math">
                    <m:r>
                      <a:rPr lang="en-IN" i="1">
                        <a:latin typeface="Cambria Math" panose="02040503050406030204" pitchFamily="18" charset="0"/>
                      </a:rPr>
                      <m:t>h</m:t>
                    </m:r>
                  </m:oMath>
                </a14:m>
                <a:r>
                  <a:rPr lang="en-IN" dirty="0">
                    <a:latin typeface="Sitka Subheading Semibold" pitchFamily="2" charset="0"/>
                  </a:rPr>
                  <a:t>.</a:t>
                </a:r>
              </a:p>
              <a:p>
                <a14:m>
                  <m:oMath xmlns:m="http://schemas.openxmlformats.org/officeDocument/2006/math">
                    <m:sSubSup>
                      <m:sSubSupPr>
                        <m:ctrlPr>
                          <a:rPr lang="ar-AE" i="1">
                            <a:latin typeface="Cambria Math" panose="02040503050406030204" pitchFamily="18" charset="0"/>
                          </a:rPr>
                        </m:ctrlPr>
                      </m:sSubSupPr>
                      <m:e>
                        <m:r>
                          <a:rPr lang="ar-AE" i="1">
                            <a:latin typeface="Cambria Math" panose="02040503050406030204" pitchFamily="18" charset="0"/>
                          </a:rPr>
                          <m:t>𝑑</m:t>
                        </m:r>
                      </m:e>
                      <m:sub>
                        <m:r>
                          <a:rPr lang="ar-AE" i="1">
                            <a:latin typeface="Cambria Math" panose="02040503050406030204" pitchFamily="18" charset="0"/>
                          </a:rPr>
                          <m:t>h</m:t>
                        </m:r>
                      </m:sub>
                      <m:sup>
                        <m:r>
                          <a:rPr lang="ar-AE" i="0">
                            <a:latin typeface="Cambria Math" panose="02040503050406030204" pitchFamily="18" charset="0"/>
                          </a:rPr>
                          <m:t>+</m:t>
                        </m:r>
                      </m:sup>
                    </m:sSubSup>
                    <m:r>
                      <a:rPr lang="ar-AE" i="0">
                        <a:latin typeface="Cambria Math" panose="02040503050406030204" pitchFamily="18" charset="0"/>
                      </a:rPr>
                      <m:t>,</m:t>
                    </m:r>
                    <m:sSubSup>
                      <m:sSubSupPr>
                        <m:ctrlPr>
                          <a:rPr lang="ar-AE" i="1">
                            <a:latin typeface="Cambria Math" panose="02040503050406030204" pitchFamily="18" charset="0"/>
                          </a:rPr>
                        </m:ctrlPr>
                      </m:sSubSupPr>
                      <m:e>
                        <m:r>
                          <a:rPr lang="ar-AE" i="1">
                            <a:latin typeface="Cambria Math" panose="02040503050406030204" pitchFamily="18" charset="0"/>
                          </a:rPr>
                          <m:t>𝑑</m:t>
                        </m:r>
                      </m:e>
                      <m:sub>
                        <m:r>
                          <a:rPr lang="ar-AE" i="1">
                            <a:latin typeface="Cambria Math" panose="02040503050406030204" pitchFamily="18" charset="0"/>
                          </a:rPr>
                          <m:t>h</m:t>
                        </m:r>
                      </m:sub>
                      <m:sup>
                        <m:r>
                          <a:rPr lang="ar-AE" i="0">
                            <a:latin typeface="Cambria Math" panose="02040503050406030204" pitchFamily="18" charset="0"/>
                          </a:rPr>
                          <m:t>−</m:t>
                        </m:r>
                      </m:sup>
                    </m:sSubSup>
                    <m:r>
                      <a:rPr lang="ar-AE" i="0">
                        <a:latin typeface="Cambria Math" panose="02040503050406030204" pitchFamily="18" charset="0"/>
                      </a:rPr>
                      <m:t>≥</m:t>
                    </m:r>
                    <m:r>
                      <a:rPr lang="ar-AE" i="0">
                        <a:latin typeface="Cambria Math" panose="02040503050406030204" pitchFamily="18" charset="0"/>
                      </a:rPr>
                      <m:t>0</m:t>
                    </m:r>
                  </m:oMath>
                </a14:m>
                <a:r>
                  <a:rPr lang="ar-AE" dirty="0"/>
                  <a:t>: </a:t>
                </a:r>
                <a:r>
                  <a:rPr lang="en-IN" dirty="0">
                    <a:latin typeface="Sitka Subheading Semibold" pitchFamily="2" charset="0"/>
                  </a:rPr>
                  <a:t>positive and negative deviation from the target </a:t>
                </a:r>
                <a14:m>
                  <m:oMath xmlns:m="http://schemas.openxmlformats.org/officeDocument/2006/math">
                    <m:sSubSup>
                      <m:sSubSupPr>
                        <m:ctrlPr>
                          <a:rPr lang="ar-AE" i="1">
                            <a:latin typeface="Cambria Math" panose="02040503050406030204" pitchFamily="18" charset="0"/>
                          </a:rPr>
                        </m:ctrlPr>
                      </m:sSubSupPr>
                      <m:e>
                        <m:r>
                          <a:rPr lang="ar-AE" i="1">
                            <a:latin typeface="Cambria Math" panose="02040503050406030204" pitchFamily="18" charset="0"/>
                          </a:rPr>
                          <m:t>𝑛</m:t>
                        </m:r>
                      </m:e>
                      <m:sub>
                        <m:r>
                          <a:rPr lang="ar-AE" i="1">
                            <a:latin typeface="Cambria Math" panose="02040503050406030204" pitchFamily="18" charset="0"/>
                          </a:rPr>
                          <m:t>h</m:t>
                        </m:r>
                      </m:sub>
                      <m:sup>
                        <m:r>
                          <a:rPr lang="ar-AE" i="0">
                            <a:latin typeface="Cambria Math" panose="02040503050406030204" pitchFamily="18" charset="0"/>
                          </a:rPr>
                          <m:t>⋆</m:t>
                        </m:r>
                      </m:sup>
                    </m:sSubSup>
                  </m:oMath>
                </a14:m>
                <a:r>
                  <a:rPr lang="ar-AE" dirty="0"/>
                  <a:t>.</a:t>
                </a:r>
              </a:p>
              <a:p>
                <a:pPr>
                  <a:buNone/>
                </a:pPr>
                <a:r>
                  <a:rPr lang="en-IN" dirty="0">
                    <a:latin typeface="Sitka Subheading Semibold" pitchFamily="2" charset="0"/>
                  </a:rPr>
                  <a:t>We enforce:</a:t>
                </a:r>
              </a:p>
              <a:p>
                <a:pPr>
                  <a:buNone/>
                </a:pPr>
                <a14:m>
                  <m:oMathPara xmlns:m="http://schemas.openxmlformats.org/officeDocument/2006/math">
                    <m:oMathParaPr>
                      <m:jc m:val="centerGroup"/>
                    </m:oMathParaPr>
                    <m:oMath xmlns:m="http://schemas.openxmlformats.org/officeDocument/2006/math">
                      <m:nary>
                        <m:naryPr>
                          <m:chr m:val="∑"/>
                          <m:grow m:val="on"/>
                          <m:ctrlPr>
                            <a:rPr lang="ar-AE" i="1">
                              <a:latin typeface="Cambria Math" panose="02040503050406030204" pitchFamily="18" charset="0"/>
                            </a:rPr>
                          </m:ctrlPr>
                        </m:naryPr>
                        <m:sub>
                          <m:r>
                            <a:rPr lang="ar-AE" i="1">
                              <a:latin typeface="Cambria Math" panose="02040503050406030204" pitchFamily="18" charset="0"/>
                            </a:rPr>
                            <m:t>𝑘</m:t>
                          </m:r>
                          <m:r>
                            <a:rPr lang="ar-AE" i="0">
                              <a:latin typeface="Cambria Math" panose="02040503050406030204" pitchFamily="18" charset="0"/>
                            </a:rPr>
                            <m:t>=</m:t>
                          </m:r>
                          <m:r>
                            <a:rPr lang="ar-AE" i="0">
                              <a:latin typeface="Cambria Math" panose="02040503050406030204" pitchFamily="18" charset="0"/>
                            </a:rPr>
                            <m:t>1</m:t>
                          </m:r>
                        </m:sub>
                        <m:sup>
                          <m:r>
                            <a:rPr lang="ar-AE" i="1">
                              <a:latin typeface="Cambria Math" panose="02040503050406030204" pitchFamily="18" charset="0"/>
                            </a:rPr>
                            <m:t>𝐾</m:t>
                          </m:r>
                        </m:sup>
                        <m:e>
                          <m:sSub>
                            <m:sSubPr>
                              <m:ctrlPr>
                                <a:rPr lang="ar-AE" i="1">
                                  <a:latin typeface="Cambria Math" panose="02040503050406030204" pitchFamily="18" charset="0"/>
                                </a:rPr>
                              </m:ctrlPr>
                            </m:sSubPr>
                            <m:e>
                              <m:r>
                                <a:rPr lang="ar-AE" i="1">
                                  <a:latin typeface="Cambria Math" panose="02040503050406030204" pitchFamily="18" charset="0"/>
                                </a:rPr>
                                <m:t>𝑥</m:t>
                              </m:r>
                            </m:e>
                            <m:sub>
                              <m:r>
                                <a:rPr lang="ar-AE" i="1">
                                  <a:latin typeface="Cambria Math" panose="02040503050406030204" pitchFamily="18" charset="0"/>
                                </a:rPr>
                                <m:t>𝑘</m:t>
                              </m:r>
                              <m:r>
                                <a:rPr lang="ar-AE" i="1">
                                  <a:latin typeface="Cambria Math" panose="02040503050406030204" pitchFamily="18" charset="0"/>
                                </a:rPr>
                                <m:t>h</m:t>
                              </m:r>
                            </m:sub>
                          </m:sSub>
                        </m:e>
                      </m:nary>
                      <m:r>
                        <a:rPr lang="ar-AE" i="0">
                          <a:latin typeface="Cambria Math" panose="02040503050406030204" pitchFamily="18" charset="0"/>
                        </a:rPr>
                        <m:t>=</m:t>
                      </m:r>
                      <m:sSubSup>
                        <m:sSubSupPr>
                          <m:ctrlPr>
                            <a:rPr lang="ar-AE" i="1">
                              <a:latin typeface="Cambria Math" panose="02040503050406030204" pitchFamily="18" charset="0"/>
                            </a:rPr>
                          </m:ctrlPr>
                        </m:sSubSupPr>
                        <m:e>
                          <m:r>
                            <a:rPr lang="ar-AE" i="1">
                              <a:latin typeface="Cambria Math" panose="02040503050406030204" pitchFamily="18" charset="0"/>
                            </a:rPr>
                            <m:t>𝑛</m:t>
                          </m:r>
                        </m:e>
                        <m:sub>
                          <m:r>
                            <a:rPr lang="ar-AE" i="1">
                              <a:latin typeface="Cambria Math" panose="02040503050406030204" pitchFamily="18" charset="0"/>
                            </a:rPr>
                            <m:t>h</m:t>
                          </m:r>
                        </m:sub>
                        <m:sup>
                          <m:r>
                            <a:rPr lang="ar-AE" i="0">
                              <a:latin typeface="Cambria Math" panose="02040503050406030204" pitchFamily="18" charset="0"/>
                            </a:rPr>
                            <m:t>⋆</m:t>
                          </m:r>
                        </m:sup>
                      </m:sSubSup>
                      <m:r>
                        <a:rPr lang="ar-AE" i="0">
                          <a:latin typeface="Cambria Math" panose="02040503050406030204" pitchFamily="18" charset="0"/>
                        </a:rPr>
                        <m:t>+</m:t>
                      </m:r>
                      <m:sSubSup>
                        <m:sSubSupPr>
                          <m:ctrlPr>
                            <a:rPr lang="ar-AE" i="1">
                              <a:latin typeface="Cambria Math" panose="02040503050406030204" pitchFamily="18" charset="0"/>
                            </a:rPr>
                          </m:ctrlPr>
                        </m:sSubSupPr>
                        <m:e>
                          <m:r>
                            <a:rPr lang="ar-AE" i="1">
                              <a:latin typeface="Cambria Math" panose="02040503050406030204" pitchFamily="18" charset="0"/>
                            </a:rPr>
                            <m:t>𝑑</m:t>
                          </m:r>
                        </m:e>
                        <m:sub>
                          <m:r>
                            <a:rPr lang="ar-AE" i="1">
                              <a:latin typeface="Cambria Math" panose="02040503050406030204" pitchFamily="18" charset="0"/>
                            </a:rPr>
                            <m:t>h</m:t>
                          </m:r>
                        </m:sub>
                        <m:sup>
                          <m:r>
                            <a:rPr lang="ar-AE" i="0">
                              <a:latin typeface="Cambria Math" panose="02040503050406030204" pitchFamily="18" charset="0"/>
                            </a:rPr>
                            <m:t>+</m:t>
                          </m:r>
                        </m:sup>
                      </m:sSubSup>
                      <m:r>
                        <a:rPr lang="ar-AE" i="0">
                          <a:latin typeface="Cambria Math" panose="02040503050406030204" pitchFamily="18" charset="0"/>
                        </a:rPr>
                        <m:t>−</m:t>
                      </m:r>
                      <m:sSubSup>
                        <m:sSubSupPr>
                          <m:ctrlPr>
                            <a:rPr lang="ar-AE" i="1">
                              <a:latin typeface="Cambria Math" panose="02040503050406030204" pitchFamily="18" charset="0"/>
                            </a:rPr>
                          </m:ctrlPr>
                        </m:sSubSupPr>
                        <m:e>
                          <m:r>
                            <a:rPr lang="ar-AE" i="1">
                              <a:latin typeface="Cambria Math" panose="02040503050406030204" pitchFamily="18" charset="0"/>
                            </a:rPr>
                            <m:t>𝑑</m:t>
                          </m:r>
                        </m:e>
                        <m:sub>
                          <m:r>
                            <a:rPr lang="ar-AE" i="1">
                              <a:latin typeface="Cambria Math" panose="02040503050406030204" pitchFamily="18" charset="0"/>
                            </a:rPr>
                            <m:t>h</m:t>
                          </m:r>
                        </m:sub>
                        <m:sup>
                          <m:r>
                            <a:rPr lang="ar-AE" i="0">
                              <a:latin typeface="Cambria Math" panose="02040503050406030204" pitchFamily="18" charset="0"/>
                            </a:rPr>
                            <m:t>−</m:t>
                          </m:r>
                        </m:sup>
                      </m:sSubSup>
                      <m:r>
                        <a:rPr lang="ar-AE" i="0">
                          <a:latin typeface="Cambria Math" panose="02040503050406030204" pitchFamily="18" charset="0"/>
                        </a:rPr>
                        <m:t> </m:t>
                      </m:r>
                      <m:r>
                        <a:rPr lang="en-IN" b="0" i="0" smtClean="0">
                          <a:latin typeface="Cambria Math" panose="02040503050406030204" pitchFamily="18" charset="0"/>
                        </a:rPr>
                        <m:t>           </m:t>
                      </m:r>
                      <m:r>
                        <a:rPr lang="ar-AE" i="0">
                          <a:latin typeface="Cambria Math" panose="02040503050406030204" pitchFamily="18" charset="0"/>
                        </a:rPr>
                        <m:t>∀</m:t>
                      </m:r>
                      <m:r>
                        <a:rPr lang="ar-AE" i="1">
                          <a:latin typeface="Cambria Math" panose="02040503050406030204" pitchFamily="18" charset="0"/>
                        </a:rPr>
                        <m:t>h</m:t>
                      </m:r>
                    </m:oMath>
                  </m:oMathPara>
                </a14:m>
                <a:endParaRPr lang="ar-AE" dirty="0"/>
              </a:p>
              <a:p>
                <a:pPr>
                  <a:buNone/>
                </a:pPr>
                <a:endParaRPr lang="en-IN" sz="3600" b="1" dirty="0">
                  <a:latin typeface="Agency FB" panose="020B0503020202020204" pitchFamily="34" charset="0"/>
                </a:endParaRPr>
              </a:p>
            </p:txBody>
          </p:sp>
        </mc:Choice>
        <mc:Fallback xmlns="">
          <p:sp>
            <p:nvSpPr>
              <p:cNvPr id="3" name="TextBox 2">
                <a:extLst>
                  <a:ext uri="{FF2B5EF4-FFF2-40B4-BE49-F238E27FC236}">
                    <a16:creationId xmlns:a16="http://schemas.microsoft.com/office/drawing/2014/main" id="{ACA5259A-1789-7F88-B03E-8843899AFEBB}"/>
                  </a:ext>
                </a:extLst>
              </p:cNvPr>
              <p:cNvSpPr txBox="1">
                <a:spLocks noRot="1" noChangeAspect="1" noMove="1" noResize="1" noEditPoints="1" noAdjustHandles="1" noChangeArrowheads="1" noChangeShapeType="1" noTextEdit="1"/>
              </p:cNvSpPr>
              <p:nvPr/>
            </p:nvSpPr>
            <p:spPr>
              <a:xfrm>
                <a:off x="1600549" y="443295"/>
                <a:ext cx="10110482" cy="6414705"/>
              </a:xfrm>
              <a:prstGeom prst="rect">
                <a:avLst/>
              </a:prstGeom>
              <a:blipFill>
                <a:blip r:embed="rId2"/>
                <a:stretch>
                  <a:fillRect l="-1870" t="-1426"/>
                </a:stretch>
              </a:blipFill>
            </p:spPr>
            <p:txBody>
              <a:bodyPr/>
              <a:lstStyle/>
              <a:p>
                <a:r>
                  <a:rPr lang="en-IN">
                    <a:noFill/>
                  </a:rPr>
                  <a:t> </a:t>
                </a:r>
              </a:p>
            </p:txBody>
          </p:sp>
        </mc:Fallback>
      </mc:AlternateContent>
    </p:spTree>
    <p:extLst>
      <p:ext uri="{BB962C8B-B14F-4D97-AF65-F5344CB8AC3E}">
        <p14:creationId xmlns:p14="http://schemas.microsoft.com/office/powerpoint/2010/main" val="4114350776"/>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12" name="TextBox 11">
                <a:extLst>
                  <a:ext uri="{FF2B5EF4-FFF2-40B4-BE49-F238E27FC236}">
                    <a16:creationId xmlns:a16="http://schemas.microsoft.com/office/drawing/2014/main" id="{5B0FFE68-FD40-F0B5-D622-D1E224BFD4AD}"/>
                  </a:ext>
                </a:extLst>
              </p:cNvPr>
              <p:cNvSpPr txBox="1"/>
              <p:nvPr/>
            </p:nvSpPr>
            <p:spPr>
              <a:xfrm>
                <a:off x="1848375" y="-67112"/>
                <a:ext cx="10343625" cy="6545831"/>
              </a:xfrm>
              <a:prstGeom prst="rect">
                <a:avLst/>
              </a:prstGeom>
              <a:noFill/>
            </p:spPr>
            <p:txBody>
              <a:bodyPr wrap="square">
                <a:spAutoFit/>
              </a:bodyPr>
              <a:lstStyle/>
              <a:p>
                <a:pPr>
                  <a:buNone/>
                </a:pPr>
                <a:r>
                  <a:rPr lang="en-IN" sz="3600" b="1" dirty="0">
                    <a:latin typeface="Agency FB" panose="020B0503020202020204" pitchFamily="34" charset="0"/>
                  </a:rPr>
                  <a:t>Objective </a:t>
                </a:r>
              </a:p>
              <a:p>
                <a:pPr>
                  <a:buNone/>
                </a:pPr>
                <a:r>
                  <a:rPr lang="en-IN" b="1" dirty="0"/>
                  <a:t> </a:t>
                </a:r>
              </a:p>
              <a:p>
                <a:pPr>
                  <a:buNone/>
                </a:pPr>
                <a:r>
                  <a:rPr lang="en-IN" b="1" dirty="0"/>
                  <a:t>                                               </a:t>
                </a:r>
                <a:r>
                  <a:rPr lang="en-IN" b="1" dirty="0">
                    <a:latin typeface="Sitka Subheading Semibold" pitchFamily="2" charset="0"/>
                  </a:rPr>
                  <a:t>min</a:t>
                </a:r>
                <a:r>
                  <a:rPr lang="en-IN" b="1" dirty="0"/>
                  <a:t>  </a:t>
                </a:r>
                <a14:m>
                  <m:oMath xmlns:m="http://schemas.openxmlformats.org/officeDocument/2006/math">
                    <m:nary>
                      <m:naryPr>
                        <m:chr m:val="∑"/>
                        <m:grow m:val="on"/>
                        <m:ctrlPr>
                          <a:rPr lang="ar-AE" i="1">
                            <a:latin typeface="Cambria Math" panose="02040503050406030204" pitchFamily="18" charset="0"/>
                          </a:rPr>
                        </m:ctrlPr>
                      </m:naryPr>
                      <m:sub>
                        <m:r>
                          <m:rPr>
                            <m:aln/>
                          </m:rPr>
                          <a:rPr lang="en-IN" b="0" i="1" smtClean="0">
                            <a:latin typeface="Cambria Math" panose="02040503050406030204" pitchFamily="18" charset="0"/>
                          </a:rPr>
                          <m:t>𝑘</m:t>
                        </m:r>
                        <m:r>
                          <a:rPr lang="ar-AE">
                            <a:latin typeface="Cambria Math" panose="02040503050406030204" pitchFamily="18" charset="0"/>
                          </a:rPr>
                          <m:t>=</m:t>
                        </m:r>
                        <m:r>
                          <a:rPr lang="ar-AE">
                            <a:latin typeface="Cambria Math" panose="02040503050406030204" pitchFamily="18" charset="0"/>
                          </a:rPr>
                          <m:t>1</m:t>
                        </m:r>
                      </m:sub>
                      <m:sup>
                        <m:r>
                          <a:rPr lang="en-IN" b="0" i="1" smtClean="0">
                            <a:latin typeface="Cambria Math" panose="02040503050406030204" pitchFamily="18" charset="0"/>
                          </a:rPr>
                          <m:t>𝐾</m:t>
                        </m:r>
                      </m:sup>
                      <m:e>
                        <m:nary>
                          <m:naryPr>
                            <m:chr m:val="∑"/>
                            <m:grow m:val="on"/>
                            <m:ctrlPr>
                              <a:rPr lang="ar-AE" i="1">
                                <a:latin typeface="Cambria Math" panose="02040503050406030204" pitchFamily="18" charset="0"/>
                              </a:rPr>
                            </m:ctrlPr>
                          </m:naryPr>
                          <m:sub>
                            <m:r>
                              <a:rPr lang="ar-AE" i="1">
                                <a:latin typeface="Cambria Math" panose="02040503050406030204" pitchFamily="18" charset="0"/>
                              </a:rPr>
                              <m:t>h</m:t>
                            </m:r>
                            <m:r>
                              <a:rPr lang="ar-AE">
                                <a:latin typeface="Cambria Math" panose="02040503050406030204" pitchFamily="18" charset="0"/>
                              </a:rPr>
                              <m:t>=</m:t>
                            </m:r>
                            <m:r>
                              <a:rPr lang="ar-AE">
                                <a:latin typeface="Cambria Math" panose="02040503050406030204" pitchFamily="18" charset="0"/>
                              </a:rPr>
                              <m:t>1</m:t>
                            </m:r>
                          </m:sub>
                          <m:sup>
                            <m:r>
                              <a:rPr lang="ar-AE" i="1">
                                <a:latin typeface="Cambria Math" panose="02040503050406030204" pitchFamily="18" charset="0"/>
                              </a:rPr>
                              <m:t>𝐿</m:t>
                            </m:r>
                          </m:sup>
                          <m:e>
                            <m:sSub>
                              <m:sSubPr>
                                <m:ctrlPr>
                                  <a:rPr lang="ar-AE" i="1">
                                    <a:latin typeface="Cambria Math" panose="02040503050406030204" pitchFamily="18" charset="0"/>
                                  </a:rPr>
                                </m:ctrlPr>
                              </m:sSubPr>
                              <m:e>
                                <m:r>
                                  <a:rPr lang="en-IN" i="1">
                                    <a:latin typeface="Cambria Math" panose="02040503050406030204" pitchFamily="18" charset="0"/>
                                  </a:rPr>
                                  <m:t>𝑐</m:t>
                                </m:r>
                              </m:e>
                              <m:sub>
                                <m:r>
                                  <a:rPr lang="ar-AE" i="1">
                                    <a:latin typeface="Cambria Math" panose="02040503050406030204" pitchFamily="18" charset="0"/>
                                  </a:rPr>
                                  <m:t>𝑘</m:t>
                                </m:r>
                                <m:r>
                                  <a:rPr lang="ar-AE" i="1">
                                    <a:latin typeface="Cambria Math" panose="02040503050406030204" pitchFamily="18" charset="0"/>
                                  </a:rPr>
                                  <m:t>h</m:t>
                                </m:r>
                              </m:sub>
                            </m:sSub>
                            <m:sSub>
                              <m:sSubPr>
                                <m:ctrlPr>
                                  <a:rPr lang="ar-AE" i="1">
                                    <a:latin typeface="Cambria Math" panose="02040503050406030204" pitchFamily="18" charset="0"/>
                                  </a:rPr>
                                </m:ctrlPr>
                              </m:sSubPr>
                              <m:e>
                                <m:r>
                                  <a:rPr lang="ar-AE" i="1">
                                    <a:latin typeface="Cambria Math" panose="02040503050406030204" pitchFamily="18" charset="0"/>
                                  </a:rPr>
                                  <m:t>𝑥</m:t>
                                </m:r>
                              </m:e>
                              <m:sub>
                                <m:r>
                                  <a:rPr lang="ar-AE" i="1">
                                    <a:latin typeface="Cambria Math" panose="02040503050406030204" pitchFamily="18" charset="0"/>
                                  </a:rPr>
                                  <m:t>𝑘</m:t>
                                </m:r>
                                <m:r>
                                  <a:rPr lang="ar-AE" i="1">
                                    <a:latin typeface="Cambria Math" panose="02040503050406030204" pitchFamily="18" charset="0"/>
                                  </a:rPr>
                                  <m:t>h</m:t>
                                </m:r>
                              </m:sub>
                            </m:sSub>
                          </m:e>
                        </m:nary>
                      </m:e>
                    </m:nary>
                    <m:r>
                      <a:rPr lang="en-IN" b="0" i="1" smtClean="0">
                        <a:latin typeface="Cambria Math" panose="02040503050406030204" pitchFamily="18" charset="0"/>
                      </a:rPr>
                      <m:t>+</m:t>
                    </m:r>
                    <m:r>
                      <a:rPr lang="en-IN" i="1">
                        <a:latin typeface="Cambria Math" panose="02040503050406030204" pitchFamily="18" charset="0"/>
                      </a:rPr>
                      <m:t>𝜆</m:t>
                    </m:r>
                    <m:nary>
                      <m:naryPr>
                        <m:chr m:val="∑"/>
                        <m:grow m:val="on"/>
                        <m:ctrlPr>
                          <a:rPr lang="ar-AE" i="1">
                            <a:latin typeface="Cambria Math" panose="02040503050406030204" pitchFamily="18" charset="0"/>
                          </a:rPr>
                        </m:ctrlPr>
                      </m:naryPr>
                      <m:sub>
                        <m:r>
                          <a:rPr lang="ar-AE" i="1">
                            <a:latin typeface="Cambria Math" panose="02040503050406030204" pitchFamily="18" charset="0"/>
                          </a:rPr>
                          <m:t>h</m:t>
                        </m:r>
                        <m:r>
                          <a:rPr lang="ar-AE">
                            <a:latin typeface="Cambria Math" panose="02040503050406030204" pitchFamily="18" charset="0"/>
                          </a:rPr>
                          <m:t>=</m:t>
                        </m:r>
                        <m:r>
                          <a:rPr lang="ar-AE">
                            <a:latin typeface="Cambria Math" panose="02040503050406030204" pitchFamily="18" charset="0"/>
                          </a:rPr>
                          <m:t>1</m:t>
                        </m:r>
                      </m:sub>
                      <m:sup>
                        <m:r>
                          <a:rPr lang="ar-AE" i="1">
                            <a:latin typeface="Cambria Math" panose="02040503050406030204" pitchFamily="18" charset="0"/>
                          </a:rPr>
                          <m:t>𝐿</m:t>
                        </m:r>
                      </m:sup>
                      <m:e>
                        <m:sSubSup>
                          <m:sSubSupPr>
                            <m:ctrlPr>
                              <a:rPr lang="ar-AE" i="1">
                                <a:latin typeface="Cambria Math" panose="02040503050406030204" pitchFamily="18" charset="0"/>
                              </a:rPr>
                            </m:ctrlPr>
                          </m:sSubSupPr>
                          <m:e>
                            <m:r>
                              <a:rPr lang="en-IN" i="1">
                                <a:latin typeface="Cambria Math" panose="02040503050406030204" pitchFamily="18" charset="0"/>
                              </a:rPr>
                              <m:t>(</m:t>
                            </m:r>
                            <m:r>
                              <a:rPr lang="ar-AE" i="1">
                                <a:latin typeface="Cambria Math" panose="02040503050406030204" pitchFamily="18" charset="0"/>
                              </a:rPr>
                              <m:t>𝑑</m:t>
                            </m:r>
                          </m:e>
                          <m:sub>
                            <m:r>
                              <a:rPr lang="ar-AE" i="1">
                                <a:latin typeface="Cambria Math" panose="02040503050406030204" pitchFamily="18" charset="0"/>
                              </a:rPr>
                              <m:t>h</m:t>
                            </m:r>
                          </m:sub>
                          <m:sup>
                            <m:r>
                              <a:rPr lang="ar-AE">
                                <a:latin typeface="Cambria Math" panose="02040503050406030204" pitchFamily="18" charset="0"/>
                              </a:rPr>
                              <m:t>+</m:t>
                            </m:r>
                          </m:sup>
                        </m:sSubSup>
                        <m:r>
                          <a:rPr lang="en-IN">
                            <a:latin typeface="Cambria Math" panose="02040503050406030204" pitchFamily="18" charset="0"/>
                          </a:rPr>
                          <m:t>+</m:t>
                        </m:r>
                        <m:sSubSup>
                          <m:sSubSupPr>
                            <m:ctrlPr>
                              <a:rPr lang="ar-AE" i="1">
                                <a:latin typeface="Cambria Math" panose="02040503050406030204" pitchFamily="18" charset="0"/>
                              </a:rPr>
                            </m:ctrlPr>
                          </m:sSubSupPr>
                          <m:e>
                            <m:r>
                              <a:rPr lang="ar-AE" i="1">
                                <a:latin typeface="Cambria Math" panose="02040503050406030204" pitchFamily="18" charset="0"/>
                              </a:rPr>
                              <m:t>𝑑</m:t>
                            </m:r>
                          </m:e>
                          <m:sub>
                            <m:r>
                              <a:rPr lang="ar-AE" i="1">
                                <a:latin typeface="Cambria Math" panose="02040503050406030204" pitchFamily="18" charset="0"/>
                              </a:rPr>
                              <m:t>h</m:t>
                            </m:r>
                          </m:sub>
                          <m:sup>
                            <m:r>
                              <a:rPr lang="ar-AE">
                                <a:latin typeface="Cambria Math" panose="02040503050406030204" pitchFamily="18" charset="0"/>
                              </a:rPr>
                              <m:t>−</m:t>
                            </m:r>
                          </m:sup>
                        </m:sSubSup>
                        <m:r>
                          <a:rPr lang="en-IN" i="1">
                            <a:latin typeface="Cambria Math" panose="02040503050406030204" pitchFamily="18" charset="0"/>
                          </a:rPr>
                          <m:t>)</m:t>
                        </m:r>
                        <m:r>
                          <m:rPr>
                            <m:nor/>
                          </m:rPr>
                          <a:rPr lang="en-IN" b="0" i="0" dirty="0"/>
                          <m:t> </m:t>
                        </m:r>
                      </m:e>
                    </m:nary>
                  </m:oMath>
                </a14:m>
                <a:endParaRPr lang="en-IN" b="1" dirty="0"/>
              </a:p>
              <a:p>
                <a:endParaRPr lang="en-IN" dirty="0">
                  <a:latin typeface="Sitka Subheading Semibold" pitchFamily="2" charset="0"/>
                </a:endParaRPr>
              </a:p>
              <a:p>
                <a:r>
                  <a:rPr lang="en-IN" dirty="0">
                    <a:latin typeface="Sitka Subheading Semibold" pitchFamily="2" charset="0"/>
                  </a:rPr>
                  <a:t>First term: logistics / fieldwork cost.</a:t>
                </a:r>
              </a:p>
              <a:p>
                <a:r>
                  <a:rPr lang="en-IN" dirty="0">
                    <a:latin typeface="Sitka Subheading Semibold" pitchFamily="2" charset="0"/>
                  </a:rPr>
                  <a:t>Second term: penalty for moving away from Neyman-optimal allocation (statistical quality).</a:t>
                </a:r>
              </a:p>
              <a:p>
                <a14:m>
                  <m:oMath xmlns:m="http://schemas.openxmlformats.org/officeDocument/2006/math">
                    <m:r>
                      <a:rPr lang="en-IN" i="1">
                        <a:latin typeface="Cambria Math" panose="02040503050406030204" pitchFamily="18" charset="0"/>
                      </a:rPr>
                      <m:t>𝜆</m:t>
                    </m:r>
                  </m:oMath>
                </a14:m>
                <a:r>
                  <a:rPr lang="en-IN" dirty="0">
                    <a:latin typeface="Sitka Subheading Semibold" pitchFamily="2" charset="0"/>
                  </a:rPr>
                  <a:t> is a tuning parameter converting “extra variance” into cost.</a:t>
                </a:r>
              </a:p>
              <a:p>
                <a:pPr>
                  <a:buNone/>
                </a:pPr>
                <a:r>
                  <a:rPr lang="en-IN" sz="3600" b="1" dirty="0">
                    <a:latin typeface="Agency FB" panose="020B0503020202020204" pitchFamily="34" charset="0"/>
                  </a:rPr>
                  <a:t>Constraints</a:t>
                </a:r>
              </a:p>
              <a:p>
                <a:r>
                  <a:rPr lang="en-IN" b="1" dirty="0">
                    <a:latin typeface="Sitka Subheading Semibold" pitchFamily="2" charset="0"/>
                  </a:rPr>
                  <a:t>Team capacity:</a:t>
                </a:r>
                <a:endParaRPr lang="en-IN" dirty="0">
                  <a:latin typeface="Sitka Subheading Semibold" pitchFamily="2" charset="0"/>
                </a:endParaRPr>
              </a:p>
              <a:p>
                <a:pPr>
                  <a:buNone/>
                </a:pPr>
                <a14:m>
                  <m:oMathPara xmlns:m="http://schemas.openxmlformats.org/officeDocument/2006/math">
                    <m:oMathParaPr>
                      <m:jc m:val="centerGroup"/>
                    </m:oMathParaPr>
                    <m:oMath xmlns:m="http://schemas.openxmlformats.org/officeDocument/2006/math">
                      <m:nary>
                        <m:naryPr>
                          <m:chr m:val="∑"/>
                          <m:grow m:val="on"/>
                          <m:ctrlPr>
                            <a:rPr lang="ar-AE" i="1">
                              <a:latin typeface="Cambria Math" panose="02040503050406030204" pitchFamily="18" charset="0"/>
                            </a:rPr>
                          </m:ctrlPr>
                        </m:naryPr>
                        <m:sub>
                          <m:r>
                            <a:rPr lang="ar-AE" i="1">
                              <a:latin typeface="Cambria Math" panose="02040503050406030204" pitchFamily="18" charset="0"/>
                            </a:rPr>
                            <m:t>h</m:t>
                          </m:r>
                          <m:r>
                            <a:rPr lang="ar-AE" i="0">
                              <a:latin typeface="Cambria Math" panose="02040503050406030204" pitchFamily="18" charset="0"/>
                            </a:rPr>
                            <m:t>=</m:t>
                          </m:r>
                          <m:r>
                            <a:rPr lang="ar-AE" i="0">
                              <a:latin typeface="Cambria Math" panose="02040503050406030204" pitchFamily="18" charset="0"/>
                            </a:rPr>
                            <m:t>1</m:t>
                          </m:r>
                        </m:sub>
                        <m:sup>
                          <m:r>
                            <a:rPr lang="ar-AE" i="1">
                              <a:latin typeface="Cambria Math" panose="02040503050406030204" pitchFamily="18" charset="0"/>
                            </a:rPr>
                            <m:t>𝐿</m:t>
                          </m:r>
                        </m:sup>
                        <m:e>
                          <m:sSub>
                            <m:sSubPr>
                              <m:ctrlPr>
                                <a:rPr lang="ar-AE" i="1">
                                  <a:latin typeface="Cambria Math" panose="02040503050406030204" pitchFamily="18" charset="0"/>
                                </a:rPr>
                              </m:ctrlPr>
                            </m:sSubPr>
                            <m:e>
                              <m:r>
                                <a:rPr lang="ar-AE" i="1">
                                  <a:latin typeface="Cambria Math" panose="02040503050406030204" pitchFamily="18" charset="0"/>
                                </a:rPr>
                                <m:t>𝑥</m:t>
                              </m:r>
                            </m:e>
                            <m:sub>
                              <m:r>
                                <a:rPr lang="ar-AE" i="1">
                                  <a:latin typeface="Cambria Math" panose="02040503050406030204" pitchFamily="18" charset="0"/>
                                </a:rPr>
                                <m:t>𝑘</m:t>
                              </m:r>
                              <m:r>
                                <a:rPr lang="ar-AE" i="1">
                                  <a:latin typeface="Cambria Math" panose="02040503050406030204" pitchFamily="18" charset="0"/>
                                </a:rPr>
                                <m:t>h</m:t>
                              </m:r>
                            </m:sub>
                          </m:sSub>
                        </m:e>
                      </m:nary>
                      <m:r>
                        <a:rPr lang="ar-AE" i="0">
                          <a:latin typeface="Cambria Math" panose="02040503050406030204" pitchFamily="18" charset="0"/>
                        </a:rPr>
                        <m:t>≤</m:t>
                      </m:r>
                      <m:sSub>
                        <m:sSubPr>
                          <m:ctrlPr>
                            <a:rPr lang="ar-AE" i="1">
                              <a:latin typeface="Cambria Math" panose="02040503050406030204" pitchFamily="18" charset="0"/>
                            </a:rPr>
                          </m:ctrlPr>
                        </m:sSubPr>
                        <m:e>
                          <m:r>
                            <a:rPr lang="ar-AE" i="1">
                              <a:latin typeface="Cambria Math" panose="02040503050406030204" pitchFamily="18" charset="0"/>
                            </a:rPr>
                            <m:t>𝐶</m:t>
                          </m:r>
                        </m:e>
                        <m:sub>
                          <m:r>
                            <a:rPr lang="ar-AE" i="1">
                              <a:latin typeface="Cambria Math" panose="02040503050406030204" pitchFamily="18" charset="0"/>
                            </a:rPr>
                            <m:t>𝑘</m:t>
                          </m:r>
                        </m:sub>
                      </m:sSub>
                      <m:r>
                        <a:rPr lang="ar-AE" i="0">
                          <a:latin typeface="Cambria Math" panose="02040503050406030204" pitchFamily="18" charset="0"/>
                        </a:rPr>
                        <m:t> </m:t>
                      </m:r>
                      <m:r>
                        <a:rPr lang="en-IN" b="0" i="0" smtClean="0">
                          <a:latin typeface="Cambria Math" panose="02040503050406030204" pitchFamily="18" charset="0"/>
                        </a:rPr>
                        <m:t>       </m:t>
                      </m:r>
                      <m:r>
                        <a:rPr lang="ar-AE" i="0">
                          <a:latin typeface="Cambria Math" panose="02040503050406030204" pitchFamily="18" charset="0"/>
                        </a:rPr>
                        <m:t>∀</m:t>
                      </m:r>
                      <m:r>
                        <a:rPr lang="ar-AE" i="1">
                          <a:latin typeface="Cambria Math" panose="02040503050406030204" pitchFamily="18" charset="0"/>
                        </a:rPr>
                        <m:t>𝑘</m:t>
                      </m:r>
                    </m:oMath>
                  </m:oMathPara>
                </a14:m>
                <a:endParaRPr lang="ar-AE" dirty="0"/>
              </a:p>
              <a:p>
                <a:r>
                  <a:rPr lang="en-IN" b="1" dirty="0">
                    <a:latin typeface="Sitka Subheading Semibold" pitchFamily="2" charset="0"/>
                  </a:rPr>
                  <a:t>Non-negativity:</a:t>
                </a:r>
                <a:endParaRPr lang="en-IN" dirty="0">
                  <a:latin typeface="Sitka Subheading Semibold" pitchFamily="2" charset="0"/>
                </a:endParaRPr>
              </a:p>
              <a:p>
                <a:pPr>
                  <a:buNone/>
                </a:pPr>
                <a14:m>
                  <m:oMathPara xmlns:m="http://schemas.openxmlformats.org/officeDocument/2006/math">
                    <m:oMathParaPr>
                      <m:jc m:val="centerGroup"/>
                    </m:oMathParaPr>
                    <m:oMath xmlns:m="http://schemas.openxmlformats.org/officeDocument/2006/math">
                      <m:sSub>
                        <m:sSubPr>
                          <m:ctrlPr>
                            <a:rPr lang="ar-AE" i="1">
                              <a:latin typeface="Cambria Math" panose="02040503050406030204" pitchFamily="18" charset="0"/>
                            </a:rPr>
                          </m:ctrlPr>
                        </m:sSubPr>
                        <m:e>
                          <m:r>
                            <a:rPr lang="ar-AE" i="1">
                              <a:latin typeface="Cambria Math" panose="02040503050406030204" pitchFamily="18" charset="0"/>
                            </a:rPr>
                            <m:t>𝑥</m:t>
                          </m:r>
                        </m:e>
                        <m:sub>
                          <m:r>
                            <a:rPr lang="ar-AE" i="1">
                              <a:latin typeface="Cambria Math" panose="02040503050406030204" pitchFamily="18" charset="0"/>
                            </a:rPr>
                            <m:t>𝑘</m:t>
                          </m:r>
                          <m:r>
                            <a:rPr lang="ar-AE" i="1">
                              <a:latin typeface="Cambria Math" panose="02040503050406030204" pitchFamily="18" charset="0"/>
                            </a:rPr>
                            <m:t>h</m:t>
                          </m:r>
                        </m:sub>
                      </m:sSub>
                      <m:r>
                        <a:rPr lang="ar-AE" i="0">
                          <a:latin typeface="Cambria Math" panose="02040503050406030204" pitchFamily="18" charset="0"/>
                        </a:rPr>
                        <m:t>≥</m:t>
                      </m:r>
                      <m:r>
                        <a:rPr lang="ar-AE" i="0">
                          <a:latin typeface="Cambria Math" panose="02040503050406030204" pitchFamily="18" charset="0"/>
                        </a:rPr>
                        <m:t>0</m:t>
                      </m:r>
                      <m:r>
                        <a:rPr lang="ar-AE" i="0">
                          <a:latin typeface="Cambria Math" panose="02040503050406030204" pitchFamily="18" charset="0"/>
                        </a:rPr>
                        <m:t>,</m:t>
                      </m:r>
                      <m:r>
                        <m:rPr>
                          <m:nor/>
                        </m:rPr>
                        <a:rPr lang="ar-AE" b="0" i="0">
                          <a:latin typeface="Cambria Math" panose="02040503050406030204" pitchFamily="18" charset="0"/>
                        </a:rPr>
                        <m:t>  </m:t>
                      </m:r>
                      <m:sSubSup>
                        <m:sSubSupPr>
                          <m:ctrlPr>
                            <a:rPr lang="ar-AE" b="0" i="1">
                              <a:latin typeface="Cambria Math" panose="02040503050406030204" pitchFamily="18" charset="0"/>
                            </a:rPr>
                          </m:ctrlPr>
                        </m:sSubSupPr>
                        <m:e>
                          <m:r>
                            <a:rPr lang="ar-AE" b="0" i="1">
                              <a:latin typeface="Cambria Math" panose="02040503050406030204" pitchFamily="18" charset="0"/>
                            </a:rPr>
                            <m:t>𝑑</m:t>
                          </m:r>
                        </m:e>
                        <m:sub>
                          <m:r>
                            <a:rPr lang="ar-AE" b="0" i="1">
                              <a:latin typeface="Cambria Math" panose="02040503050406030204" pitchFamily="18" charset="0"/>
                            </a:rPr>
                            <m:t>h</m:t>
                          </m:r>
                        </m:sub>
                        <m:sup>
                          <m:r>
                            <a:rPr lang="ar-AE" b="0" i="0">
                              <a:latin typeface="Cambria Math" panose="02040503050406030204" pitchFamily="18" charset="0"/>
                            </a:rPr>
                            <m:t>+</m:t>
                          </m:r>
                        </m:sup>
                      </m:sSubSup>
                      <m:r>
                        <a:rPr lang="ar-AE" b="0" i="0">
                          <a:latin typeface="Cambria Math" panose="02040503050406030204" pitchFamily="18" charset="0"/>
                        </a:rPr>
                        <m:t>,</m:t>
                      </m:r>
                      <m:sSubSup>
                        <m:sSubSupPr>
                          <m:ctrlPr>
                            <a:rPr lang="ar-AE" b="0" i="1">
                              <a:latin typeface="Cambria Math" panose="02040503050406030204" pitchFamily="18" charset="0"/>
                            </a:rPr>
                          </m:ctrlPr>
                        </m:sSubSupPr>
                        <m:e>
                          <m:r>
                            <a:rPr lang="ar-AE" b="0" i="1">
                              <a:latin typeface="Cambria Math" panose="02040503050406030204" pitchFamily="18" charset="0"/>
                            </a:rPr>
                            <m:t>𝑑</m:t>
                          </m:r>
                        </m:e>
                        <m:sub>
                          <m:r>
                            <a:rPr lang="ar-AE" b="0" i="1">
                              <a:latin typeface="Cambria Math" panose="02040503050406030204" pitchFamily="18" charset="0"/>
                            </a:rPr>
                            <m:t>h</m:t>
                          </m:r>
                        </m:sub>
                        <m:sup>
                          <m:r>
                            <a:rPr lang="ar-AE" b="0" i="0">
                              <a:latin typeface="Cambria Math" panose="02040503050406030204" pitchFamily="18" charset="0"/>
                            </a:rPr>
                            <m:t>−</m:t>
                          </m:r>
                        </m:sup>
                      </m:sSubSup>
                      <m:r>
                        <a:rPr lang="ar-AE" b="0" i="0">
                          <a:latin typeface="Cambria Math" panose="02040503050406030204" pitchFamily="18" charset="0"/>
                        </a:rPr>
                        <m:t>≥</m:t>
                      </m:r>
                      <m:r>
                        <a:rPr lang="ar-AE" b="0" i="0">
                          <a:latin typeface="Cambria Math" panose="02040503050406030204" pitchFamily="18" charset="0"/>
                        </a:rPr>
                        <m:t>0</m:t>
                      </m:r>
                    </m:oMath>
                  </m:oMathPara>
                </a14:m>
                <a:endParaRPr lang="ar-AE" b="0" dirty="0"/>
              </a:p>
              <a:p>
                <a:r>
                  <a:rPr lang="en-IN" b="1" dirty="0">
                    <a:latin typeface="Sitka Subheading Semibold" pitchFamily="2" charset="0"/>
                  </a:rPr>
                  <a:t>Bounds on stratum sample sizes:</a:t>
                </a:r>
                <a:endParaRPr lang="en-IN" dirty="0">
                  <a:latin typeface="Sitka Subheading Semibold" pitchFamily="2" charset="0"/>
                </a:endParaRPr>
              </a:p>
              <a:p>
                <a:pPr>
                  <a:buNone/>
                </a:pPr>
                <a14:m>
                  <m:oMathPara xmlns:m="http://schemas.openxmlformats.org/officeDocument/2006/math">
                    <m:oMathParaPr>
                      <m:jc m:val="centerGroup"/>
                    </m:oMathParaPr>
                    <m:oMath xmlns:m="http://schemas.openxmlformats.org/officeDocument/2006/math">
                      <m:sSubSup>
                        <m:sSubSupPr>
                          <m:ctrlPr>
                            <a:rPr lang="ar-AE" i="1">
                              <a:latin typeface="Cambria Math" panose="02040503050406030204" pitchFamily="18" charset="0"/>
                            </a:rPr>
                          </m:ctrlPr>
                        </m:sSubSupPr>
                        <m:e>
                          <m:r>
                            <a:rPr lang="ar-AE" i="1">
                              <a:latin typeface="Cambria Math" panose="02040503050406030204" pitchFamily="18" charset="0"/>
                            </a:rPr>
                            <m:t>𝑛</m:t>
                          </m:r>
                        </m:e>
                        <m:sub>
                          <m:r>
                            <a:rPr lang="ar-AE" i="1">
                              <a:latin typeface="Cambria Math" panose="02040503050406030204" pitchFamily="18" charset="0"/>
                            </a:rPr>
                            <m:t>h</m:t>
                          </m:r>
                        </m:sub>
                        <m:sup>
                          <m:r>
                            <m:rPr>
                              <m:sty m:val="p"/>
                            </m:rPr>
                            <a:rPr lang="en-IN" i="0">
                              <a:latin typeface="Cambria Math" panose="02040503050406030204" pitchFamily="18" charset="0"/>
                            </a:rPr>
                            <m:t>min</m:t>
                          </m:r>
                        </m:sup>
                      </m:sSubSup>
                      <m:r>
                        <a:rPr lang="ar-AE" i="0">
                          <a:latin typeface="Cambria Math" panose="02040503050406030204" pitchFamily="18" charset="0"/>
                        </a:rPr>
                        <m:t>≤</m:t>
                      </m:r>
                      <m:sSubSup>
                        <m:sSubSupPr>
                          <m:ctrlPr>
                            <a:rPr lang="ar-AE" i="1">
                              <a:latin typeface="Cambria Math" panose="02040503050406030204" pitchFamily="18" charset="0"/>
                            </a:rPr>
                          </m:ctrlPr>
                        </m:sSubSupPr>
                        <m:e>
                          <m:r>
                            <a:rPr lang="ar-AE" i="1">
                              <a:latin typeface="Cambria Math" panose="02040503050406030204" pitchFamily="18" charset="0"/>
                            </a:rPr>
                            <m:t>𝑛</m:t>
                          </m:r>
                        </m:e>
                        <m:sub>
                          <m:r>
                            <a:rPr lang="ar-AE" i="1">
                              <a:latin typeface="Cambria Math" panose="02040503050406030204" pitchFamily="18" charset="0"/>
                            </a:rPr>
                            <m:t>h</m:t>
                          </m:r>
                        </m:sub>
                        <m:sup>
                          <m:r>
                            <a:rPr lang="ar-AE" i="0">
                              <a:latin typeface="Cambria Math" panose="02040503050406030204" pitchFamily="18" charset="0"/>
                            </a:rPr>
                            <m:t>⋆</m:t>
                          </m:r>
                        </m:sup>
                      </m:sSubSup>
                      <m:r>
                        <a:rPr lang="ar-AE" i="0">
                          <a:latin typeface="Cambria Math" panose="02040503050406030204" pitchFamily="18" charset="0"/>
                        </a:rPr>
                        <m:t>+</m:t>
                      </m:r>
                      <m:sSubSup>
                        <m:sSubSupPr>
                          <m:ctrlPr>
                            <a:rPr lang="ar-AE" i="1">
                              <a:latin typeface="Cambria Math" panose="02040503050406030204" pitchFamily="18" charset="0"/>
                            </a:rPr>
                          </m:ctrlPr>
                        </m:sSubSupPr>
                        <m:e>
                          <m:r>
                            <a:rPr lang="ar-AE" i="1">
                              <a:latin typeface="Cambria Math" panose="02040503050406030204" pitchFamily="18" charset="0"/>
                            </a:rPr>
                            <m:t>𝑑</m:t>
                          </m:r>
                        </m:e>
                        <m:sub>
                          <m:r>
                            <a:rPr lang="ar-AE" i="1">
                              <a:latin typeface="Cambria Math" panose="02040503050406030204" pitchFamily="18" charset="0"/>
                            </a:rPr>
                            <m:t>h</m:t>
                          </m:r>
                        </m:sub>
                        <m:sup>
                          <m:r>
                            <a:rPr lang="ar-AE" i="0">
                              <a:latin typeface="Cambria Math" panose="02040503050406030204" pitchFamily="18" charset="0"/>
                            </a:rPr>
                            <m:t>+</m:t>
                          </m:r>
                        </m:sup>
                      </m:sSubSup>
                      <m:r>
                        <a:rPr lang="ar-AE" i="0">
                          <a:latin typeface="Cambria Math" panose="02040503050406030204" pitchFamily="18" charset="0"/>
                        </a:rPr>
                        <m:t>−</m:t>
                      </m:r>
                      <m:sSubSup>
                        <m:sSubSupPr>
                          <m:ctrlPr>
                            <a:rPr lang="ar-AE" i="1">
                              <a:latin typeface="Cambria Math" panose="02040503050406030204" pitchFamily="18" charset="0"/>
                            </a:rPr>
                          </m:ctrlPr>
                        </m:sSubSupPr>
                        <m:e>
                          <m:r>
                            <a:rPr lang="ar-AE" i="1">
                              <a:latin typeface="Cambria Math" panose="02040503050406030204" pitchFamily="18" charset="0"/>
                            </a:rPr>
                            <m:t>𝑑</m:t>
                          </m:r>
                        </m:e>
                        <m:sub>
                          <m:r>
                            <a:rPr lang="ar-AE" i="1">
                              <a:latin typeface="Cambria Math" panose="02040503050406030204" pitchFamily="18" charset="0"/>
                            </a:rPr>
                            <m:t>h</m:t>
                          </m:r>
                        </m:sub>
                        <m:sup>
                          <m:r>
                            <a:rPr lang="ar-AE" i="0">
                              <a:latin typeface="Cambria Math" panose="02040503050406030204" pitchFamily="18" charset="0"/>
                            </a:rPr>
                            <m:t>−</m:t>
                          </m:r>
                        </m:sup>
                      </m:sSubSup>
                      <m:r>
                        <a:rPr lang="ar-AE" i="0">
                          <a:latin typeface="Cambria Math" panose="02040503050406030204" pitchFamily="18" charset="0"/>
                        </a:rPr>
                        <m:t>≤</m:t>
                      </m:r>
                      <m:sSubSup>
                        <m:sSubSupPr>
                          <m:ctrlPr>
                            <a:rPr lang="ar-AE" i="1">
                              <a:latin typeface="Cambria Math" panose="02040503050406030204" pitchFamily="18" charset="0"/>
                            </a:rPr>
                          </m:ctrlPr>
                        </m:sSubSupPr>
                        <m:e>
                          <m:r>
                            <a:rPr lang="ar-AE" i="1">
                              <a:latin typeface="Cambria Math" panose="02040503050406030204" pitchFamily="18" charset="0"/>
                            </a:rPr>
                            <m:t>𝑛</m:t>
                          </m:r>
                        </m:e>
                        <m:sub>
                          <m:r>
                            <a:rPr lang="ar-AE" i="1">
                              <a:latin typeface="Cambria Math" panose="02040503050406030204" pitchFamily="18" charset="0"/>
                            </a:rPr>
                            <m:t>h</m:t>
                          </m:r>
                        </m:sub>
                        <m:sup>
                          <m:r>
                            <m:rPr>
                              <m:sty m:val="p"/>
                            </m:rPr>
                            <a:rPr lang="en-IN" i="0">
                              <a:latin typeface="Cambria Math" panose="02040503050406030204" pitchFamily="18" charset="0"/>
                            </a:rPr>
                            <m:t>max</m:t>
                          </m:r>
                        </m:sup>
                      </m:sSubSup>
                    </m:oMath>
                  </m:oMathPara>
                </a14:m>
                <a:endParaRPr lang="ar-AE" dirty="0"/>
              </a:p>
              <a:p>
                <a:pPr>
                  <a:buNone/>
                </a:pPr>
                <a:endParaRPr lang="en-IN" dirty="0"/>
              </a:p>
              <a:p>
                <a:pPr>
                  <a:buNone/>
                </a:pPr>
                <a:r>
                  <a:rPr lang="en-IN" dirty="0">
                    <a:latin typeface="Sitka Subheading Semibold" pitchFamily="2" charset="0"/>
                  </a:rPr>
                  <a:t>This is a </a:t>
                </a:r>
                <a:r>
                  <a:rPr lang="en-IN" b="1" dirty="0">
                    <a:latin typeface="Sitka Subheading Semibold" pitchFamily="2" charset="0"/>
                  </a:rPr>
                  <a:t>linear program</a:t>
                </a:r>
                <a:r>
                  <a:rPr lang="en-IN" dirty="0">
                    <a:latin typeface="Sitka Subheading Semibold" pitchFamily="2" charset="0"/>
                  </a:rPr>
                  <a:t>. It also has a natural </a:t>
                </a:r>
                <a:r>
                  <a:rPr lang="en-IN" b="1" dirty="0">
                    <a:latin typeface="Sitka Subheading Semibold" pitchFamily="2" charset="0"/>
                  </a:rPr>
                  <a:t>network flow interpretation</a:t>
                </a:r>
                <a:r>
                  <a:rPr lang="en-IN" dirty="0">
                    <a:latin typeface="Sitka Subheading Semibold" pitchFamily="2" charset="0"/>
                  </a:rPr>
                  <a:t>:</a:t>
                </a:r>
              </a:p>
              <a:p>
                <a:r>
                  <a:rPr lang="en-IN" dirty="0">
                    <a:latin typeface="Sitka Subheading Semibold" pitchFamily="2" charset="0"/>
                  </a:rPr>
                  <a:t>Source node → team nodes </a:t>
                </a:r>
                <a:r>
                  <a:rPr lang="en-IN" dirty="0"/>
                  <a:t>(</a:t>
                </a:r>
                <a:r>
                  <a:rPr lang="en-IN" dirty="0">
                    <a:latin typeface="Sitka Subheading Semibold" pitchFamily="2" charset="0"/>
                  </a:rPr>
                  <a:t>capacity</a:t>
                </a:r>
                <a:r>
                  <a:rPr lang="en-IN" dirty="0"/>
                  <a:t> </a:t>
                </a:r>
                <a14:m>
                  <m:oMath xmlns:m="http://schemas.openxmlformats.org/officeDocument/2006/math">
                    <m:sSub>
                      <m:sSubPr>
                        <m:ctrlPr>
                          <a:rPr lang="ar-AE" i="1">
                            <a:latin typeface="Cambria Math" panose="02040503050406030204" pitchFamily="18" charset="0"/>
                          </a:rPr>
                        </m:ctrlPr>
                      </m:sSubPr>
                      <m:e>
                        <m:r>
                          <a:rPr lang="ar-AE" i="1">
                            <a:latin typeface="Cambria Math" panose="02040503050406030204" pitchFamily="18" charset="0"/>
                          </a:rPr>
                          <m:t>𝐶</m:t>
                        </m:r>
                      </m:e>
                      <m:sub>
                        <m:r>
                          <a:rPr lang="ar-AE" i="1">
                            <a:latin typeface="Cambria Math" panose="02040503050406030204" pitchFamily="18" charset="0"/>
                          </a:rPr>
                          <m:t>𝑘</m:t>
                        </m:r>
                      </m:sub>
                    </m:sSub>
                  </m:oMath>
                </a14:m>
                <a:r>
                  <a:rPr lang="en-IN" dirty="0"/>
                  <a:t> ).</a:t>
                </a:r>
                <a:endParaRPr lang="ar-AE" dirty="0"/>
              </a:p>
              <a:p>
                <a:r>
                  <a:rPr lang="en-IN" dirty="0">
                    <a:latin typeface="Sitka Subheading Semibold" pitchFamily="2" charset="0"/>
                  </a:rPr>
                  <a:t>Team nodes → stratum nodes </a:t>
                </a:r>
                <a:r>
                  <a:rPr lang="en-IN" dirty="0"/>
                  <a:t>(</a:t>
                </a:r>
                <a:r>
                  <a:rPr lang="en-IN" dirty="0">
                    <a:latin typeface="Sitka Subheading Semibold" pitchFamily="2" charset="0"/>
                  </a:rPr>
                  <a:t>arcs with cost </a:t>
                </a:r>
                <a14:m>
                  <m:oMath xmlns:m="http://schemas.openxmlformats.org/officeDocument/2006/math">
                    <m:sSub>
                      <m:sSubPr>
                        <m:ctrlPr>
                          <a:rPr lang="ar-AE" i="1">
                            <a:latin typeface="Cambria Math" panose="02040503050406030204" pitchFamily="18" charset="0"/>
                          </a:rPr>
                        </m:ctrlPr>
                      </m:sSubPr>
                      <m:e>
                        <m:r>
                          <a:rPr lang="ar-AE" i="1">
                            <a:latin typeface="Cambria Math" panose="02040503050406030204" pitchFamily="18" charset="0"/>
                          </a:rPr>
                          <m:t>𝑐</m:t>
                        </m:r>
                      </m:e>
                      <m:sub>
                        <m:r>
                          <a:rPr lang="ar-AE" i="1">
                            <a:latin typeface="Cambria Math" panose="02040503050406030204" pitchFamily="18" charset="0"/>
                          </a:rPr>
                          <m:t>𝑘</m:t>
                        </m:r>
                        <m:r>
                          <a:rPr lang="ar-AE" i="1">
                            <a:latin typeface="Cambria Math" panose="02040503050406030204" pitchFamily="18" charset="0"/>
                          </a:rPr>
                          <m:t>h</m:t>
                        </m:r>
                      </m:sub>
                    </m:sSub>
                  </m:oMath>
                </a14:m>
                <a:r>
                  <a:rPr lang="en-IN" dirty="0"/>
                  <a:t> ).</a:t>
                </a:r>
                <a:endParaRPr lang="ar-AE" dirty="0"/>
              </a:p>
              <a:p>
                <a:r>
                  <a:rPr lang="en-IN" dirty="0">
                    <a:latin typeface="Sitka Subheading Semibold" pitchFamily="2" charset="0"/>
                  </a:rPr>
                  <a:t>Stratum nodes → sink, with required demand close to </a:t>
                </a:r>
                <a14:m>
                  <m:oMath xmlns:m="http://schemas.openxmlformats.org/officeDocument/2006/math">
                    <m:sSubSup>
                      <m:sSubSupPr>
                        <m:ctrlPr>
                          <a:rPr lang="ar-AE" i="1">
                            <a:latin typeface="Cambria Math" panose="02040503050406030204" pitchFamily="18" charset="0"/>
                          </a:rPr>
                        </m:ctrlPr>
                      </m:sSubSupPr>
                      <m:e>
                        <m:r>
                          <a:rPr lang="ar-AE" i="1">
                            <a:latin typeface="Cambria Math" panose="02040503050406030204" pitchFamily="18" charset="0"/>
                          </a:rPr>
                          <m:t>𝑛</m:t>
                        </m:r>
                      </m:e>
                      <m:sub>
                        <m:r>
                          <a:rPr lang="ar-AE" i="1">
                            <a:latin typeface="Cambria Math" panose="02040503050406030204" pitchFamily="18" charset="0"/>
                          </a:rPr>
                          <m:t>h</m:t>
                        </m:r>
                      </m:sub>
                      <m:sup>
                        <m:r>
                          <a:rPr lang="ar-AE" i="0">
                            <a:latin typeface="Cambria Math" panose="02040503050406030204" pitchFamily="18" charset="0"/>
                          </a:rPr>
                          <m:t>⋆</m:t>
                        </m:r>
                      </m:sup>
                    </m:sSubSup>
                  </m:oMath>
                </a14:m>
                <a:r>
                  <a:rPr lang="ar-AE" dirty="0"/>
                  <a:t>, </a:t>
                </a:r>
                <a:r>
                  <a:rPr lang="en-IN" dirty="0">
                    <a:latin typeface="Sitka Subheading Semibold" pitchFamily="2" charset="0"/>
                  </a:rPr>
                  <a:t>deviations penalized.</a:t>
                </a:r>
              </a:p>
            </p:txBody>
          </p:sp>
        </mc:Choice>
        <mc:Fallback xmlns="">
          <p:sp>
            <p:nvSpPr>
              <p:cNvPr id="12" name="TextBox 11">
                <a:extLst>
                  <a:ext uri="{FF2B5EF4-FFF2-40B4-BE49-F238E27FC236}">
                    <a16:creationId xmlns:a16="http://schemas.microsoft.com/office/drawing/2014/main" id="{5B0FFE68-FD40-F0B5-D622-D1E224BFD4AD}"/>
                  </a:ext>
                </a:extLst>
              </p:cNvPr>
              <p:cNvSpPr txBox="1">
                <a:spLocks noRot="1" noChangeAspect="1" noMove="1" noResize="1" noEditPoints="1" noAdjustHandles="1" noChangeArrowheads="1" noChangeShapeType="1" noTextEdit="1"/>
              </p:cNvSpPr>
              <p:nvPr/>
            </p:nvSpPr>
            <p:spPr>
              <a:xfrm>
                <a:off x="1848375" y="-67112"/>
                <a:ext cx="10343625" cy="6545831"/>
              </a:xfrm>
              <a:prstGeom prst="rect">
                <a:avLst/>
              </a:prstGeom>
              <a:blipFill>
                <a:blip r:embed="rId2"/>
                <a:stretch>
                  <a:fillRect l="-1768" t="-1397" b="-559"/>
                </a:stretch>
              </a:blipFill>
            </p:spPr>
            <p:txBody>
              <a:bodyPr/>
              <a:lstStyle/>
              <a:p>
                <a:r>
                  <a:rPr lang="en-IN">
                    <a:noFill/>
                  </a:rPr>
                  <a:t> </a:t>
                </a:r>
              </a:p>
            </p:txBody>
          </p:sp>
        </mc:Fallback>
      </mc:AlternateContent>
    </p:spTree>
    <p:extLst>
      <p:ext uri="{BB962C8B-B14F-4D97-AF65-F5344CB8AC3E}">
        <p14:creationId xmlns:p14="http://schemas.microsoft.com/office/powerpoint/2010/main" val="500055174"/>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534EB4BB-FF7B-F2A6-92C3-D5D5A703B689}"/>
              </a:ext>
            </a:extLst>
          </p:cNvPr>
          <p:cNvSpPr txBox="1"/>
          <p:nvPr/>
        </p:nvSpPr>
        <p:spPr>
          <a:xfrm>
            <a:off x="1788953" y="377397"/>
            <a:ext cx="6094602" cy="646331"/>
          </a:xfrm>
          <a:prstGeom prst="rect">
            <a:avLst/>
          </a:prstGeom>
          <a:noFill/>
        </p:spPr>
        <p:txBody>
          <a:bodyPr wrap="square">
            <a:spAutoFit/>
          </a:bodyPr>
          <a:lstStyle/>
          <a:p>
            <a:r>
              <a:rPr lang="en-IN" sz="3600" b="1" dirty="0">
                <a:latin typeface="Agency FB" panose="020B0503020202020204" pitchFamily="34" charset="0"/>
              </a:rPr>
              <a:t>Computational Experiment</a:t>
            </a:r>
          </a:p>
        </p:txBody>
      </p:sp>
      <mc:AlternateContent xmlns:mc="http://schemas.openxmlformats.org/markup-compatibility/2006" xmlns:a14="http://schemas.microsoft.com/office/drawing/2010/main">
        <mc:Choice Requires="a14">
          <p:sp>
            <p:nvSpPr>
              <p:cNvPr id="5" name="TextBox 4">
                <a:extLst>
                  <a:ext uri="{FF2B5EF4-FFF2-40B4-BE49-F238E27FC236}">
                    <a16:creationId xmlns:a16="http://schemas.microsoft.com/office/drawing/2014/main" id="{8DB3ABD6-18CB-3E64-2BD0-98E4CCBE40F7}"/>
                  </a:ext>
                </a:extLst>
              </p:cNvPr>
              <p:cNvSpPr txBox="1"/>
              <p:nvPr/>
            </p:nvSpPr>
            <p:spPr>
              <a:xfrm>
                <a:off x="1788953" y="1174026"/>
                <a:ext cx="9989190" cy="923330"/>
              </a:xfrm>
              <a:prstGeom prst="rect">
                <a:avLst/>
              </a:prstGeom>
              <a:noFill/>
            </p:spPr>
            <p:txBody>
              <a:bodyPr wrap="square">
                <a:spAutoFit/>
              </a:bodyPr>
              <a:lstStyle/>
              <a:p>
                <a:r>
                  <a:rPr lang="en-IN" dirty="0">
                    <a:latin typeface="Sitka Subheading Semibold" pitchFamily="2" charset="0"/>
                  </a:rPr>
                  <a:t>To test the model, a synthetic survey dataset of </a:t>
                </a:r>
                <a14:m>
                  <m:oMath xmlns:m="http://schemas.openxmlformats.org/officeDocument/2006/math">
                    <m:r>
                      <a:rPr lang="en-IN" b="1" smtClean="0">
                        <a:latin typeface="Cambria Math" panose="02040503050406030204" pitchFamily="18" charset="0"/>
                      </a:rPr>
                      <m:t>1000</m:t>
                    </m:r>
                  </m:oMath>
                </a14:m>
                <a:r>
                  <a:rPr lang="en-IN" b="1" dirty="0">
                    <a:latin typeface="Sitka Subheading Semibold" pitchFamily="2" charset="0"/>
                  </a:rPr>
                  <a:t> respondents</a:t>
                </a:r>
                <a:r>
                  <a:rPr lang="en-IN" dirty="0">
                    <a:latin typeface="Sitka Subheading Semibold" pitchFamily="2" charset="0"/>
                  </a:rPr>
                  <a:t> was used. The population was divided into three strata: Rural, Semi-Urban, and Urban. Monthly income was used as the study variable, and a total sample size of </a:t>
                </a:r>
                <a14:m>
                  <m:oMath xmlns:m="http://schemas.openxmlformats.org/officeDocument/2006/math">
                    <m:r>
                      <a:rPr lang="en-IN" smtClean="0">
                        <a:latin typeface="Cambria Math" panose="02040503050406030204" pitchFamily="18" charset="0"/>
                      </a:rPr>
                      <m:t>300</m:t>
                    </m:r>
                  </m:oMath>
                </a14:m>
                <a:r>
                  <a:rPr lang="en-IN" dirty="0">
                    <a:latin typeface="Sitka Subheading Semibold" pitchFamily="2" charset="0"/>
                  </a:rPr>
                  <a:t> was considered.</a:t>
                </a:r>
              </a:p>
            </p:txBody>
          </p:sp>
        </mc:Choice>
        <mc:Fallback xmlns="">
          <p:sp>
            <p:nvSpPr>
              <p:cNvPr id="5" name="TextBox 4">
                <a:extLst>
                  <a:ext uri="{FF2B5EF4-FFF2-40B4-BE49-F238E27FC236}">
                    <a16:creationId xmlns:a16="http://schemas.microsoft.com/office/drawing/2014/main" id="{8DB3ABD6-18CB-3E64-2BD0-98E4CCBE40F7}"/>
                  </a:ext>
                </a:extLst>
              </p:cNvPr>
              <p:cNvSpPr txBox="1">
                <a:spLocks noRot="1" noChangeAspect="1" noMove="1" noResize="1" noEditPoints="1" noAdjustHandles="1" noChangeArrowheads="1" noChangeShapeType="1" noTextEdit="1"/>
              </p:cNvSpPr>
              <p:nvPr/>
            </p:nvSpPr>
            <p:spPr>
              <a:xfrm>
                <a:off x="1788953" y="1174026"/>
                <a:ext cx="9989190" cy="923330"/>
              </a:xfrm>
              <a:prstGeom prst="rect">
                <a:avLst/>
              </a:prstGeom>
              <a:blipFill>
                <a:blip r:embed="rId2"/>
                <a:stretch>
                  <a:fillRect l="-488" t="-4636" r="-732" b="-9934"/>
                </a:stretch>
              </a:blipFill>
            </p:spPr>
            <p:txBody>
              <a:bodyPr/>
              <a:lstStyle/>
              <a:p>
                <a:r>
                  <a:rPr lang="en-IN">
                    <a:noFill/>
                  </a:rPr>
                  <a:t> </a:t>
                </a:r>
              </a:p>
            </p:txBody>
          </p:sp>
        </mc:Fallback>
      </mc:AlternateContent>
      <p:sp>
        <p:nvSpPr>
          <p:cNvPr id="7" name="TextBox 6">
            <a:extLst>
              <a:ext uri="{FF2B5EF4-FFF2-40B4-BE49-F238E27FC236}">
                <a16:creationId xmlns:a16="http://schemas.microsoft.com/office/drawing/2014/main" id="{A832B6E8-986F-5691-84D4-B582A2113D5C}"/>
              </a:ext>
            </a:extLst>
          </p:cNvPr>
          <p:cNvSpPr txBox="1"/>
          <p:nvPr/>
        </p:nvSpPr>
        <p:spPr>
          <a:xfrm>
            <a:off x="1788953" y="2382365"/>
            <a:ext cx="6094602" cy="369332"/>
          </a:xfrm>
          <a:prstGeom prst="rect">
            <a:avLst/>
          </a:prstGeom>
          <a:noFill/>
        </p:spPr>
        <p:txBody>
          <a:bodyPr wrap="square">
            <a:spAutoFit/>
          </a:bodyPr>
          <a:lstStyle/>
          <a:p>
            <a:r>
              <a:rPr lang="en-IN" dirty="0">
                <a:latin typeface="Sitka Subheading Semibold" pitchFamily="2" charset="0"/>
              </a:rPr>
              <a:t>Using Neyman allocation, the required samples were:</a:t>
            </a:r>
          </a:p>
        </p:txBody>
      </p:sp>
      <mc:AlternateContent xmlns:mc="http://schemas.openxmlformats.org/markup-compatibility/2006" xmlns:a14="http://schemas.microsoft.com/office/drawing/2010/main">
        <mc:Choice Requires="a14">
          <p:graphicFrame>
            <p:nvGraphicFramePr>
              <p:cNvPr id="10" name="Table 9">
                <a:extLst>
                  <a:ext uri="{FF2B5EF4-FFF2-40B4-BE49-F238E27FC236}">
                    <a16:creationId xmlns:a16="http://schemas.microsoft.com/office/drawing/2014/main" id="{C4637203-574D-B6A9-32A2-CE91982C2670}"/>
                  </a:ext>
                </a:extLst>
              </p:cNvPr>
              <p:cNvGraphicFramePr>
                <a:graphicFrameLocks noGrp="1"/>
              </p:cNvGraphicFramePr>
              <p:nvPr>
                <p:extLst>
                  <p:ext uri="{D42A27DB-BD31-4B8C-83A1-F6EECF244321}">
                    <p14:modId xmlns:p14="http://schemas.microsoft.com/office/powerpoint/2010/main" val="2477553952"/>
                  </p:ext>
                </p:extLst>
              </p:nvPr>
            </p:nvGraphicFramePr>
            <p:xfrm>
              <a:off x="1788953" y="3051074"/>
              <a:ext cx="5484302" cy="2029356"/>
            </p:xfrm>
            <a:graphic>
              <a:graphicData uri="http://schemas.openxmlformats.org/drawingml/2006/table">
                <a:tbl>
                  <a:tblPr firstRow="1" bandRow="1">
                    <a:tableStyleId>{5C22544A-7EE6-4342-B048-85BDC9FD1C3A}</a:tableStyleId>
                  </a:tblPr>
                  <a:tblGrid>
                    <a:gridCol w="2742151">
                      <a:extLst>
                        <a:ext uri="{9D8B030D-6E8A-4147-A177-3AD203B41FA5}">
                          <a16:colId xmlns:a16="http://schemas.microsoft.com/office/drawing/2014/main" val="3697620428"/>
                        </a:ext>
                      </a:extLst>
                    </a:gridCol>
                    <a:gridCol w="2742151">
                      <a:extLst>
                        <a:ext uri="{9D8B030D-6E8A-4147-A177-3AD203B41FA5}">
                          <a16:colId xmlns:a16="http://schemas.microsoft.com/office/drawing/2014/main" val="3357290912"/>
                        </a:ext>
                      </a:extLst>
                    </a:gridCol>
                  </a:tblGrid>
                  <a:tr h="415899">
                    <a:tc>
                      <a:txBody>
                        <a:bodyPr/>
                        <a:lstStyle/>
                        <a:p>
                          <a:pPr>
                            <a:buNone/>
                          </a:pPr>
                          <a:r>
                            <a:rPr lang="en-IN" dirty="0">
                              <a:latin typeface="Sitka Subheading Semibold" pitchFamily="2" charset="0"/>
                            </a:rPr>
                            <a:t>Stratum</a:t>
                          </a:r>
                        </a:p>
                      </a:txBody>
                      <a:tcPr anchor="ctr"/>
                    </a:tc>
                    <a:tc>
                      <a:txBody>
                        <a:bodyPr/>
                        <a:lstStyle/>
                        <a:p>
                          <a:pPr algn="r">
                            <a:buNone/>
                          </a:pPr>
                          <a:r>
                            <a:rPr lang="en-IN" dirty="0">
                              <a:latin typeface="Sitka Subheading Semibold" pitchFamily="2" charset="0"/>
                            </a:rPr>
                            <a:t>Required Sample</a:t>
                          </a:r>
                        </a:p>
                      </a:txBody>
                      <a:tcPr anchor="ctr"/>
                    </a:tc>
                    <a:extLst>
                      <a:ext uri="{0D108BD9-81ED-4DB2-BD59-A6C34878D82A}">
                        <a16:rowId xmlns:a16="http://schemas.microsoft.com/office/drawing/2014/main" val="379326923"/>
                      </a:ext>
                    </a:extLst>
                  </a:tr>
                  <a:tr h="415899">
                    <a:tc>
                      <a:txBody>
                        <a:bodyPr/>
                        <a:lstStyle/>
                        <a:p>
                          <a:pPr>
                            <a:buNone/>
                          </a:pPr>
                          <a:r>
                            <a:rPr lang="en-IN" dirty="0">
                              <a:latin typeface="Sitka Subheading Semibold" pitchFamily="2" charset="0"/>
                            </a:rPr>
                            <a:t>Rural</a:t>
                          </a:r>
                        </a:p>
                      </a:txBody>
                      <a:tcPr anchor="ctr"/>
                    </a:tc>
                    <a:tc>
                      <a:txBody>
                        <a:bodyPr/>
                        <a:lstStyle/>
                        <a:p>
                          <a:pPr algn="r">
                            <a:buNone/>
                          </a:pPr>
                          <a:r>
                            <a:rPr lang="en-IN" dirty="0"/>
                            <a:t> </a:t>
                          </a:r>
                          <a14:m>
                            <m:oMath xmlns:m="http://schemas.openxmlformats.org/officeDocument/2006/math">
                              <m:r>
                                <a:rPr lang="en-IN" smtClean="0">
                                  <a:latin typeface="Cambria Math" panose="02040503050406030204" pitchFamily="18" charset="0"/>
                                </a:rPr>
                                <m:t>59</m:t>
                              </m:r>
                            </m:oMath>
                          </a14:m>
                          <a:endParaRPr lang="en-IN" dirty="0"/>
                        </a:p>
                      </a:txBody>
                      <a:tcPr anchor="ctr"/>
                    </a:tc>
                    <a:extLst>
                      <a:ext uri="{0D108BD9-81ED-4DB2-BD59-A6C34878D82A}">
                        <a16:rowId xmlns:a16="http://schemas.microsoft.com/office/drawing/2014/main" val="1964745186"/>
                      </a:ext>
                    </a:extLst>
                  </a:tr>
                  <a:tr h="415899">
                    <a:tc>
                      <a:txBody>
                        <a:bodyPr/>
                        <a:lstStyle/>
                        <a:p>
                          <a:pPr>
                            <a:buNone/>
                          </a:pPr>
                          <a:r>
                            <a:rPr lang="en-IN" dirty="0">
                              <a:latin typeface="Sitka Subheading Semibold" pitchFamily="2" charset="0"/>
                            </a:rPr>
                            <a:t>Semi-Urban</a:t>
                          </a:r>
                        </a:p>
                      </a:txBody>
                      <a:tcPr anchor="ctr"/>
                    </a:tc>
                    <a:tc>
                      <a:txBody>
                        <a:bodyPr/>
                        <a:lstStyle/>
                        <a:p>
                          <a:pPr algn="r">
                            <a:buNone/>
                          </a:pPr>
                          <a:r>
                            <a:rPr lang="en-IN" dirty="0"/>
                            <a:t> </a:t>
                          </a:r>
                          <a14:m>
                            <m:oMath xmlns:m="http://schemas.openxmlformats.org/officeDocument/2006/math">
                              <m:r>
                                <a:rPr lang="en-IN" smtClean="0">
                                  <a:latin typeface="Cambria Math" panose="02040503050406030204" pitchFamily="18" charset="0"/>
                                </a:rPr>
                                <m:t>56</m:t>
                              </m:r>
                            </m:oMath>
                          </a14:m>
                          <a:endParaRPr lang="en-IN" dirty="0"/>
                        </a:p>
                      </a:txBody>
                      <a:tcPr anchor="ctr"/>
                    </a:tc>
                    <a:extLst>
                      <a:ext uri="{0D108BD9-81ED-4DB2-BD59-A6C34878D82A}">
                        <a16:rowId xmlns:a16="http://schemas.microsoft.com/office/drawing/2014/main" val="4102377506"/>
                      </a:ext>
                    </a:extLst>
                  </a:tr>
                  <a:tr h="415899">
                    <a:tc>
                      <a:txBody>
                        <a:bodyPr/>
                        <a:lstStyle/>
                        <a:p>
                          <a:pPr>
                            <a:buNone/>
                          </a:pPr>
                          <a:r>
                            <a:rPr lang="en-IN" dirty="0">
                              <a:latin typeface="Sitka Subheading Semibold" pitchFamily="2" charset="0"/>
                            </a:rPr>
                            <a:t>Urban</a:t>
                          </a:r>
                        </a:p>
                      </a:txBody>
                      <a:tcPr anchor="ctr"/>
                    </a:tc>
                    <a:tc>
                      <a:txBody>
                        <a:bodyPr/>
                        <a:lstStyle/>
                        <a:p>
                          <a:pPr algn="r">
                            <a:buNone/>
                          </a:pPr>
                          <a14:m>
                            <m:oMathPara xmlns:m="http://schemas.openxmlformats.org/officeDocument/2006/math">
                              <m:oMathParaPr>
                                <m:jc m:val="centerGroup"/>
                              </m:oMathParaPr>
                              <m:oMath xmlns:m="http://schemas.openxmlformats.org/officeDocument/2006/math">
                                <m:r>
                                  <a:rPr lang="en-IN" b="0" i="0" smtClean="0">
                                    <a:latin typeface="Cambria Math" panose="02040503050406030204" pitchFamily="18" charset="0"/>
                                  </a:rPr>
                                  <m:t>                                            </m:t>
                                </m:r>
                                <m:r>
                                  <a:rPr lang="en-IN" smtClean="0">
                                    <a:latin typeface="Cambria Math" panose="02040503050406030204" pitchFamily="18" charset="0"/>
                                  </a:rPr>
                                  <m:t>185</m:t>
                                </m:r>
                              </m:oMath>
                            </m:oMathPara>
                          </a14:m>
                          <a:endParaRPr lang="en-IN" dirty="0"/>
                        </a:p>
                      </a:txBody>
                      <a:tcPr anchor="ctr"/>
                    </a:tc>
                    <a:extLst>
                      <a:ext uri="{0D108BD9-81ED-4DB2-BD59-A6C34878D82A}">
                        <a16:rowId xmlns:a16="http://schemas.microsoft.com/office/drawing/2014/main" val="1752873285"/>
                      </a:ext>
                    </a:extLst>
                  </a:tr>
                  <a:tr h="268390">
                    <a:tc>
                      <a:txBody>
                        <a:bodyPr/>
                        <a:lstStyle/>
                        <a:p>
                          <a:pPr>
                            <a:buNone/>
                          </a:pPr>
                          <a:r>
                            <a:rPr lang="en-IN" b="1" dirty="0">
                              <a:latin typeface="Sitka Subheading Semibold" pitchFamily="2" charset="0"/>
                            </a:rPr>
                            <a:t>Total</a:t>
                          </a:r>
                          <a:endParaRPr lang="en-IN" dirty="0">
                            <a:latin typeface="Sitka Subheading Semibold" pitchFamily="2" charset="0"/>
                          </a:endParaRPr>
                        </a:p>
                      </a:txBody>
                      <a:tcPr anchor="ctr"/>
                    </a:tc>
                    <a:tc>
                      <a:txBody>
                        <a:bodyPr/>
                        <a:lstStyle/>
                        <a:p>
                          <a:pPr algn="r">
                            <a:buNone/>
                          </a:pPr>
                          <a:r>
                            <a:rPr lang="en-IN" dirty="0"/>
                            <a:t>   </a:t>
                          </a:r>
                          <a14:m>
                            <m:oMath xmlns:m="http://schemas.openxmlformats.org/officeDocument/2006/math">
                              <m:r>
                                <a:rPr lang="en-IN" dirty="0" smtClean="0">
                                  <a:latin typeface="Cambria Math" panose="02040503050406030204" pitchFamily="18" charset="0"/>
                                </a:rPr>
                                <m:t>300</m:t>
                              </m:r>
                            </m:oMath>
                          </a14:m>
                          <a:endParaRPr lang="en-IN" dirty="0"/>
                        </a:p>
                      </a:txBody>
                      <a:tcPr anchor="ctr"/>
                    </a:tc>
                    <a:extLst>
                      <a:ext uri="{0D108BD9-81ED-4DB2-BD59-A6C34878D82A}">
                        <a16:rowId xmlns:a16="http://schemas.microsoft.com/office/drawing/2014/main" val="493739651"/>
                      </a:ext>
                    </a:extLst>
                  </a:tr>
                </a:tbl>
              </a:graphicData>
            </a:graphic>
          </p:graphicFrame>
        </mc:Choice>
        <mc:Fallback xmlns="">
          <p:graphicFrame>
            <p:nvGraphicFramePr>
              <p:cNvPr id="10" name="Table 9">
                <a:extLst>
                  <a:ext uri="{FF2B5EF4-FFF2-40B4-BE49-F238E27FC236}">
                    <a16:creationId xmlns:a16="http://schemas.microsoft.com/office/drawing/2014/main" id="{C4637203-574D-B6A9-32A2-CE91982C2670}"/>
                  </a:ext>
                </a:extLst>
              </p:cNvPr>
              <p:cNvGraphicFramePr>
                <a:graphicFrameLocks noGrp="1"/>
              </p:cNvGraphicFramePr>
              <p:nvPr>
                <p:extLst>
                  <p:ext uri="{D42A27DB-BD31-4B8C-83A1-F6EECF244321}">
                    <p14:modId xmlns:p14="http://schemas.microsoft.com/office/powerpoint/2010/main" val="2477553952"/>
                  </p:ext>
                </p:extLst>
              </p:nvPr>
            </p:nvGraphicFramePr>
            <p:xfrm>
              <a:off x="1788953" y="3051074"/>
              <a:ext cx="5484302" cy="2029356"/>
            </p:xfrm>
            <a:graphic>
              <a:graphicData uri="http://schemas.openxmlformats.org/drawingml/2006/table">
                <a:tbl>
                  <a:tblPr firstRow="1" bandRow="1">
                    <a:tableStyleId>{5C22544A-7EE6-4342-B048-85BDC9FD1C3A}</a:tableStyleId>
                  </a:tblPr>
                  <a:tblGrid>
                    <a:gridCol w="2742151">
                      <a:extLst>
                        <a:ext uri="{9D8B030D-6E8A-4147-A177-3AD203B41FA5}">
                          <a16:colId xmlns:a16="http://schemas.microsoft.com/office/drawing/2014/main" val="3697620428"/>
                        </a:ext>
                      </a:extLst>
                    </a:gridCol>
                    <a:gridCol w="2742151">
                      <a:extLst>
                        <a:ext uri="{9D8B030D-6E8A-4147-A177-3AD203B41FA5}">
                          <a16:colId xmlns:a16="http://schemas.microsoft.com/office/drawing/2014/main" val="3357290912"/>
                        </a:ext>
                      </a:extLst>
                    </a:gridCol>
                  </a:tblGrid>
                  <a:tr h="415899">
                    <a:tc>
                      <a:txBody>
                        <a:bodyPr/>
                        <a:lstStyle/>
                        <a:p>
                          <a:pPr>
                            <a:buNone/>
                          </a:pPr>
                          <a:r>
                            <a:rPr lang="en-IN" dirty="0">
                              <a:latin typeface="Sitka Subheading Semibold" pitchFamily="2" charset="0"/>
                            </a:rPr>
                            <a:t>Stratum</a:t>
                          </a:r>
                        </a:p>
                      </a:txBody>
                      <a:tcPr anchor="ctr"/>
                    </a:tc>
                    <a:tc>
                      <a:txBody>
                        <a:bodyPr/>
                        <a:lstStyle/>
                        <a:p>
                          <a:pPr algn="r">
                            <a:buNone/>
                          </a:pPr>
                          <a:r>
                            <a:rPr lang="en-IN" dirty="0">
                              <a:latin typeface="Sitka Subheading Semibold" pitchFamily="2" charset="0"/>
                            </a:rPr>
                            <a:t>Required Sample</a:t>
                          </a:r>
                        </a:p>
                      </a:txBody>
                      <a:tcPr anchor="ctr"/>
                    </a:tc>
                    <a:extLst>
                      <a:ext uri="{0D108BD9-81ED-4DB2-BD59-A6C34878D82A}">
                        <a16:rowId xmlns:a16="http://schemas.microsoft.com/office/drawing/2014/main" val="379326923"/>
                      </a:ext>
                    </a:extLst>
                  </a:tr>
                  <a:tr h="415899">
                    <a:tc>
                      <a:txBody>
                        <a:bodyPr/>
                        <a:lstStyle/>
                        <a:p>
                          <a:pPr>
                            <a:buNone/>
                          </a:pPr>
                          <a:r>
                            <a:rPr lang="en-IN" dirty="0">
                              <a:latin typeface="Sitka Subheading Semibold" pitchFamily="2" charset="0"/>
                            </a:rPr>
                            <a:t>Rural</a:t>
                          </a:r>
                        </a:p>
                      </a:txBody>
                      <a:tcPr anchor="ctr"/>
                    </a:tc>
                    <a:tc>
                      <a:txBody>
                        <a:bodyPr/>
                        <a:lstStyle/>
                        <a:p>
                          <a:endParaRPr lang="en-US"/>
                        </a:p>
                      </a:txBody>
                      <a:tcPr anchor="ctr">
                        <a:blipFill>
                          <a:blip r:embed="rId3"/>
                          <a:stretch>
                            <a:fillRect l="-100444" t="-100000" r="-889" b="-308696"/>
                          </a:stretch>
                        </a:blipFill>
                      </a:tcPr>
                    </a:tc>
                    <a:extLst>
                      <a:ext uri="{0D108BD9-81ED-4DB2-BD59-A6C34878D82A}">
                        <a16:rowId xmlns:a16="http://schemas.microsoft.com/office/drawing/2014/main" val="1964745186"/>
                      </a:ext>
                    </a:extLst>
                  </a:tr>
                  <a:tr h="415899">
                    <a:tc>
                      <a:txBody>
                        <a:bodyPr/>
                        <a:lstStyle/>
                        <a:p>
                          <a:pPr>
                            <a:buNone/>
                          </a:pPr>
                          <a:r>
                            <a:rPr lang="en-IN" dirty="0">
                              <a:latin typeface="Sitka Subheading Semibold" pitchFamily="2" charset="0"/>
                            </a:rPr>
                            <a:t>Semi-Urban</a:t>
                          </a:r>
                        </a:p>
                      </a:txBody>
                      <a:tcPr anchor="ctr"/>
                    </a:tc>
                    <a:tc>
                      <a:txBody>
                        <a:bodyPr/>
                        <a:lstStyle/>
                        <a:p>
                          <a:endParaRPr lang="en-US"/>
                        </a:p>
                      </a:txBody>
                      <a:tcPr anchor="ctr">
                        <a:blipFill>
                          <a:blip r:embed="rId3"/>
                          <a:stretch>
                            <a:fillRect l="-100444" t="-202941" r="-889" b="-213235"/>
                          </a:stretch>
                        </a:blipFill>
                      </a:tcPr>
                    </a:tc>
                    <a:extLst>
                      <a:ext uri="{0D108BD9-81ED-4DB2-BD59-A6C34878D82A}">
                        <a16:rowId xmlns:a16="http://schemas.microsoft.com/office/drawing/2014/main" val="4102377506"/>
                      </a:ext>
                    </a:extLst>
                  </a:tr>
                  <a:tr h="415899">
                    <a:tc>
                      <a:txBody>
                        <a:bodyPr/>
                        <a:lstStyle/>
                        <a:p>
                          <a:pPr>
                            <a:buNone/>
                          </a:pPr>
                          <a:r>
                            <a:rPr lang="en-IN" dirty="0">
                              <a:latin typeface="Sitka Subheading Semibold" pitchFamily="2" charset="0"/>
                            </a:rPr>
                            <a:t>Urban</a:t>
                          </a:r>
                        </a:p>
                      </a:txBody>
                      <a:tcPr anchor="ctr"/>
                    </a:tc>
                    <a:tc>
                      <a:txBody>
                        <a:bodyPr/>
                        <a:lstStyle/>
                        <a:p>
                          <a:endParaRPr lang="en-US"/>
                        </a:p>
                      </a:txBody>
                      <a:tcPr anchor="ctr">
                        <a:blipFill>
                          <a:blip r:embed="rId3"/>
                          <a:stretch>
                            <a:fillRect l="-100444" t="-298551" r="-889" b="-110145"/>
                          </a:stretch>
                        </a:blipFill>
                      </a:tcPr>
                    </a:tc>
                    <a:extLst>
                      <a:ext uri="{0D108BD9-81ED-4DB2-BD59-A6C34878D82A}">
                        <a16:rowId xmlns:a16="http://schemas.microsoft.com/office/drawing/2014/main" val="1752873285"/>
                      </a:ext>
                    </a:extLst>
                  </a:tr>
                  <a:tr h="365760">
                    <a:tc>
                      <a:txBody>
                        <a:bodyPr/>
                        <a:lstStyle/>
                        <a:p>
                          <a:pPr>
                            <a:buNone/>
                          </a:pPr>
                          <a:r>
                            <a:rPr lang="en-IN" b="1" dirty="0">
                              <a:latin typeface="Sitka Subheading Semibold" pitchFamily="2" charset="0"/>
                            </a:rPr>
                            <a:t>Total</a:t>
                          </a:r>
                          <a:endParaRPr lang="en-IN" dirty="0">
                            <a:latin typeface="Sitka Subheading Semibold" pitchFamily="2" charset="0"/>
                          </a:endParaRPr>
                        </a:p>
                      </a:txBody>
                      <a:tcPr anchor="ctr"/>
                    </a:tc>
                    <a:tc>
                      <a:txBody>
                        <a:bodyPr/>
                        <a:lstStyle/>
                        <a:p>
                          <a:endParaRPr lang="en-US"/>
                        </a:p>
                      </a:txBody>
                      <a:tcPr anchor="ctr">
                        <a:blipFill>
                          <a:blip r:embed="rId3"/>
                          <a:stretch>
                            <a:fillRect l="-100444" t="-458333" r="-889" b="-26667"/>
                          </a:stretch>
                        </a:blipFill>
                      </a:tcPr>
                    </a:tc>
                    <a:extLst>
                      <a:ext uri="{0D108BD9-81ED-4DB2-BD59-A6C34878D82A}">
                        <a16:rowId xmlns:a16="http://schemas.microsoft.com/office/drawing/2014/main" val="493739651"/>
                      </a:ext>
                    </a:extLst>
                  </a:tr>
                </a:tbl>
              </a:graphicData>
            </a:graphic>
          </p:graphicFrame>
        </mc:Fallback>
      </mc:AlternateContent>
      <p:sp>
        <p:nvSpPr>
          <p:cNvPr id="12" name="TextBox 11">
            <a:extLst>
              <a:ext uri="{FF2B5EF4-FFF2-40B4-BE49-F238E27FC236}">
                <a16:creationId xmlns:a16="http://schemas.microsoft.com/office/drawing/2014/main" id="{8082401B-CE65-271C-C1FD-B196405F5C60}"/>
              </a:ext>
            </a:extLst>
          </p:cNvPr>
          <p:cNvSpPr txBox="1"/>
          <p:nvPr/>
        </p:nvSpPr>
        <p:spPr>
          <a:xfrm>
            <a:off x="1788953" y="5314642"/>
            <a:ext cx="6094602" cy="369332"/>
          </a:xfrm>
          <a:prstGeom prst="rect">
            <a:avLst/>
          </a:prstGeom>
          <a:noFill/>
        </p:spPr>
        <p:txBody>
          <a:bodyPr wrap="square">
            <a:spAutoFit/>
          </a:bodyPr>
          <a:lstStyle/>
          <a:p>
            <a:r>
              <a:rPr lang="en-IN" dirty="0">
                <a:latin typeface="Sitka Subheading Semibold" pitchFamily="2" charset="0"/>
              </a:rPr>
              <a:t>Thus, the Neyman allocation was</a:t>
            </a:r>
          </a:p>
        </p:txBody>
      </p:sp>
      <mc:AlternateContent xmlns:mc="http://schemas.openxmlformats.org/markup-compatibility/2006" xmlns:a14="http://schemas.microsoft.com/office/drawing/2010/main">
        <mc:Choice Requires="a14">
          <p:sp>
            <p:nvSpPr>
              <p:cNvPr id="13" name="TextBox 12">
                <a:extLst>
                  <a:ext uri="{FF2B5EF4-FFF2-40B4-BE49-F238E27FC236}">
                    <a16:creationId xmlns:a16="http://schemas.microsoft.com/office/drawing/2014/main" id="{99460715-7A1F-DB03-AFCF-4DAA8089E1F6}"/>
                  </a:ext>
                </a:extLst>
              </p:cNvPr>
              <p:cNvSpPr txBox="1"/>
              <p:nvPr/>
            </p:nvSpPr>
            <p:spPr>
              <a:xfrm>
                <a:off x="4836254" y="5779686"/>
                <a:ext cx="1231940" cy="276999"/>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d>
                        <m:dPr>
                          <m:ctrlPr>
                            <a:rPr lang="en-IN" i="1" smtClean="0">
                              <a:latin typeface="Cambria Math" panose="02040503050406030204" pitchFamily="18" charset="0"/>
                            </a:rPr>
                          </m:ctrlPr>
                        </m:dPr>
                        <m:e>
                          <m:r>
                            <a:rPr lang="en-IN">
                              <a:latin typeface="Cambria Math" panose="02040503050406030204" pitchFamily="18" charset="0"/>
                            </a:rPr>
                            <m:t>59</m:t>
                          </m:r>
                          <m:r>
                            <a:rPr lang="en-IN" i="0">
                              <a:latin typeface="Cambria Math" panose="02040503050406030204" pitchFamily="18" charset="0"/>
                            </a:rPr>
                            <m:t>,56,185</m:t>
                          </m:r>
                        </m:e>
                      </m:d>
                    </m:oMath>
                  </m:oMathPara>
                </a14:m>
                <a:endParaRPr lang="en-IN" dirty="0"/>
              </a:p>
            </p:txBody>
          </p:sp>
        </mc:Choice>
        <mc:Fallback xmlns="">
          <p:sp>
            <p:nvSpPr>
              <p:cNvPr id="13" name="TextBox 12">
                <a:extLst>
                  <a:ext uri="{FF2B5EF4-FFF2-40B4-BE49-F238E27FC236}">
                    <a16:creationId xmlns:a16="http://schemas.microsoft.com/office/drawing/2014/main" id="{99460715-7A1F-DB03-AFCF-4DAA8089E1F6}"/>
                  </a:ext>
                </a:extLst>
              </p:cNvPr>
              <p:cNvSpPr txBox="1">
                <a:spLocks noRot="1" noChangeAspect="1" noMove="1" noResize="1" noEditPoints="1" noAdjustHandles="1" noChangeArrowheads="1" noChangeShapeType="1" noTextEdit="1"/>
              </p:cNvSpPr>
              <p:nvPr/>
            </p:nvSpPr>
            <p:spPr>
              <a:xfrm>
                <a:off x="4836254" y="5779686"/>
                <a:ext cx="1231940" cy="276999"/>
              </a:xfrm>
              <a:prstGeom prst="rect">
                <a:avLst/>
              </a:prstGeom>
              <a:blipFill>
                <a:blip r:embed="rId4"/>
                <a:stretch>
                  <a:fillRect b="-6522"/>
                </a:stretch>
              </a:blipFill>
            </p:spPr>
            <p:txBody>
              <a:bodyPr/>
              <a:lstStyle/>
              <a:p>
                <a:r>
                  <a:rPr lang="en-IN">
                    <a:noFill/>
                  </a:rPr>
                  <a:t> </a:t>
                </a:r>
              </a:p>
            </p:txBody>
          </p:sp>
        </mc:Fallback>
      </mc:AlternateContent>
    </p:spTree>
    <p:extLst>
      <p:ext uri="{BB962C8B-B14F-4D97-AF65-F5344CB8AC3E}">
        <p14:creationId xmlns:p14="http://schemas.microsoft.com/office/powerpoint/2010/main" val="1380744234"/>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CEA83C70-4A26-2ED7-D64B-CF8DEB0D4E88}"/>
              </a:ext>
            </a:extLst>
          </p:cNvPr>
          <p:cNvSpPr txBox="1"/>
          <p:nvPr/>
        </p:nvSpPr>
        <p:spPr>
          <a:xfrm>
            <a:off x="1663117" y="503231"/>
            <a:ext cx="6094602" cy="646331"/>
          </a:xfrm>
          <a:prstGeom prst="rect">
            <a:avLst/>
          </a:prstGeom>
          <a:noFill/>
        </p:spPr>
        <p:txBody>
          <a:bodyPr wrap="square">
            <a:spAutoFit/>
          </a:bodyPr>
          <a:lstStyle/>
          <a:p>
            <a:r>
              <a:rPr lang="en-IN" sz="3600" b="1" dirty="0">
                <a:latin typeface="Agency FB" panose="020B0503020202020204" pitchFamily="34" charset="0"/>
              </a:rPr>
              <a:t>Optimal Fieldwork Allocation</a:t>
            </a:r>
          </a:p>
        </p:txBody>
      </p:sp>
      <p:sp>
        <p:nvSpPr>
          <p:cNvPr id="5" name="TextBox 4">
            <a:extLst>
              <a:ext uri="{FF2B5EF4-FFF2-40B4-BE49-F238E27FC236}">
                <a16:creationId xmlns:a16="http://schemas.microsoft.com/office/drawing/2014/main" id="{56717054-C751-E17E-3611-2756C4BE1D57}"/>
              </a:ext>
            </a:extLst>
          </p:cNvPr>
          <p:cNvSpPr txBox="1"/>
          <p:nvPr/>
        </p:nvSpPr>
        <p:spPr>
          <a:xfrm>
            <a:off x="1663117" y="1149562"/>
            <a:ext cx="9762689" cy="646331"/>
          </a:xfrm>
          <a:prstGeom prst="rect">
            <a:avLst/>
          </a:prstGeom>
          <a:noFill/>
        </p:spPr>
        <p:txBody>
          <a:bodyPr wrap="square">
            <a:spAutoFit/>
          </a:bodyPr>
          <a:lstStyle/>
          <a:p>
            <a:r>
              <a:rPr lang="en-IN" dirty="0">
                <a:latin typeface="Sitka Subheading Semibold" pitchFamily="2" charset="0"/>
              </a:rPr>
              <a:t>The minimum-cost flow model was solved using </a:t>
            </a:r>
            <a:r>
              <a:rPr lang="en-IN" b="1" dirty="0" err="1">
                <a:latin typeface="Sitka Subheading Semibold" pitchFamily="2" charset="0"/>
              </a:rPr>
              <a:t>PuLP</a:t>
            </a:r>
            <a:r>
              <a:rPr lang="en-IN" dirty="0">
                <a:latin typeface="Sitka Subheading Semibold" pitchFamily="2" charset="0"/>
              </a:rPr>
              <a:t> and also implemented using </a:t>
            </a:r>
            <a:r>
              <a:rPr lang="en-IN" b="1" dirty="0" err="1">
                <a:latin typeface="Sitka Subheading Semibold" pitchFamily="2" charset="0"/>
              </a:rPr>
              <a:t>Pyomo</a:t>
            </a:r>
            <a:r>
              <a:rPr lang="en-IN" dirty="0">
                <a:latin typeface="Sitka Subheading Semibold" pitchFamily="2" charset="0"/>
              </a:rPr>
              <a:t> for comparison.</a:t>
            </a:r>
          </a:p>
        </p:txBody>
      </p:sp>
      <p:sp>
        <p:nvSpPr>
          <p:cNvPr id="7" name="TextBox 6">
            <a:extLst>
              <a:ext uri="{FF2B5EF4-FFF2-40B4-BE49-F238E27FC236}">
                <a16:creationId xmlns:a16="http://schemas.microsoft.com/office/drawing/2014/main" id="{82C00CB4-7940-2EAF-5AE4-79BFE270880D}"/>
              </a:ext>
            </a:extLst>
          </p:cNvPr>
          <p:cNvSpPr txBox="1"/>
          <p:nvPr/>
        </p:nvSpPr>
        <p:spPr>
          <a:xfrm>
            <a:off x="1663117" y="1887415"/>
            <a:ext cx="6094602" cy="369332"/>
          </a:xfrm>
          <a:prstGeom prst="rect">
            <a:avLst/>
          </a:prstGeom>
          <a:noFill/>
        </p:spPr>
        <p:txBody>
          <a:bodyPr wrap="square">
            <a:spAutoFit/>
          </a:bodyPr>
          <a:lstStyle/>
          <a:p>
            <a:r>
              <a:rPr lang="en-IN" dirty="0">
                <a:latin typeface="Sitka Subheading Semibold" pitchFamily="2" charset="0"/>
              </a:rPr>
              <a:t>The optimal allocation was:</a:t>
            </a:r>
          </a:p>
        </p:txBody>
      </p:sp>
      <mc:AlternateContent xmlns:mc="http://schemas.openxmlformats.org/markup-compatibility/2006" xmlns:a14="http://schemas.microsoft.com/office/drawing/2010/main">
        <mc:Choice Requires="a14">
          <p:graphicFrame>
            <p:nvGraphicFramePr>
              <p:cNvPr id="8" name="Table 7">
                <a:extLst>
                  <a:ext uri="{FF2B5EF4-FFF2-40B4-BE49-F238E27FC236}">
                    <a16:creationId xmlns:a16="http://schemas.microsoft.com/office/drawing/2014/main" id="{79774807-F4BB-88E6-583C-21D84E4FC866}"/>
                  </a:ext>
                </a:extLst>
              </p:cNvPr>
              <p:cNvGraphicFramePr>
                <a:graphicFrameLocks noGrp="1"/>
              </p:cNvGraphicFramePr>
              <p:nvPr>
                <p:extLst>
                  <p:ext uri="{D42A27DB-BD31-4B8C-83A1-F6EECF244321}">
                    <p14:modId xmlns:p14="http://schemas.microsoft.com/office/powerpoint/2010/main" val="628944336"/>
                  </p:ext>
                </p:extLst>
              </p:nvPr>
            </p:nvGraphicFramePr>
            <p:xfrm>
              <a:off x="1663117" y="2348269"/>
              <a:ext cx="8487564" cy="2926080"/>
            </p:xfrm>
            <a:graphic>
              <a:graphicData uri="http://schemas.openxmlformats.org/drawingml/2006/table">
                <a:tbl>
                  <a:tblPr firstRow="1" bandRow="1">
                    <a:tableStyleId>{5C22544A-7EE6-4342-B048-85BDC9FD1C3A}</a:tableStyleId>
                  </a:tblPr>
                  <a:tblGrid>
                    <a:gridCol w="2377423">
                      <a:extLst>
                        <a:ext uri="{9D8B030D-6E8A-4147-A177-3AD203B41FA5}">
                          <a16:colId xmlns:a16="http://schemas.microsoft.com/office/drawing/2014/main" val="868486299"/>
                        </a:ext>
                      </a:extLst>
                    </a:gridCol>
                    <a:gridCol w="2049869">
                      <a:extLst>
                        <a:ext uri="{9D8B030D-6E8A-4147-A177-3AD203B41FA5}">
                          <a16:colId xmlns:a16="http://schemas.microsoft.com/office/drawing/2014/main" val="1178806879"/>
                        </a:ext>
                      </a:extLst>
                    </a:gridCol>
                    <a:gridCol w="2164360">
                      <a:extLst>
                        <a:ext uri="{9D8B030D-6E8A-4147-A177-3AD203B41FA5}">
                          <a16:colId xmlns:a16="http://schemas.microsoft.com/office/drawing/2014/main" val="1643745330"/>
                        </a:ext>
                      </a:extLst>
                    </a:gridCol>
                    <a:gridCol w="1895912">
                      <a:extLst>
                        <a:ext uri="{9D8B030D-6E8A-4147-A177-3AD203B41FA5}">
                          <a16:colId xmlns:a16="http://schemas.microsoft.com/office/drawing/2014/main" val="2560635613"/>
                        </a:ext>
                      </a:extLst>
                    </a:gridCol>
                  </a:tblGrid>
                  <a:tr h="294744">
                    <a:tc>
                      <a:txBody>
                        <a:bodyPr/>
                        <a:lstStyle/>
                        <a:p>
                          <a:pPr>
                            <a:buNone/>
                          </a:pPr>
                          <a:r>
                            <a:rPr lang="en-IN" dirty="0">
                              <a:latin typeface="Sitka Subheading Semibold" pitchFamily="2" charset="0"/>
                            </a:rPr>
                            <a:t>Team</a:t>
                          </a:r>
                        </a:p>
                      </a:txBody>
                      <a:tcPr anchor="ctr"/>
                    </a:tc>
                    <a:tc>
                      <a:txBody>
                        <a:bodyPr/>
                        <a:lstStyle/>
                        <a:p>
                          <a:pPr algn="r">
                            <a:buNone/>
                          </a:pPr>
                          <a:r>
                            <a:rPr lang="en-IN" dirty="0">
                              <a:latin typeface="Sitka Subheading Semibold" pitchFamily="2" charset="0"/>
                            </a:rPr>
                            <a:t>Rural</a:t>
                          </a:r>
                        </a:p>
                      </a:txBody>
                      <a:tcPr anchor="ctr"/>
                    </a:tc>
                    <a:tc>
                      <a:txBody>
                        <a:bodyPr/>
                        <a:lstStyle/>
                        <a:p>
                          <a:pPr algn="r">
                            <a:buNone/>
                          </a:pPr>
                          <a:r>
                            <a:rPr lang="en-IN" dirty="0">
                              <a:latin typeface="Sitka Subheading Semibold" pitchFamily="2" charset="0"/>
                            </a:rPr>
                            <a:t>Semi-Urban</a:t>
                          </a:r>
                        </a:p>
                      </a:txBody>
                      <a:tcPr anchor="ctr"/>
                    </a:tc>
                    <a:tc>
                      <a:txBody>
                        <a:bodyPr/>
                        <a:lstStyle/>
                        <a:p>
                          <a:pPr algn="r">
                            <a:buNone/>
                          </a:pPr>
                          <a:r>
                            <a:rPr lang="en-IN" dirty="0"/>
                            <a:t>U</a:t>
                          </a:r>
                          <a:r>
                            <a:rPr lang="en-IN" dirty="0">
                              <a:latin typeface="Sitka Subheading Semibold" pitchFamily="2" charset="0"/>
                            </a:rPr>
                            <a:t>rban</a:t>
                          </a:r>
                        </a:p>
                      </a:txBody>
                      <a:tcPr anchor="ctr"/>
                    </a:tc>
                    <a:extLst>
                      <a:ext uri="{0D108BD9-81ED-4DB2-BD59-A6C34878D82A}">
                        <a16:rowId xmlns:a16="http://schemas.microsoft.com/office/drawing/2014/main" val="802103205"/>
                      </a:ext>
                    </a:extLst>
                  </a:tr>
                  <a:tr h="515803">
                    <a:tc>
                      <a:txBody>
                        <a:bodyPr/>
                        <a:lstStyle/>
                        <a:p>
                          <a:pPr>
                            <a:buNone/>
                          </a:pPr>
                          <a:r>
                            <a:rPr lang="en-IN" dirty="0">
                              <a:latin typeface="Sitka Subheading Semibold" pitchFamily="2" charset="0"/>
                            </a:rPr>
                            <a:t>Team A</a:t>
                          </a:r>
                        </a:p>
                      </a:txBody>
                      <a:tcPr anchor="ctr"/>
                    </a:tc>
                    <a:tc>
                      <a:txBody>
                        <a:bodyPr/>
                        <a:lstStyle/>
                        <a:p>
                          <a:pPr algn="r">
                            <a:buNone/>
                          </a:pPr>
                          <a:r>
                            <a:rPr lang="en-IN" dirty="0"/>
                            <a:t> </a:t>
                          </a:r>
                          <a14:m>
                            <m:oMath xmlns:m="http://schemas.openxmlformats.org/officeDocument/2006/math">
                              <m:r>
                                <a:rPr lang="en-IN" dirty="0" smtClean="0">
                                  <a:latin typeface="Cambria Math" panose="02040503050406030204" pitchFamily="18" charset="0"/>
                                </a:rPr>
                                <m:t>0</m:t>
                              </m:r>
                            </m:oMath>
                          </a14:m>
                          <a:endParaRPr lang="en-IN" dirty="0"/>
                        </a:p>
                      </a:txBody>
                      <a:tcPr anchor="ctr"/>
                    </a:tc>
                    <a:tc>
                      <a:txBody>
                        <a:bodyPr/>
                        <a:lstStyle/>
                        <a:p>
                          <a:pPr marL="0" marR="0" lvl="0" indent="0" algn="r" defTabSz="457200" rtl="0" eaLnBrk="1" fontAlgn="auto" latinLnBrk="0" hangingPunct="1">
                            <a:lnSpc>
                              <a:spcPct val="100000"/>
                            </a:lnSpc>
                            <a:spcBef>
                              <a:spcPts val="0"/>
                            </a:spcBef>
                            <a:spcAft>
                              <a:spcPts val="0"/>
                            </a:spcAft>
                            <a:buClrTx/>
                            <a:buSzTx/>
                            <a:buFontTx/>
                            <a:buNone/>
                            <a:tabLst/>
                            <a:defRPr/>
                          </a:pPr>
                          <a:r>
                            <a:rPr lang="en-IN" dirty="0"/>
                            <a:t> </a:t>
                          </a:r>
                          <a14:m>
                            <m:oMath xmlns:m="http://schemas.openxmlformats.org/officeDocument/2006/math">
                              <m:r>
                                <a:rPr lang="en-IN" dirty="0" smtClean="0">
                                  <a:latin typeface="Cambria Math" panose="02040503050406030204" pitchFamily="18" charset="0"/>
                                </a:rPr>
                                <m:t>0</m:t>
                              </m:r>
                            </m:oMath>
                          </a14:m>
                          <a:endParaRPr lang="en-IN" dirty="0"/>
                        </a:p>
                        <a:p>
                          <a:pPr algn="r">
                            <a:buNone/>
                          </a:pPr>
                          <a:endParaRPr lang="en-IN" dirty="0"/>
                        </a:p>
                      </a:txBody>
                      <a:tcPr anchor="ctr"/>
                    </a:tc>
                    <a:tc>
                      <a:txBody>
                        <a:bodyPr/>
                        <a:lstStyle/>
                        <a:p>
                          <a:pPr algn="r">
                            <a:buNone/>
                          </a:pPr>
                          <a:r>
                            <a:rPr lang="en-IN" dirty="0"/>
                            <a:t> </a:t>
                          </a:r>
                          <a14:m>
                            <m:oMath xmlns:m="http://schemas.openxmlformats.org/officeDocument/2006/math">
                              <m:r>
                                <a:rPr lang="en-IN" smtClean="0">
                                  <a:latin typeface="Cambria Math" panose="02040503050406030204" pitchFamily="18" charset="0"/>
                                </a:rPr>
                                <m:t>85</m:t>
                              </m:r>
                            </m:oMath>
                          </a14:m>
                          <a:endParaRPr lang="en-IN" dirty="0"/>
                        </a:p>
                      </a:txBody>
                      <a:tcPr anchor="ctr"/>
                    </a:tc>
                    <a:extLst>
                      <a:ext uri="{0D108BD9-81ED-4DB2-BD59-A6C34878D82A}">
                        <a16:rowId xmlns:a16="http://schemas.microsoft.com/office/drawing/2014/main" val="2954681010"/>
                      </a:ext>
                    </a:extLst>
                  </a:tr>
                  <a:tr h="515803">
                    <a:tc>
                      <a:txBody>
                        <a:bodyPr/>
                        <a:lstStyle/>
                        <a:p>
                          <a:pPr>
                            <a:buNone/>
                          </a:pPr>
                          <a:r>
                            <a:rPr lang="en-IN" dirty="0">
                              <a:latin typeface="Sitka Subheading Semibold" pitchFamily="2" charset="0"/>
                            </a:rPr>
                            <a:t>Team B</a:t>
                          </a:r>
                        </a:p>
                      </a:txBody>
                      <a:tcPr anchor="ctr"/>
                    </a:tc>
                    <a:tc>
                      <a:txBody>
                        <a:bodyPr/>
                        <a:lstStyle/>
                        <a:p>
                          <a:pPr marL="0" marR="0" lvl="0" indent="0" algn="r" defTabSz="457200" rtl="0" eaLnBrk="1" fontAlgn="auto" latinLnBrk="0" hangingPunct="1">
                            <a:lnSpc>
                              <a:spcPct val="100000"/>
                            </a:lnSpc>
                            <a:spcBef>
                              <a:spcPts val="0"/>
                            </a:spcBef>
                            <a:spcAft>
                              <a:spcPts val="0"/>
                            </a:spcAft>
                            <a:buClrTx/>
                            <a:buSzTx/>
                            <a:buFontTx/>
                            <a:buNone/>
                            <a:tabLst/>
                            <a:defRPr/>
                          </a:pPr>
                          <a:r>
                            <a:rPr lang="en-IN" dirty="0"/>
                            <a:t> </a:t>
                          </a:r>
                          <a14:m>
                            <m:oMath xmlns:m="http://schemas.openxmlformats.org/officeDocument/2006/math">
                              <m:r>
                                <a:rPr lang="en-IN" dirty="0" smtClean="0">
                                  <a:latin typeface="Cambria Math" panose="02040503050406030204" pitchFamily="18" charset="0"/>
                                </a:rPr>
                                <m:t>0</m:t>
                              </m:r>
                            </m:oMath>
                          </a14:m>
                          <a:endParaRPr lang="en-IN" dirty="0"/>
                        </a:p>
                        <a:p>
                          <a:pPr algn="r">
                            <a:buNone/>
                          </a:pPr>
                          <a:endParaRPr lang="en-IN" dirty="0"/>
                        </a:p>
                      </a:txBody>
                      <a:tcPr anchor="ctr"/>
                    </a:tc>
                    <a:tc>
                      <a:txBody>
                        <a:bodyPr/>
                        <a:lstStyle/>
                        <a:p>
                          <a:pPr marL="0" marR="0" lvl="0" indent="0" algn="r" defTabSz="457200" rtl="0" eaLnBrk="1" fontAlgn="auto" latinLnBrk="0" hangingPunct="1">
                            <a:lnSpc>
                              <a:spcPct val="100000"/>
                            </a:lnSpc>
                            <a:spcBef>
                              <a:spcPts val="0"/>
                            </a:spcBef>
                            <a:spcAft>
                              <a:spcPts val="0"/>
                            </a:spcAft>
                            <a:buClrTx/>
                            <a:buSzTx/>
                            <a:buFontTx/>
                            <a:buNone/>
                            <a:tabLst/>
                            <a:defRPr/>
                          </a:pPr>
                          <a:r>
                            <a:rPr lang="en-IN" dirty="0"/>
                            <a:t> </a:t>
                          </a:r>
                          <a14:m>
                            <m:oMath xmlns:m="http://schemas.openxmlformats.org/officeDocument/2006/math">
                              <m:r>
                                <a:rPr lang="en-IN" dirty="0" smtClean="0">
                                  <a:latin typeface="Cambria Math" panose="02040503050406030204" pitchFamily="18" charset="0"/>
                                </a:rPr>
                                <m:t>0</m:t>
                              </m:r>
                            </m:oMath>
                          </a14:m>
                          <a:endParaRPr lang="en-IN" dirty="0"/>
                        </a:p>
                        <a:p>
                          <a:pPr algn="r">
                            <a:buNone/>
                          </a:pPr>
                          <a:endParaRPr lang="en-IN" dirty="0"/>
                        </a:p>
                      </a:txBody>
                      <a:tcPr anchor="ctr"/>
                    </a:tc>
                    <a:tc>
                      <a:txBody>
                        <a:bodyPr/>
                        <a:lstStyle/>
                        <a:p>
                          <a:pPr algn="r">
                            <a:buNone/>
                          </a:pPr>
                          <a:r>
                            <a:rPr lang="en-IN" dirty="0"/>
                            <a:t> </a:t>
                          </a:r>
                          <a14:m>
                            <m:oMath xmlns:m="http://schemas.openxmlformats.org/officeDocument/2006/math">
                              <m:r>
                                <a:rPr lang="en-IN" smtClean="0">
                                  <a:latin typeface="Cambria Math" panose="02040503050406030204" pitchFamily="18" charset="0"/>
                                </a:rPr>
                                <m:t>80</m:t>
                              </m:r>
                            </m:oMath>
                          </a14:m>
                          <a:endParaRPr lang="en-IN" dirty="0"/>
                        </a:p>
                      </a:txBody>
                      <a:tcPr anchor="ctr"/>
                    </a:tc>
                    <a:extLst>
                      <a:ext uri="{0D108BD9-81ED-4DB2-BD59-A6C34878D82A}">
                        <a16:rowId xmlns:a16="http://schemas.microsoft.com/office/drawing/2014/main" val="2540040455"/>
                      </a:ext>
                    </a:extLst>
                  </a:tr>
                  <a:tr h="515803">
                    <a:tc>
                      <a:txBody>
                        <a:bodyPr/>
                        <a:lstStyle/>
                        <a:p>
                          <a:pPr>
                            <a:buNone/>
                          </a:pPr>
                          <a:r>
                            <a:rPr lang="en-IN" dirty="0">
                              <a:latin typeface="Sitka Subheading Semibold" pitchFamily="2" charset="0"/>
                            </a:rPr>
                            <a:t>Team C</a:t>
                          </a:r>
                        </a:p>
                      </a:txBody>
                      <a:tcPr anchor="ctr"/>
                    </a:tc>
                    <a:tc>
                      <a:txBody>
                        <a:bodyPr/>
                        <a:lstStyle/>
                        <a:p>
                          <a:pPr algn="r">
                            <a:buNone/>
                          </a:pPr>
                          <a:r>
                            <a:rPr lang="en-IN" dirty="0"/>
                            <a:t> </a:t>
                          </a:r>
                          <a14:m>
                            <m:oMath xmlns:m="http://schemas.openxmlformats.org/officeDocument/2006/math">
                              <m:r>
                                <a:rPr lang="en-IN" smtClean="0">
                                  <a:latin typeface="Cambria Math" panose="02040503050406030204" pitchFamily="18" charset="0"/>
                                </a:rPr>
                                <m:t>9</m:t>
                              </m:r>
                            </m:oMath>
                          </a14:m>
                          <a:endParaRPr lang="en-IN" dirty="0"/>
                        </a:p>
                      </a:txBody>
                      <a:tcPr anchor="ctr"/>
                    </a:tc>
                    <a:tc>
                      <a:txBody>
                        <a:bodyPr/>
                        <a:lstStyle/>
                        <a:p>
                          <a:pPr algn="r">
                            <a:buNone/>
                          </a:pPr>
                          <a:r>
                            <a:rPr lang="en-IN" dirty="0"/>
                            <a:t> </a:t>
                          </a:r>
                          <a14:m>
                            <m:oMath xmlns:m="http://schemas.openxmlformats.org/officeDocument/2006/math">
                              <m:r>
                                <a:rPr lang="en-IN" dirty="0" smtClean="0">
                                  <a:latin typeface="Cambria Math" panose="02040503050406030204" pitchFamily="18" charset="0"/>
                                </a:rPr>
                                <m:t>56</m:t>
                              </m:r>
                            </m:oMath>
                          </a14:m>
                          <a:endParaRPr lang="en-IN" dirty="0"/>
                        </a:p>
                      </a:txBody>
                      <a:tcPr anchor="ctr"/>
                    </a:tc>
                    <a:tc>
                      <a:txBody>
                        <a:bodyPr/>
                        <a:lstStyle/>
                        <a:p>
                          <a:pPr marL="0" marR="0" lvl="0" indent="0" algn="r" defTabSz="457200" rtl="0" eaLnBrk="1" fontAlgn="auto" latinLnBrk="0" hangingPunct="1">
                            <a:lnSpc>
                              <a:spcPct val="100000"/>
                            </a:lnSpc>
                            <a:spcBef>
                              <a:spcPts val="0"/>
                            </a:spcBef>
                            <a:spcAft>
                              <a:spcPts val="0"/>
                            </a:spcAft>
                            <a:buClrTx/>
                            <a:buSzTx/>
                            <a:buFontTx/>
                            <a:buNone/>
                            <a:tabLst/>
                            <a:defRPr/>
                          </a:pPr>
                          <a:r>
                            <a:rPr lang="en-IN" dirty="0"/>
                            <a:t> </a:t>
                          </a:r>
                          <a14:m>
                            <m:oMath xmlns:m="http://schemas.openxmlformats.org/officeDocument/2006/math">
                              <m:r>
                                <a:rPr lang="en-IN" dirty="0" smtClean="0">
                                  <a:latin typeface="Cambria Math" panose="02040503050406030204" pitchFamily="18" charset="0"/>
                                </a:rPr>
                                <m:t>0</m:t>
                              </m:r>
                            </m:oMath>
                          </a14:m>
                          <a:endParaRPr lang="en-IN" dirty="0"/>
                        </a:p>
                        <a:p>
                          <a:pPr algn="r">
                            <a:buNone/>
                          </a:pPr>
                          <a:endParaRPr lang="en-IN" dirty="0"/>
                        </a:p>
                      </a:txBody>
                      <a:tcPr anchor="ctr"/>
                    </a:tc>
                    <a:extLst>
                      <a:ext uri="{0D108BD9-81ED-4DB2-BD59-A6C34878D82A}">
                        <a16:rowId xmlns:a16="http://schemas.microsoft.com/office/drawing/2014/main" val="3143764606"/>
                      </a:ext>
                    </a:extLst>
                  </a:tr>
                  <a:tr h="515803">
                    <a:tc>
                      <a:txBody>
                        <a:bodyPr/>
                        <a:lstStyle/>
                        <a:p>
                          <a:pPr>
                            <a:buNone/>
                          </a:pPr>
                          <a:r>
                            <a:rPr lang="en-IN" dirty="0">
                              <a:latin typeface="Sitka Subheading Semibold" pitchFamily="2" charset="0"/>
                            </a:rPr>
                            <a:t>Team D</a:t>
                          </a:r>
                        </a:p>
                      </a:txBody>
                      <a:tcPr anchor="ctr"/>
                    </a:tc>
                    <a:tc>
                      <a:txBody>
                        <a:bodyPr/>
                        <a:lstStyle/>
                        <a:p>
                          <a:pPr algn="r">
                            <a:buNone/>
                          </a:pPr>
                          <a:r>
                            <a:rPr lang="en-IN" dirty="0"/>
                            <a:t> </a:t>
                          </a:r>
                          <a14:m>
                            <m:oMath xmlns:m="http://schemas.openxmlformats.org/officeDocument/2006/math">
                              <m:r>
                                <a:rPr lang="en-IN" smtClean="0">
                                  <a:latin typeface="Cambria Math" panose="02040503050406030204" pitchFamily="18" charset="0"/>
                                </a:rPr>
                                <m:t>50</m:t>
                              </m:r>
                            </m:oMath>
                          </a14:m>
                          <a:endParaRPr lang="en-IN" dirty="0"/>
                        </a:p>
                      </a:txBody>
                      <a:tcPr anchor="ctr"/>
                    </a:tc>
                    <a:tc>
                      <a:txBody>
                        <a:bodyPr/>
                        <a:lstStyle/>
                        <a:p>
                          <a:pPr marL="0" marR="0" lvl="0" indent="0" algn="r" defTabSz="457200" rtl="0" eaLnBrk="1" fontAlgn="auto" latinLnBrk="0" hangingPunct="1">
                            <a:lnSpc>
                              <a:spcPct val="100000"/>
                            </a:lnSpc>
                            <a:spcBef>
                              <a:spcPts val="0"/>
                            </a:spcBef>
                            <a:spcAft>
                              <a:spcPts val="0"/>
                            </a:spcAft>
                            <a:buClrTx/>
                            <a:buSzTx/>
                            <a:buFontTx/>
                            <a:buNone/>
                            <a:tabLst/>
                            <a:defRPr/>
                          </a:pPr>
                          <a:r>
                            <a:rPr lang="en-IN" dirty="0"/>
                            <a:t> </a:t>
                          </a:r>
                          <a14:m>
                            <m:oMath xmlns:m="http://schemas.openxmlformats.org/officeDocument/2006/math">
                              <m:r>
                                <a:rPr lang="en-IN" dirty="0" smtClean="0">
                                  <a:latin typeface="Cambria Math" panose="02040503050406030204" pitchFamily="18" charset="0"/>
                                </a:rPr>
                                <m:t>0</m:t>
                              </m:r>
                            </m:oMath>
                          </a14:m>
                          <a:endParaRPr lang="en-IN" dirty="0"/>
                        </a:p>
                        <a:p>
                          <a:pPr algn="r">
                            <a:buNone/>
                          </a:pPr>
                          <a:endParaRPr lang="en-IN" dirty="0"/>
                        </a:p>
                      </a:txBody>
                      <a:tcPr anchor="ctr"/>
                    </a:tc>
                    <a:tc>
                      <a:txBody>
                        <a:bodyPr/>
                        <a:lstStyle/>
                        <a:p>
                          <a:pPr algn="r">
                            <a:buNone/>
                          </a:pPr>
                          <a:r>
                            <a:rPr lang="en-IN" dirty="0"/>
                            <a:t> </a:t>
                          </a:r>
                          <a14:m>
                            <m:oMath xmlns:m="http://schemas.openxmlformats.org/officeDocument/2006/math">
                              <m:r>
                                <a:rPr lang="en-IN" dirty="0" smtClean="0">
                                  <a:latin typeface="Cambria Math" panose="02040503050406030204" pitchFamily="18" charset="0"/>
                                </a:rPr>
                                <m:t>20</m:t>
                              </m:r>
                            </m:oMath>
                          </a14:m>
                          <a:endParaRPr lang="en-IN" dirty="0"/>
                        </a:p>
                      </a:txBody>
                      <a:tcPr anchor="ctr"/>
                    </a:tc>
                    <a:extLst>
                      <a:ext uri="{0D108BD9-81ED-4DB2-BD59-A6C34878D82A}">
                        <a16:rowId xmlns:a16="http://schemas.microsoft.com/office/drawing/2014/main" val="905282700"/>
                      </a:ext>
                    </a:extLst>
                  </a:tr>
                </a:tbl>
              </a:graphicData>
            </a:graphic>
          </p:graphicFrame>
        </mc:Choice>
        <mc:Fallback xmlns="">
          <p:graphicFrame>
            <p:nvGraphicFramePr>
              <p:cNvPr id="8" name="Table 7">
                <a:extLst>
                  <a:ext uri="{FF2B5EF4-FFF2-40B4-BE49-F238E27FC236}">
                    <a16:creationId xmlns:a16="http://schemas.microsoft.com/office/drawing/2014/main" id="{79774807-F4BB-88E6-583C-21D84E4FC866}"/>
                  </a:ext>
                </a:extLst>
              </p:cNvPr>
              <p:cNvGraphicFramePr>
                <a:graphicFrameLocks noGrp="1"/>
              </p:cNvGraphicFramePr>
              <p:nvPr>
                <p:extLst>
                  <p:ext uri="{D42A27DB-BD31-4B8C-83A1-F6EECF244321}">
                    <p14:modId xmlns:p14="http://schemas.microsoft.com/office/powerpoint/2010/main" val="628944336"/>
                  </p:ext>
                </p:extLst>
              </p:nvPr>
            </p:nvGraphicFramePr>
            <p:xfrm>
              <a:off x="1663117" y="2348269"/>
              <a:ext cx="8487564" cy="2926080"/>
            </p:xfrm>
            <a:graphic>
              <a:graphicData uri="http://schemas.openxmlformats.org/drawingml/2006/table">
                <a:tbl>
                  <a:tblPr firstRow="1" bandRow="1">
                    <a:tableStyleId>{5C22544A-7EE6-4342-B048-85BDC9FD1C3A}</a:tableStyleId>
                  </a:tblPr>
                  <a:tblGrid>
                    <a:gridCol w="2377423">
                      <a:extLst>
                        <a:ext uri="{9D8B030D-6E8A-4147-A177-3AD203B41FA5}">
                          <a16:colId xmlns:a16="http://schemas.microsoft.com/office/drawing/2014/main" val="868486299"/>
                        </a:ext>
                      </a:extLst>
                    </a:gridCol>
                    <a:gridCol w="2049869">
                      <a:extLst>
                        <a:ext uri="{9D8B030D-6E8A-4147-A177-3AD203B41FA5}">
                          <a16:colId xmlns:a16="http://schemas.microsoft.com/office/drawing/2014/main" val="1178806879"/>
                        </a:ext>
                      </a:extLst>
                    </a:gridCol>
                    <a:gridCol w="2164360">
                      <a:extLst>
                        <a:ext uri="{9D8B030D-6E8A-4147-A177-3AD203B41FA5}">
                          <a16:colId xmlns:a16="http://schemas.microsoft.com/office/drawing/2014/main" val="1643745330"/>
                        </a:ext>
                      </a:extLst>
                    </a:gridCol>
                    <a:gridCol w="1895912">
                      <a:extLst>
                        <a:ext uri="{9D8B030D-6E8A-4147-A177-3AD203B41FA5}">
                          <a16:colId xmlns:a16="http://schemas.microsoft.com/office/drawing/2014/main" val="2560635613"/>
                        </a:ext>
                      </a:extLst>
                    </a:gridCol>
                  </a:tblGrid>
                  <a:tr h="365760">
                    <a:tc>
                      <a:txBody>
                        <a:bodyPr/>
                        <a:lstStyle/>
                        <a:p>
                          <a:pPr>
                            <a:buNone/>
                          </a:pPr>
                          <a:r>
                            <a:rPr lang="en-IN" dirty="0">
                              <a:latin typeface="Sitka Subheading Semibold" pitchFamily="2" charset="0"/>
                            </a:rPr>
                            <a:t>Team</a:t>
                          </a:r>
                        </a:p>
                      </a:txBody>
                      <a:tcPr anchor="ctr"/>
                    </a:tc>
                    <a:tc>
                      <a:txBody>
                        <a:bodyPr/>
                        <a:lstStyle/>
                        <a:p>
                          <a:pPr algn="r">
                            <a:buNone/>
                          </a:pPr>
                          <a:r>
                            <a:rPr lang="en-IN" dirty="0">
                              <a:latin typeface="Sitka Subheading Semibold" pitchFamily="2" charset="0"/>
                            </a:rPr>
                            <a:t>Rural</a:t>
                          </a:r>
                        </a:p>
                      </a:txBody>
                      <a:tcPr anchor="ctr"/>
                    </a:tc>
                    <a:tc>
                      <a:txBody>
                        <a:bodyPr/>
                        <a:lstStyle/>
                        <a:p>
                          <a:pPr algn="r">
                            <a:buNone/>
                          </a:pPr>
                          <a:r>
                            <a:rPr lang="en-IN" dirty="0">
                              <a:latin typeface="Sitka Subheading Semibold" pitchFamily="2" charset="0"/>
                            </a:rPr>
                            <a:t>Semi-Urban</a:t>
                          </a:r>
                        </a:p>
                      </a:txBody>
                      <a:tcPr anchor="ctr"/>
                    </a:tc>
                    <a:tc>
                      <a:txBody>
                        <a:bodyPr/>
                        <a:lstStyle/>
                        <a:p>
                          <a:pPr algn="r">
                            <a:buNone/>
                          </a:pPr>
                          <a:r>
                            <a:rPr lang="en-IN" dirty="0"/>
                            <a:t>U</a:t>
                          </a:r>
                          <a:r>
                            <a:rPr lang="en-IN" dirty="0">
                              <a:latin typeface="Sitka Subheading Semibold" pitchFamily="2" charset="0"/>
                            </a:rPr>
                            <a:t>rban</a:t>
                          </a:r>
                        </a:p>
                      </a:txBody>
                      <a:tcPr anchor="ctr"/>
                    </a:tc>
                    <a:extLst>
                      <a:ext uri="{0D108BD9-81ED-4DB2-BD59-A6C34878D82A}">
                        <a16:rowId xmlns:a16="http://schemas.microsoft.com/office/drawing/2014/main" val="802103205"/>
                      </a:ext>
                    </a:extLst>
                  </a:tr>
                  <a:tr h="640080">
                    <a:tc>
                      <a:txBody>
                        <a:bodyPr/>
                        <a:lstStyle/>
                        <a:p>
                          <a:pPr>
                            <a:buNone/>
                          </a:pPr>
                          <a:r>
                            <a:rPr lang="en-IN" dirty="0">
                              <a:latin typeface="Sitka Subheading Semibold" pitchFamily="2" charset="0"/>
                            </a:rPr>
                            <a:t>Team A</a:t>
                          </a:r>
                        </a:p>
                      </a:txBody>
                      <a:tcPr anchor="ctr"/>
                    </a:tc>
                    <a:tc>
                      <a:txBody>
                        <a:bodyPr/>
                        <a:lstStyle/>
                        <a:p>
                          <a:endParaRPr lang="en-US"/>
                        </a:p>
                      </a:txBody>
                      <a:tcPr anchor="ctr">
                        <a:blipFill>
                          <a:blip r:embed="rId2"/>
                          <a:stretch>
                            <a:fillRect l="-116024" t="-62857" r="-199110" b="-302857"/>
                          </a:stretch>
                        </a:blipFill>
                      </a:tcPr>
                    </a:tc>
                    <a:tc>
                      <a:txBody>
                        <a:bodyPr/>
                        <a:lstStyle/>
                        <a:p>
                          <a:endParaRPr lang="en-US"/>
                        </a:p>
                      </a:txBody>
                      <a:tcPr anchor="ctr">
                        <a:blipFill>
                          <a:blip r:embed="rId2"/>
                          <a:stretch>
                            <a:fillRect l="-204494" t="-62857" r="-88483" b="-302857"/>
                          </a:stretch>
                        </a:blipFill>
                      </a:tcPr>
                    </a:tc>
                    <a:tc>
                      <a:txBody>
                        <a:bodyPr/>
                        <a:lstStyle/>
                        <a:p>
                          <a:endParaRPr lang="en-US"/>
                        </a:p>
                      </a:txBody>
                      <a:tcPr anchor="ctr">
                        <a:blipFill>
                          <a:blip r:embed="rId2"/>
                          <a:stretch>
                            <a:fillRect l="-348553" t="-62857" r="-1286" b="-302857"/>
                          </a:stretch>
                        </a:blipFill>
                      </a:tcPr>
                    </a:tc>
                    <a:extLst>
                      <a:ext uri="{0D108BD9-81ED-4DB2-BD59-A6C34878D82A}">
                        <a16:rowId xmlns:a16="http://schemas.microsoft.com/office/drawing/2014/main" val="2954681010"/>
                      </a:ext>
                    </a:extLst>
                  </a:tr>
                  <a:tr h="640080">
                    <a:tc>
                      <a:txBody>
                        <a:bodyPr/>
                        <a:lstStyle/>
                        <a:p>
                          <a:pPr>
                            <a:buNone/>
                          </a:pPr>
                          <a:r>
                            <a:rPr lang="en-IN" dirty="0">
                              <a:latin typeface="Sitka Subheading Semibold" pitchFamily="2" charset="0"/>
                            </a:rPr>
                            <a:t>Team B</a:t>
                          </a:r>
                        </a:p>
                      </a:txBody>
                      <a:tcPr anchor="ctr"/>
                    </a:tc>
                    <a:tc>
                      <a:txBody>
                        <a:bodyPr/>
                        <a:lstStyle/>
                        <a:p>
                          <a:endParaRPr lang="en-US"/>
                        </a:p>
                      </a:txBody>
                      <a:tcPr anchor="ctr">
                        <a:blipFill>
                          <a:blip r:embed="rId2"/>
                          <a:stretch>
                            <a:fillRect l="-116024" t="-161321" r="-199110" b="-200000"/>
                          </a:stretch>
                        </a:blipFill>
                      </a:tcPr>
                    </a:tc>
                    <a:tc>
                      <a:txBody>
                        <a:bodyPr/>
                        <a:lstStyle/>
                        <a:p>
                          <a:endParaRPr lang="en-US"/>
                        </a:p>
                      </a:txBody>
                      <a:tcPr anchor="ctr">
                        <a:blipFill>
                          <a:blip r:embed="rId2"/>
                          <a:stretch>
                            <a:fillRect l="-204494" t="-161321" r="-88483" b="-200000"/>
                          </a:stretch>
                        </a:blipFill>
                      </a:tcPr>
                    </a:tc>
                    <a:tc>
                      <a:txBody>
                        <a:bodyPr/>
                        <a:lstStyle/>
                        <a:p>
                          <a:endParaRPr lang="en-US"/>
                        </a:p>
                      </a:txBody>
                      <a:tcPr anchor="ctr">
                        <a:blipFill>
                          <a:blip r:embed="rId2"/>
                          <a:stretch>
                            <a:fillRect l="-348553" t="-161321" r="-1286" b="-200000"/>
                          </a:stretch>
                        </a:blipFill>
                      </a:tcPr>
                    </a:tc>
                    <a:extLst>
                      <a:ext uri="{0D108BD9-81ED-4DB2-BD59-A6C34878D82A}">
                        <a16:rowId xmlns:a16="http://schemas.microsoft.com/office/drawing/2014/main" val="2540040455"/>
                      </a:ext>
                    </a:extLst>
                  </a:tr>
                  <a:tr h="640080">
                    <a:tc>
                      <a:txBody>
                        <a:bodyPr/>
                        <a:lstStyle/>
                        <a:p>
                          <a:pPr>
                            <a:buNone/>
                          </a:pPr>
                          <a:r>
                            <a:rPr lang="en-IN" dirty="0">
                              <a:latin typeface="Sitka Subheading Semibold" pitchFamily="2" charset="0"/>
                            </a:rPr>
                            <a:t>Team C</a:t>
                          </a:r>
                        </a:p>
                      </a:txBody>
                      <a:tcPr anchor="ctr"/>
                    </a:tc>
                    <a:tc>
                      <a:txBody>
                        <a:bodyPr/>
                        <a:lstStyle/>
                        <a:p>
                          <a:endParaRPr lang="en-US"/>
                        </a:p>
                      </a:txBody>
                      <a:tcPr anchor="ctr">
                        <a:blipFill>
                          <a:blip r:embed="rId2"/>
                          <a:stretch>
                            <a:fillRect l="-116024" t="-263810" r="-199110" b="-101905"/>
                          </a:stretch>
                        </a:blipFill>
                      </a:tcPr>
                    </a:tc>
                    <a:tc>
                      <a:txBody>
                        <a:bodyPr/>
                        <a:lstStyle/>
                        <a:p>
                          <a:endParaRPr lang="en-US"/>
                        </a:p>
                      </a:txBody>
                      <a:tcPr anchor="ctr">
                        <a:blipFill>
                          <a:blip r:embed="rId2"/>
                          <a:stretch>
                            <a:fillRect l="-204494" t="-263810" r="-88483" b="-101905"/>
                          </a:stretch>
                        </a:blipFill>
                      </a:tcPr>
                    </a:tc>
                    <a:tc>
                      <a:txBody>
                        <a:bodyPr/>
                        <a:lstStyle/>
                        <a:p>
                          <a:endParaRPr lang="en-US"/>
                        </a:p>
                      </a:txBody>
                      <a:tcPr anchor="ctr">
                        <a:blipFill>
                          <a:blip r:embed="rId2"/>
                          <a:stretch>
                            <a:fillRect l="-348553" t="-263810" r="-1286" b="-101905"/>
                          </a:stretch>
                        </a:blipFill>
                      </a:tcPr>
                    </a:tc>
                    <a:extLst>
                      <a:ext uri="{0D108BD9-81ED-4DB2-BD59-A6C34878D82A}">
                        <a16:rowId xmlns:a16="http://schemas.microsoft.com/office/drawing/2014/main" val="3143764606"/>
                      </a:ext>
                    </a:extLst>
                  </a:tr>
                  <a:tr h="640080">
                    <a:tc>
                      <a:txBody>
                        <a:bodyPr/>
                        <a:lstStyle/>
                        <a:p>
                          <a:pPr>
                            <a:buNone/>
                          </a:pPr>
                          <a:r>
                            <a:rPr lang="en-IN" dirty="0">
                              <a:latin typeface="Sitka Subheading Semibold" pitchFamily="2" charset="0"/>
                            </a:rPr>
                            <a:t>Team D</a:t>
                          </a:r>
                        </a:p>
                      </a:txBody>
                      <a:tcPr anchor="ctr"/>
                    </a:tc>
                    <a:tc>
                      <a:txBody>
                        <a:bodyPr/>
                        <a:lstStyle/>
                        <a:p>
                          <a:endParaRPr lang="en-US"/>
                        </a:p>
                      </a:txBody>
                      <a:tcPr anchor="ctr">
                        <a:blipFill>
                          <a:blip r:embed="rId2"/>
                          <a:stretch>
                            <a:fillRect l="-116024" t="-363810" r="-199110" b="-1905"/>
                          </a:stretch>
                        </a:blipFill>
                      </a:tcPr>
                    </a:tc>
                    <a:tc>
                      <a:txBody>
                        <a:bodyPr/>
                        <a:lstStyle/>
                        <a:p>
                          <a:endParaRPr lang="en-US"/>
                        </a:p>
                      </a:txBody>
                      <a:tcPr anchor="ctr">
                        <a:blipFill>
                          <a:blip r:embed="rId2"/>
                          <a:stretch>
                            <a:fillRect l="-204494" t="-363810" r="-88483" b="-1905"/>
                          </a:stretch>
                        </a:blipFill>
                      </a:tcPr>
                    </a:tc>
                    <a:tc>
                      <a:txBody>
                        <a:bodyPr/>
                        <a:lstStyle/>
                        <a:p>
                          <a:endParaRPr lang="en-US"/>
                        </a:p>
                      </a:txBody>
                      <a:tcPr anchor="ctr">
                        <a:blipFill>
                          <a:blip r:embed="rId2"/>
                          <a:stretch>
                            <a:fillRect l="-348553" t="-363810" r="-1286" b="-1905"/>
                          </a:stretch>
                        </a:blipFill>
                      </a:tcPr>
                    </a:tc>
                    <a:extLst>
                      <a:ext uri="{0D108BD9-81ED-4DB2-BD59-A6C34878D82A}">
                        <a16:rowId xmlns:a16="http://schemas.microsoft.com/office/drawing/2014/main" val="905282700"/>
                      </a:ext>
                    </a:extLst>
                  </a:tr>
                </a:tbl>
              </a:graphicData>
            </a:graphic>
          </p:graphicFrame>
        </mc:Fallback>
      </mc:AlternateContent>
      <p:sp>
        <p:nvSpPr>
          <p:cNvPr id="10" name="TextBox 9">
            <a:extLst>
              <a:ext uri="{FF2B5EF4-FFF2-40B4-BE49-F238E27FC236}">
                <a16:creationId xmlns:a16="http://schemas.microsoft.com/office/drawing/2014/main" id="{461279DC-C9A1-06BE-6A51-60E56113F013}"/>
              </a:ext>
            </a:extLst>
          </p:cNvPr>
          <p:cNvSpPr txBox="1"/>
          <p:nvPr/>
        </p:nvSpPr>
        <p:spPr>
          <a:xfrm>
            <a:off x="1663117" y="5708438"/>
            <a:ext cx="6094602" cy="369332"/>
          </a:xfrm>
          <a:prstGeom prst="rect">
            <a:avLst/>
          </a:prstGeom>
          <a:noFill/>
        </p:spPr>
        <p:txBody>
          <a:bodyPr wrap="square">
            <a:spAutoFit/>
          </a:bodyPr>
          <a:lstStyle/>
          <a:p>
            <a:r>
              <a:rPr lang="en-IN" dirty="0">
                <a:latin typeface="Sitka Subheading Semibold" pitchFamily="2" charset="0"/>
              </a:rPr>
              <a:t>The total sample requirements are exactly satisfied:</a:t>
            </a:r>
          </a:p>
        </p:txBody>
      </p:sp>
      <mc:AlternateContent xmlns:mc="http://schemas.openxmlformats.org/markup-compatibility/2006" xmlns:a14="http://schemas.microsoft.com/office/drawing/2010/main">
        <mc:Choice Requires="a14">
          <p:sp>
            <p:nvSpPr>
              <p:cNvPr id="12" name="TextBox 11">
                <a:extLst>
                  <a:ext uri="{FF2B5EF4-FFF2-40B4-BE49-F238E27FC236}">
                    <a16:creationId xmlns:a16="http://schemas.microsoft.com/office/drawing/2014/main" id="{10B06C1D-63C1-4687-0771-6DF5F3874E50}"/>
                  </a:ext>
                </a:extLst>
              </p:cNvPr>
              <p:cNvSpPr txBox="1"/>
              <p:nvPr/>
            </p:nvSpPr>
            <p:spPr>
              <a:xfrm>
                <a:off x="7661945" y="5708438"/>
                <a:ext cx="4611848" cy="369332"/>
              </a:xfrm>
              <a:prstGeom prst="rect">
                <a:avLst/>
              </a:prstGeom>
              <a:noFill/>
            </p:spPr>
            <p:txBody>
              <a:bodyPr wrap="square">
                <a:spAutoFit/>
              </a:bodyPr>
              <a:lstStyle/>
              <a:p>
                <a:r>
                  <a:rPr lang="en-IN" dirty="0">
                    <a:latin typeface="Sitka Subheading Semibold" pitchFamily="2" charset="0"/>
                  </a:rPr>
                  <a:t>Rural =</a:t>
                </a:r>
                <a14:m>
                  <m:oMath xmlns:m="http://schemas.openxmlformats.org/officeDocument/2006/math">
                    <m:r>
                      <a:rPr lang="en-IN" i="0" smtClean="0">
                        <a:latin typeface="Cambria Math" panose="02040503050406030204" pitchFamily="18" charset="0"/>
                      </a:rPr>
                      <m:t>59</m:t>
                    </m:r>
                    <m:r>
                      <a:rPr lang="en-IN" b="0" i="0" smtClean="0">
                        <a:latin typeface="Cambria Math" panose="02040503050406030204" pitchFamily="18" charset="0"/>
                      </a:rPr>
                      <m:t>,</m:t>
                    </m:r>
                  </m:oMath>
                </a14:m>
                <a:r>
                  <a:rPr lang="en-IN" dirty="0"/>
                  <a:t> </a:t>
                </a:r>
                <a:r>
                  <a:rPr lang="en-IN" dirty="0">
                    <a:latin typeface="Sitka Subheading Semibold" pitchFamily="2" charset="0"/>
                  </a:rPr>
                  <a:t>Semi-Urban =</a:t>
                </a:r>
                <a14:m>
                  <m:oMath xmlns:m="http://schemas.openxmlformats.org/officeDocument/2006/math">
                    <m:r>
                      <a:rPr lang="en-IN">
                        <a:latin typeface="Cambria Math" panose="02040503050406030204" pitchFamily="18" charset="0"/>
                      </a:rPr>
                      <m:t>5</m:t>
                    </m:r>
                    <m:r>
                      <a:rPr lang="en-IN" b="0" i="0" smtClean="0">
                        <a:latin typeface="Cambria Math" panose="02040503050406030204" pitchFamily="18" charset="0"/>
                      </a:rPr>
                      <m:t>6</m:t>
                    </m:r>
                    <m:r>
                      <a:rPr lang="en-IN">
                        <a:latin typeface="Cambria Math" panose="02040503050406030204" pitchFamily="18" charset="0"/>
                      </a:rPr>
                      <m:t>,</m:t>
                    </m:r>
                  </m:oMath>
                </a14:m>
                <a:r>
                  <a:rPr lang="en-IN" dirty="0"/>
                  <a:t> </a:t>
                </a:r>
                <a:r>
                  <a:rPr lang="en-IN" dirty="0">
                    <a:latin typeface="Sitka Subheading Semibold" pitchFamily="2" charset="0"/>
                  </a:rPr>
                  <a:t>Urban =</a:t>
                </a:r>
                <a14:m>
                  <m:oMath xmlns:m="http://schemas.openxmlformats.org/officeDocument/2006/math">
                    <m:r>
                      <a:rPr lang="en-IN" b="0" i="1" smtClean="0">
                        <a:latin typeface="Cambria Math" panose="02040503050406030204" pitchFamily="18" charset="0"/>
                      </a:rPr>
                      <m:t>185</m:t>
                    </m:r>
                  </m:oMath>
                </a14:m>
                <a:r>
                  <a:rPr lang="en-IN" dirty="0"/>
                  <a:t>.</a:t>
                </a:r>
              </a:p>
            </p:txBody>
          </p:sp>
        </mc:Choice>
        <mc:Fallback xmlns="">
          <p:sp>
            <p:nvSpPr>
              <p:cNvPr id="12" name="TextBox 11">
                <a:extLst>
                  <a:ext uri="{FF2B5EF4-FFF2-40B4-BE49-F238E27FC236}">
                    <a16:creationId xmlns:a16="http://schemas.microsoft.com/office/drawing/2014/main" id="{10B06C1D-63C1-4687-0771-6DF5F3874E50}"/>
                  </a:ext>
                </a:extLst>
              </p:cNvPr>
              <p:cNvSpPr txBox="1">
                <a:spLocks noRot="1" noChangeAspect="1" noMove="1" noResize="1" noEditPoints="1" noAdjustHandles="1" noChangeArrowheads="1" noChangeShapeType="1" noTextEdit="1"/>
              </p:cNvSpPr>
              <p:nvPr/>
            </p:nvSpPr>
            <p:spPr>
              <a:xfrm>
                <a:off x="7661945" y="5708438"/>
                <a:ext cx="4611848" cy="369332"/>
              </a:xfrm>
              <a:prstGeom prst="rect">
                <a:avLst/>
              </a:prstGeom>
              <a:blipFill>
                <a:blip r:embed="rId3"/>
                <a:stretch>
                  <a:fillRect l="-1190" t="-9836" b="-24590"/>
                </a:stretch>
              </a:blipFill>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14" name="TextBox 13">
                <a:extLst>
                  <a:ext uri="{FF2B5EF4-FFF2-40B4-BE49-F238E27FC236}">
                    <a16:creationId xmlns:a16="http://schemas.microsoft.com/office/drawing/2014/main" id="{15123909-E06D-D127-4D51-58DFC8D1E1D6}"/>
                  </a:ext>
                </a:extLst>
              </p:cNvPr>
              <p:cNvSpPr txBox="1"/>
              <p:nvPr/>
            </p:nvSpPr>
            <p:spPr>
              <a:xfrm>
                <a:off x="3535261" y="5985437"/>
                <a:ext cx="6136546" cy="369332"/>
              </a:xfrm>
              <a:prstGeom prst="rect">
                <a:avLst/>
              </a:prstGeom>
              <a:noFill/>
            </p:spPr>
            <p:txBody>
              <a:bodyPr wrap="square">
                <a:spAutoFit/>
              </a:bodyPr>
              <a:lstStyle/>
              <a:p>
                <a:r>
                  <a:rPr lang="en-IN" dirty="0">
                    <a:latin typeface="Sitka Subheading Semibold" pitchFamily="2" charset="0"/>
                  </a:rPr>
                  <a:t>The minimum fieldwork cost was:          </a:t>
                </a:r>
                <a14:m>
                  <m:oMath xmlns:m="http://schemas.openxmlformats.org/officeDocument/2006/math">
                    <m:r>
                      <a:rPr lang="en-IN" i="1">
                        <a:latin typeface="Cambria Math" panose="02040503050406030204" pitchFamily="18" charset="0"/>
                      </a:rPr>
                      <m:t>6053.83</m:t>
                    </m:r>
                  </m:oMath>
                </a14:m>
                <a:endParaRPr lang="en-IN" dirty="0">
                  <a:latin typeface="Sitka Subheading Semibold" pitchFamily="2" charset="0"/>
                </a:endParaRPr>
              </a:p>
            </p:txBody>
          </p:sp>
        </mc:Choice>
        <mc:Fallback xmlns="">
          <p:sp>
            <p:nvSpPr>
              <p:cNvPr id="14" name="TextBox 13">
                <a:extLst>
                  <a:ext uri="{FF2B5EF4-FFF2-40B4-BE49-F238E27FC236}">
                    <a16:creationId xmlns:a16="http://schemas.microsoft.com/office/drawing/2014/main" id="{15123909-E06D-D127-4D51-58DFC8D1E1D6}"/>
                  </a:ext>
                </a:extLst>
              </p:cNvPr>
              <p:cNvSpPr txBox="1">
                <a:spLocks noRot="1" noChangeAspect="1" noMove="1" noResize="1" noEditPoints="1" noAdjustHandles="1" noChangeArrowheads="1" noChangeShapeType="1" noTextEdit="1"/>
              </p:cNvSpPr>
              <p:nvPr/>
            </p:nvSpPr>
            <p:spPr>
              <a:xfrm>
                <a:off x="3535261" y="5985437"/>
                <a:ext cx="6136546" cy="369332"/>
              </a:xfrm>
              <a:prstGeom prst="rect">
                <a:avLst/>
              </a:prstGeom>
              <a:blipFill>
                <a:blip r:embed="rId4"/>
                <a:stretch>
                  <a:fillRect l="-894" t="-10000" b="-26667"/>
                </a:stretch>
              </a:blipFill>
            </p:spPr>
            <p:txBody>
              <a:bodyPr/>
              <a:lstStyle/>
              <a:p>
                <a:r>
                  <a:rPr lang="en-IN">
                    <a:noFill/>
                  </a:rPr>
                  <a:t> </a:t>
                </a:r>
              </a:p>
            </p:txBody>
          </p:sp>
        </mc:Fallback>
      </mc:AlternateContent>
    </p:spTree>
    <p:extLst>
      <p:ext uri="{BB962C8B-B14F-4D97-AF65-F5344CB8AC3E}">
        <p14:creationId xmlns:p14="http://schemas.microsoft.com/office/powerpoint/2010/main" val="1504686217"/>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AB53FA20-A9B8-3CA5-6E92-6383852BD09C}"/>
              </a:ext>
            </a:extLst>
          </p:cNvPr>
          <p:cNvSpPr txBox="1"/>
          <p:nvPr/>
        </p:nvSpPr>
        <p:spPr>
          <a:xfrm>
            <a:off x="1830896" y="100559"/>
            <a:ext cx="6094602" cy="646331"/>
          </a:xfrm>
          <a:prstGeom prst="rect">
            <a:avLst/>
          </a:prstGeom>
          <a:noFill/>
        </p:spPr>
        <p:txBody>
          <a:bodyPr wrap="square">
            <a:spAutoFit/>
          </a:bodyPr>
          <a:lstStyle/>
          <a:p>
            <a:r>
              <a:rPr lang="en-IN" sz="3600" b="1" dirty="0">
                <a:latin typeface="Agency FB" panose="020B0503020202020204" pitchFamily="34" charset="0"/>
              </a:rPr>
              <a:t>Effect of Team Capacity</a:t>
            </a:r>
          </a:p>
        </p:txBody>
      </p:sp>
      <p:sp>
        <p:nvSpPr>
          <p:cNvPr id="5" name="TextBox 4">
            <a:extLst>
              <a:ext uri="{FF2B5EF4-FFF2-40B4-BE49-F238E27FC236}">
                <a16:creationId xmlns:a16="http://schemas.microsoft.com/office/drawing/2014/main" id="{C347B2B3-8E16-5A80-4E0A-235969C2D1AB}"/>
              </a:ext>
            </a:extLst>
          </p:cNvPr>
          <p:cNvSpPr txBox="1"/>
          <p:nvPr/>
        </p:nvSpPr>
        <p:spPr>
          <a:xfrm>
            <a:off x="1830896" y="847558"/>
            <a:ext cx="10089859" cy="1477328"/>
          </a:xfrm>
          <a:prstGeom prst="rect">
            <a:avLst/>
          </a:prstGeom>
          <a:noFill/>
        </p:spPr>
        <p:txBody>
          <a:bodyPr wrap="square">
            <a:spAutoFit/>
          </a:bodyPr>
          <a:lstStyle/>
          <a:p>
            <a:pPr>
              <a:buNone/>
            </a:pPr>
            <a:r>
              <a:rPr lang="en-IN" dirty="0">
                <a:latin typeface="Sitka Subheading Semibold" pitchFamily="2" charset="0"/>
              </a:rPr>
              <a:t>A sensitivity analysis was carried out by changing the available interview capacity of the field teams.</a:t>
            </a:r>
          </a:p>
          <a:p>
            <a:pPr>
              <a:buNone/>
            </a:pPr>
            <a:r>
              <a:rPr lang="en-IN" dirty="0">
                <a:latin typeface="Sitka Subheading Semibold" pitchFamily="2" charset="0"/>
              </a:rPr>
              <a:t>The results show that </a:t>
            </a:r>
            <a:r>
              <a:rPr lang="en-IN" b="1" dirty="0">
                <a:latin typeface="Sitka Subheading Semibold" pitchFamily="2" charset="0"/>
              </a:rPr>
              <a:t>increasing team capacity reduces the minimum fieldwork cost</a:t>
            </a:r>
            <a:r>
              <a:rPr lang="en-IN" dirty="0">
                <a:latin typeface="Sitka Subheading Semibold" pitchFamily="2" charset="0"/>
              </a:rPr>
              <a:t>. With more available capacity, the optimization model has greater freedom to assign interviews to lower-cost team-stratum combinations.</a:t>
            </a:r>
          </a:p>
        </p:txBody>
      </p:sp>
      <p:sp>
        <p:nvSpPr>
          <p:cNvPr id="7" name="TextBox 6">
            <a:extLst>
              <a:ext uri="{FF2B5EF4-FFF2-40B4-BE49-F238E27FC236}">
                <a16:creationId xmlns:a16="http://schemas.microsoft.com/office/drawing/2014/main" id="{57E20829-7248-9AA8-72EB-9686F8FB77CC}"/>
              </a:ext>
            </a:extLst>
          </p:cNvPr>
          <p:cNvSpPr txBox="1"/>
          <p:nvPr/>
        </p:nvSpPr>
        <p:spPr>
          <a:xfrm>
            <a:off x="1830896" y="2425554"/>
            <a:ext cx="7178879" cy="646331"/>
          </a:xfrm>
          <a:prstGeom prst="rect">
            <a:avLst/>
          </a:prstGeom>
          <a:noFill/>
        </p:spPr>
        <p:txBody>
          <a:bodyPr wrap="square">
            <a:spAutoFit/>
          </a:bodyPr>
          <a:lstStyle/>
          <a:p>
            <a:r>
              <a:rPr lang="en-IN" sz="3600" b="1" dirty="0">
                <a:latin typeface="Agency FB" panose="020B0503020202020204" pitchFamily="34" charset="0"/>
              </a:rPr>
              <a:t>Flexible Neyman Allocation</a:t>
            </a:r>
          </a:p>
        </p:txBody>
      </p:sp>
      <mc:AlternateContent xmlns:mc="http://schemas.openxmlformats.org/markup-compatibility/2006" xmlns:a14="http://schemas.microsoft.com/office/drawing/2010/main">
        <mc:Choice Requires="a14">
          <p:sp>
            <p:nvSpPr>
              <p:cNvPr id="9" name="TextBox 8">
                <a:extLst>
                  <a:ext uri="{FF2B5EF4-FFF2-40B4-BE49-F238E27FC236}">
                    <a16:creationId xmlns:a16="http://schemas.microsoft.com/office/drawing/2014/main" id="{86DD1C9C-3E51-6D58-2402-30DD888D673D}"/>
                  </a:ext>
                </a:extLst>
              </p:cNvPr>
              <p:cNvSpPr txBox="1"/>
              <p:nvPr/>
            </p:nvSpPr>
            <p:spPr>
              <a:xfrm>
                <a:off x="1830896" y="3172553"/>
                <a:ext cx="10089858" cy="1200329"/>
              </a:xfrm>
              <a:prstGeom prst="rect">
                <a:avLst/>
              </a:prstGeom>
              <a:noFill/>
            </p:spPr>
            <p:txBody>
              <a:bodyPr wrap="square">
                <a:spAutoFit/>
              </a:bodyPr>
              <a:lstStyle/>
              <a:p>
                <a:pPr>
                  <a:buNone/>
                </a:pPr>
                <a:r>
                  <a:rPr lang="en-IN" dirty="0">
                    <a:latin typeface="Sitka Subheading Semibold" pitchFamily="2" charset="0"/>
                  </a:rPr>
                  <a:t>To study the trade-off between cost and statistical accuracy, deviations from the exact Neyman allocation were allowed. </a:t>
                </a:r>
              </a:p>
              <a:p>
                <a:pPr>
                  <a:buNone/>
                </a:pPr>
                <a:r>
                  <a:rPr lang="en-IN" dirty="0">
                    <a:latin typeface="Sitka Subheading Semibold" pitchFamily="2" charset="0"/>
                  </a:rPr>
                  <a:t>The parameter </a:t>
                </a:r>
                <a14:m>
                  <m:oMath xmlns:m="http://schemas.openxmlformats.org/officeDocument/2006/math">
                    <m:r>
                      <a:rPr lang="en-IN" i="1">
                        <a:latin typeface="Cambria Math" panose="02040503050406030204" pitchFamily="18" charset="0"/>
                      </a:rPr>
                      <m:t>𝜆</m:t>
                    </m:r>
                  </m:oMath>
                </a14:m>
                <a:r>
                  <a:rPr lang="en-IN" dirty="0">
                    <a:latin typeface="Sitka Subheading Semibold" pitchFamily="2" charset="0"/>
                  </a:rPr>
                  <a:t> controls how strongly deviations from the Neyman allocation are penalized.</a:t>
                </a:r>
              </a:p>
              <a:p>
                <a:pPr>
                  <a:buNone/>
                </a:pPr>
                <a:endParaRPr lang="en-IN" dirty="0">
                  <a:latin typeface="Sitka Subheading Semibold" pitchFamily="2" charset="0"/>
                </a:endParaRPr>
              </a:p>
            </p:txBody>
          </p:sp>
        </mc:Choice>
        <mc:Fallback xmlns="">
          <p:sp>
            <p:nvSpPr>
              <p:cNvPr id="9" name="TextBox 8">
                <a:extLst>
                  <a:ext uri="{FF2B5EF4-FFF2-40B4-BE49-F238E27FC236}">
                    <a16:creationId xmlns:a16="http://schemas.microsoft.com/office/drawing/2014/main" id="{86DD1C9C-3E51-6D58-2402-30DD888D673D}"/>
                  </a:ext>
                </a:extLst>
              </p:cNvPr>
              <p:cNvSpPr txBox="1">
                <a:spLocks noRot="1" noChangeAspect="1" noMove="1" noResize="1" noEditPoints="1" noAdjustHandles="1" noChangeArrowheads="1" noChangeShapeType="1" noTextEdit="1"/>
              </p:cNvSpPr>
              <p:nvPr/>
            </p:nvSpPr>
            <p:spPr>
              <a:xfrm>
                <a:off x="1830896" y="3172553"/>
                <a:ext cx="10089858" cy="1200329"/>
              </a:xfrm>
              <a:prstGeom prst="rect">
                <a:avLst/>
              </a:prstGeom>
              <a:blipFill>
                <a:blip r:embed="rId2"/>
                <a:stretch>
                  <a:fillRect l="-483" t="-2538" b="-7107"/>
                </a:stretch>
              </a:blipFill>
            </p:spPr>
            <p:txBody>
              <a:bodyPr/>
              <a:lstStyle/>
              <a:p>
                <a:r>
                  <a:rPr lang="en-IN">
                    <a:noFill/>
                  </a:rPr>
                  <a:t> </a:t>
                </a:r>
              </a:p>
            </p:txBody>
          </p:sp>
        </mc:Fallback>
      </mc:AlternateContent>
    </p:spTree>
    <p:extLst>
      <p:ext uri="{BB962C8B-B14F-4D97-AF65-F5344CB8AC3E}">
        <p14:creationId xmlns:p14="http://schemas.microsoft.com/office/powerpoint/2010/main" val="3946488400"/>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a:extLst>
              <a:ext uri="{FF2B5EF4-FFF2-40B4-BE49-F238E27FC236}">
                <a16:creationId xmlns:a16="http://schemas.microsoft.com/office/drawing/2014/main" id="{53E991E4-6D57-4A5D-DA3E-5FFE4F9D59E1}"/>
              </a:ext>
            </a:extLst>
          </p:cNvPr>
          <p:cNvSpPr txBox="1"/>
          <p:nvPr/>
        </p:nvSpPr>
        <p:spPr>
          <a:xfrm>
            <a:off x="1805731" y="276728"/>
            <a:ext cx="6094602" cy="369332"/>
          </a:xfrm>
          <a:prstGeom prst="rect">
            <a:avLst/>
          </a:prstGeom>
          <a:noFill/>
        </p:spPr>
        <p:txBody>
          <a:bodyPr wrap="square">
            <a:spAutoFit/>
          </a:bodyPr>
          <a:lstStyle/>
          <a:p>
            <a:r>
              <a:rPr lang="en-IN" dirty="0">
                <a:latin typeface="Sitka Subheading Semibold" pitchFamily="2" charset="0"/>
              </a:rPr>
              <a:t>The main results were:</a:t>
            </a:r>
          </a:p>
        </p:txBody>
      </p:sp>
      <mc:AlternateContent xmlns:mc="http://schemas.openxmlformats.org/markup-compatibility/2006" xmlns:a14="http://schemas.microsoft.com/office/drawing/2010/main">
        <mc:Choice Requires="a14">
          <p:graphicFrame>
            <p:nvGraphicFramePr>
              <p:cNvPr id="5" name="Table 4">
                <a:extLst>
                  <a:ext uri="{FF2B5EF4-FFF2-40B4-BE49-F238E27FC236}">
                    <a16:creationId xmlns:a16="http://schemas.microsoft.com/office/drawing/2014/main" id="{7579D223-9153-C9E2-F0D0-E05E9E751A3B}"/>
                  </a:ext>
                </a:extLst>
              </p:cNvPr>
              <p:cNvGraphicFramePr>
                <a:graphicFrameLocks noGrp="1"/>
              </p:cNvGraphicFramePr>
              <p:nvPr>
                <p:extLst>
                  <p:ext uri="{D42A27DB-BD31-4B8C-83A1-F6EECF244321}">
                    <p14:modId xmlns:p14="http://schemas.microsoft.com/office/powerpoint/2010/main" val="3342053113"/>
                  </p:ext>
                </p:extLst>
              </p:nvPr>
            </p:nvGraphicFramePr>
            <p:xfrm>
              <a:off x="1805731" y="761610"/>
              <a:ext cx="9091569" cy="2662542"/>
            </p:xfrm>
            <a:graphic>
              <a:graphicData uri="http://schemas.openxmlformats.org/drawingml/2006/table">
                <a:tbl>
                  <a:tblPr firstRow="1" bandRow="1">
                    <a:tableStyleId>{5C22544A-7EE6-4342-B048-85BDC9FD1C3A}</a:tableStyleId>
                  </a:tblPr>
                  <a:tblGrid>
                    <a:gridCol w="3030523">
                      <a:extLst>
                        <a:ext uri="{9D8B030D-6E8A-4147-A177-3AD203B41FA5}">
                          <a16:colId xmlns:a16="http://schemas.microsoft.com/office/drawing/2014/main" val="2025128722"/>
                        </a:ext>
                      </a:extLst>
                    </a:gridCol>
                    <a:gridCol w="3030523">
                      <a:extLst>
                        <a:ext uri="{9D8B030D-6E8A-4147-A177-3AD203B41FA5}">
                          <a16:colId xmlns:a16="http://schemas.microsoft.com/office/drawing/2014/main" val="583113545"/>
                        </a:ext>
                      </a:extLst>
                    </a:gridCol>
                    <a:gridCol w="3030523">
                      <a:extLst>
                        <a:ext uri="{9D8B030D-6E8A-4147-A177-3AD203B41FA5}">
                          <a16:colId xmlns:a16="http://schemas.microsoft.com/office/drawing/2014/main" val="4260266473"/>
                        </a:ext>
                      </a:extLst>
                    </a:gridCol>
                  </a:tblGrid>
                  <a:tr h="371151">
                    <a:tc>
                      <a:txBody>
                        <a:bodyPr/>
                        <a:lstStyle/>
                        <a:p>
                          <a:pPr>
                            <a:buNone/>
                          </a:pPr>
                          <a14:m>
                            <m:oMathPara xmlns:m="http://schemas.openxmlformats.org/officeDocument/2006/math">
                              <m:oMathParaPr>
                                <m:jc m:val="centerGroup"/>
                              </m:oMathParaPr>
                              <m:oMath xmlns:m="http://schemas.openxmlformats.org/officeDocument/2006/math">
                                <m:r>
                                  <a:rPr lang="en-IN" i="1" dirty="0" smtClean="0">
                                    <a:latin typeface="Cambria Math" panose="02040503050406030204" pitchFamily="18" charset="0"/>
                                  </a:rPr>
                                  <m:t>𝜆</m:t>
                                </m:r>
                              </m:oMath>
                            </m:oMathPara>
                          </a14:m>
                          <a:endParaRPr lang="en-IN" dirty="0"/>
                        </a:p>
                      </a:txBody>
                      <a:tcPr anchor="ctr"/>
                    </a:tc>
                    <a:tc>
                      <a:txBody>
                        <a:bodyPr/>
                        <a:lstStyle/>
                        <a:p>
                          <a:pPr>
                            <a:buNone/>
                          </a:pPr>
                          <a:r>
                            <a:rPr lang="en-IN" dirty="0">
                              <a:latin typeface="Sitka Subheading Semibold" pitchFamily="2" charset="0"/>
                            </a:rPr>
                            <a:t>Allocation (Rural, Semi-Urban, Urban)</a:t>
                          </a:r>
                        </a:p>
                      </a:txBody>
                      <a:tcPr anchor="ctr"/>
                    </a:tc>
                    <a:tc>
                      <a:txBody>
                        <a:bodyPr/>
                        <a:lstStyle/>
                        <a:p>
                          <a:pPr algn="r">
                            <a:buNone/>
                          </a:pPr>
                          <a:r>
                            <a:rPr lang="en-IN" dirty="0">
                              <a:latin typeface="Sitka Subheading Semibold" pitchFamily="2" charset="0"/>
                            </a:rPr>
                            <a:t>Cost</a:t>
                          </a:r>
                        </a:p>
                      </a:txBody>
                      <a:tcPr anchor="ctr"/>
                    </a:tc>
                    <a:extLst>
                      <a:ext uri="{0D108BD9-81ED-4DB2-BD59-A6C34878D82A}">
                        <a16:rowId xmlns:a16="http://schemas.microsoft.com/office/drawing/2014/main" val="489972106"/>
                      </a:ext>
                    </a:extLst>
                  </a:tr>
                  <a:tr h="371151">
                    <a:tc>
                      <a:txBody>
                        <a:bodyPr/>
                        <a:lstStyle/>
                        <a:p>
                          <a:pPr>
                            <a:buNone/>
                          </a:pPr>
                          <a14:m>
                            <m:oMathPara xmlns:m="http://schemas.openxmlformats.org/officeDocument/2006/math">
                              <m:oMathParaPr>
                                <m:jc m:val="centerGroup"/>
                              </m:oMathParaPr>
                              <m:oMath xmlns:m="http://schemas.openxmlformats.org/officeDocument/2006/math">
                                <m:r>
                                  <a:rPr lang="en-IN" smtClean="0">
                                    <a:latin typeface="Cambria Math" panose="02040503050406030204" pitchFamily="18" charset="0"/>
                                  </a:rPr>
                                  <m:t>0</m:t>
                                </m:r>
                                <m:r>
                                  <a:rPr lang="en-IN" i="0">
                                    <a:latin typeface="Cambria Math" panose="02040503050406030204" pitchFamily="18" charset="0"/>
                                  </a:rPr>
                                  <m:t>−</m:t>
                                </m:r>
                                <m:r>
                                  <a:rPr lang="en-IN" i="0">
                                    <a:latin typeface="Cambria Math" panose="02040503050406030204" pitchFamily="18" charset="0"/>
                                  </a:rPr>
                                  <m:t>0</m:t>
                                </m:r>
                                <m:r>
                                  <a:rPr lang="en-IN" i="0">
                                    <a:latin typeface="Cambria Math" panose="02040503050406030204" pitchFamily="18" charset="0"/>
                                  </a:rPr>
                                  <m:t>.</m:t>
                                </m:r>
                                <m:r>
                                  <a:rPr lang="en-IN" i="0">
                                    <a:latin typeface="Cambria Math" panose="02040503050406030204" pitchFamily="18" charset="0"/>
                                  </a:rPr>
                                  <m:t>50</m:t>
                                </m:r>
                              </m:oMath>
                            </m:oMathPara>
                          </a14:m>
                          <a:endParaRPr lang="en-IN" dirty="0"/>
                        </a:p>
                      </a:txBody>
                      <a:tcPr anchor="ctr"/>
                    </a:tc>
                    <a:tc>
                      <a:txBody>
                        <a:bodyPr/>
                        <a:lstStyle/>
                        <a:p>
                          <a:pPr>
                            <a:buNone/>
                          </a:pPr>
                          <a14:m>
                            <m:oMathPara xmlns:m="http://schemas.openxmlformats.org/officeDocument/2006/math">
                              <m:oMathParaPr>
                                <m:jc m:val="centerGroup"/>
                              </m:oMathParaPr>
                              <m:oMath xmlns:m="http://schemas.openxmlformats.org/officeDocument/2006/math">
                                <m:d>
                                  <m:dPr>
                                    <m:ctrlPr>
                                      <a:rPr lang="en-IN" i="1" smtClean="0">
                                        <a:latin typeface="Cambria Math" panose="02040503050406030204" pitchFamily="18" charset="0"/>
                                      </a:rPr>
                                    </m:ctrlPr>
                                  </m:dPr>
                                  <m:e>
                                    <m:r>
                                      <a:rPr lang="en-IN">
                                        <a:latin typeface="Cambria Math" panose="02040503050406030204" pitchFamily="18" charset="0"/>
                                      </a:rPr>
                                      <m:t>44</m:t>
                                    </m:r>
                                    <m:r>
                                      <a:rPr lang="en-IN" b="0" i="0" smtClean="0">
                                        <a:latin typeface="Cambria Math" panose="02040503050406030204" pitchFamily="18" charset="0"/>
                                      </a:rPr>
                                      <m:t>, </m:t>
                                    </m:r>
                                    <m:r>
                                      <a:rPr lang="en-IN">
                                        <a:latin typeface="Cambria Math" panose="02040503050406030204" pitchFamily="18" charset="0"/>
                                      </a:rPr>
                                      <m:t>70</m:t>
                                    </m:r>
                                    <m:r>
                                      <a:rPr lang="en-IN" b="0" i="0" smtClean="0">
                                        <a:latin typeface="Cambria Math" panose="02040503050406030204" pitchFamily="18" charset="0"/>
                                      </a:rPr>
                                      <m:t>, </m:t>
                                    </m:r>
                                    <m:r>
                                      <a:rPr lang="en-IN" b="0" i="0" smtClean="0">
                                        <a:latin typeface="Cambria Math" panose="02040503050406030204" pitchFamily="18" charset="0"/>
                                      </a:rPr>
                                      <m:t>186</m:t>
                                    </m:r>
                                  </m:e>
                                </m:d>
                              </m:oMath>
                            </m:oMathPara>
                          </a14:m>
                          <a:endParaRPr lang="en-IN" dirty="0"/>
                        </a:p>
                      </a:txBody>
                      <a:tcPr anchor="ctr"/>
                    </a:tc>
                    <a:tc>
                      <a:txBody>
                        <a:bodyPr/>
                        <a:lstStyle/>
                        <a:p>
                          <a:pPr algn="r">
                            <a:buNone/>
                          </a:pPr>
                          <a14:m>
                            <m:oMathPara xmlns:m="http://schemas.openxmlformats.org/officeDocument/2006/math">
                              <m:oMathParaPr>
                                <m:jc m:val="centerGroup"/>
                              </m:oMathParaPr>
                              <m:oMath xmlns:m="http://schemas.openxmlformats.org/officeDocument/2006/math">
                                <m:r>
                                  <a:rPr lang="en-IN" dirty="0" smtClean="0">
                                    <a:latin typeface="Cambria Math" panose="02040503050406030204" pitchFamily="18" charset="0"/>
                                  </a:rPr>
                                  <m:t>603</m:t>
                                </m:r>
                                <m:r>
                                  <a:rPr lang="en-IN" b="0" i="1" dirty="0" smtClean="0">
                                    <a:latin typeface="Cambria Math" panose="02040503050406030204" pitchFamily="18" charset="0"/>
                                  </a:rPr>
                                  <m:t>1</m:t>
                                </m:r>
                                <m:r>
                                  <a:rPr lang="en-IN" b="0" i="1" dirty="0" smtClean="0">
                                    <a:latin typeface="Cambria Math" panose="02040503050406030204" pitchFamily="18" charset="0"/>
                                  </a:rPr>
                                  <m:t>.</m:t>
                                </m:r>
                                <m:r>
                                  <a:rPr lang="en-IN" b="0" i="1" dirty="0" smtClean="0">
                                    <a:latin typeface="Cambria Math" panose="02040503050406030204" pitchFamily="18" charset="0"/>
                                  </a:rPr>
                                  <m:t>24</m:t>
                                </m:r>
                              </m:oMath>
                            </m:oMathPara>
                          </a14:m>
                          <a:endParaRPr lang="en-IN" dirty="0"/>
                        </a:p>
                      </a:txBody>
                      <a:tcPr anchor="ctr"/>
                    </a:tc>
                    <a:extLst>
                      <a:ext uri="{0D108BD9-81ED-4DB2-BD59-A6C34878D82A}">
                        <a16:rowId xmlns:a16="http://schemas.microsoft.com/office/drawing/2014/main" val="1350946787"/>
                      </a:ext>
                    </a:extLst>
                  </a:tr>
                  <a:tr h="371151">
                    <a:tc>
                      <a:txBody>
                        <a:bodyPr/>
                        <a:lstStyle/>
                        <a:p>
                          <a:pPr marL="0" marR="0" lvl="0" indent="0" algn="l" defTabSz="457200" rtl="0" eaLnBrk="1" fontAlgn="auto" latinLnBrk="0" hangingPunct="1">
                            <a:lnSpc>
                              <a:spcPct val="100000"/>
                            </a:lnSpc>
                            <a:spcBef>
                              <a:spcPts val="0"/>
                            </a:spcBef>
                            <a:spcAft>
                              <a:spcPts val="0"/>
                            </a:spcAft>
                            <a:buClrTx/>
                            <a:buSzTx/>
                            <a:buFontTx/>
                            <a:buNone/>
                            <a:tabLst/>
                            <a:defRPr/>
                          </a:pPr>
                          <a14:m>
                            <m:oMathPara xmlns:m="http://schemas.openxmlformats.org/officeDocument/2006/math">
                              <m:oMathParaPr>
                                <m:jc m:val="centerGroup"/>
                              </m:oMathParaPr>
                              <m:oMath xmlns:m="http://schemas.openxmlformats.org/officeDocument/2006/math">
                                <m:r>
                                  <a:rPr lang="en-IN" smtClean="0">
                                    <a:latin typeface="Cambria Math" panose="02040503050406030204" pitchFamily="18" charset="0"/>
                                  </a:rPr>
                                  <m:t>0</m:t>
                                </m:r>
                                <m:r>
                                  <a:rPr lang="en-IN" b="0" i="0" smtClean="0">
                                    <a:latin typeface="Cambria Math" panose="02040503050406030204" pitchFamily="18" charset="0"/>
                                  </a:rPr>
                                  <m:t>.</m:t>
                                </m:r>
                                <m:r>
                                  <a:rPr lang="en-IN" b="0" i="0" smtClean="0">
                                    <a:latin typeface="Cambria Math" panose="02040503050406030204" pitchFamily="18" charset="0"/>
                                  </a:rPr>
                                  <m:t>55</m:t>
                                </m:r>
                                <m:r>
                                  <a:rPr lang="en-IN" i="0">
                                    <a:latin typeface="Cambria Math" panose="02040503050406030204" pitchFamily="18" charset="0"/>
                                  </a:rPr>
                                  <m:t>−</m:t>
                                </m:r>
                                <m:r>
                                  <a:rPr lang="en-IN" i="0">
                                    <a:latin typeface="Cambria Math" panose="02040503050406030204" pitchFamily="18" charset="0"/>
                                  </a:rPr>
                                  <m:t>0</m:t>
                                </m:r>
                                <m:r>
                                  <a:rPr lang="en-IN" i="0">
                                    <a:latin typeface="Cambria Math" panose="02040503050406030204" pitchFamily="18" charset="0"/>
                                  </a:rPr>
                                  <m:t>.</m:t>
                                </m:r>
                                <m:r>
                                  <a:rPr lang="en-IN" b="0" i="0" smtClean="0">
                                    <a:latin typeface="Cambria Math" panose="02040503050406030204" pitchFamily="18" charset="0"/>
                                  </a:rPr>
                                  <m:t>6</m:t>
                                </m:r>
                                <m:r>
                                  <a:rPr lang="en-IN" i="0">
                                    <a:latin typeface="Cambria Math" panose="02040503050406030204" pitchFamily="18" charset="0"/>
                                  </a:rPr>
                                  <m:t>0</m:t>
                                </m:r>
                              </m:oMath>
                            </m:oMathPara>
                          </a14:m>
                          <a:endParaRPr lang="en-IN" dirty="0"/>
                        </a:p>
                        <a:p>
                          <a:pPr>
                            <a:buNone/>
                          </a:pPr>
                          <a:endParaRPr lang="en-IN" dirty="0"/>
                        </a:p>
                      </a:txBody>
                      <a:tcPr anchor="ctr"/>
                    </a:tc>
                    <a:tc>
                      <a:txBody>
                        <a:bodyPr/>
                        <a:lstStyle/>
                        <a:p>
                          <a:pPr>
                            <a:buNone/>
                          </a:pPr>
                          <a14:m>
                            <m:oMathPara xmlns:m="http://schemas.openxmlformats.org/officeDocument/2006/math">
                              <m:oMathParaPr>
                                <m:jc m:val="centerGroup"/>
                              </m:oMathParaPr>
                              <m:oMath xmlns:m="http://schemas.openxmlformats.org/officeDocument/2006/math">
                                <m:d>
                                  <m:dPr>
                                    <m:ctrlPr>
                                      <a:rPr lang="en-IN" i="1" smtClean="0">
                                        <a:latin typeface="Cambria Math" panose="02040503050406030204" pitchFamily="18" charset="0"/>
                                      </a:rPr>
                                    </m:ctrlPr>
                                  </m:dPr>
                                  <m:e>
                                    <m:r>
                                      <a:rPr lang="en-IN">
                                        <a:latin typeface="Cambria Math" panose="02040503050406030204" pitchFamily="18" charset="0"/>
                                      </a:rPr>
                                      <m:t>4</m:t>
                                    </m:r>
                                    <m:r>
                                      <a:rPr lang="en-IN" b="0" i="0" smtClean="0">
                                        <a:latin typeface="Cambria Math" panose="02040503050406030204" pitchFamily="18" charset="0"/>
                                      </a:rPr>
                                      <m:t>5</m:t>
                                    </m:r>
                                    <m:r>
                                      <a:rPr lang="en-IN" b="0" i="0" smtClean="0">
                                        <a:latin typeface="Cambria Math" panose="02040503050406030204" pitchFamily="18" charset="0"/>
                                      </a:rPr>
                                      <m:t>, </m:t>
                                    </m:r>
                                    <m:r>
                                      <a:rPr lang="en-IN">
                                        <a:latin typeface="Cambria Math" panose="02040503050406030204" pitchFamily="18" charset="0"/>
                                      </a:rPr>
                                      <m:t>70</m:t>
                                    </m:r>
                                    <m:r>
                                      <a:rPr lang="en-IN" b="0" i="0" smtClean="0">
                                        <a:latin typeface="Cambria Math" panose="02040503050406030204" pitchFamily="18" charset="0"/>
                                      </a:rPr>
                                      <m:t>, </m:t>
                                    </m:r>
                                    <m:r>
                                      <a:rPr lang="en-IN" b="0" i="0" smtClean="0">
                                        <a:latin typeface="Cambria Math" panose="02040503050406030204" pitchFamily="18" charset="0"/>
                                      </a:rPr>
                                      <m:t>18</m:t>
                                    </m:r>
                                    <m:r>
                                      <a:rPr lang="en-IN" b="0" i="1" smtClean="0">
                                        <a:latin typeface="Cambria Math" panose="02040503050406030204" pitchFamily="18" charset="0"/>
                                      </a:rPr>
                                      <m:t>5</m:t>
                                    </m:r>
                                  </m:e>
                                </m:d>
                              </m:oMath>
                            </m:oMathPara>
                          </a14:m>
                          <a:endParaRPr lang="en-IN" dirty="0"/>
                        </a:p>
                      </a:txBody>
                      <a:tcPr anchor="ctr"/>
                    </a:tc>
                    <a:tc>
                      <a:txBody>
                        <a:bodyPr/>
                        <a:lstStyle/>
                        <a:p>
                          <a:pPr algn="r">
                            <a:buNone/>
                          </a:pPr>
                          <a14:m>
                            <m:oMathPara xmlns:m="http://schemas.openxmlformats.org/officeDocument/2006/math">
                              <m:oMathParaPr>
                                <m:jc m:val="centerGroup"/>
                              </m:oMathParaPr>
                              <m:oMath xmlns:m="http://schemas.openxmlformats.org/officeDocument/2006/math">
                                <m:r>
                                  <a:rPr lang="en-IN" dirty="0" smtClean="0">
                                    <a:latin typeface="Cambria Math" panose="02040503050406030204" pitchFamily="18" charset="0"/>
                                  </a:rPr>
                                  <m:t>603</m:t>
                                </m:r>
                                <m:r>
                                  <a:rPr lang="en-IN" b="0" i="1" dirty="0" smtClean="0">
                                    <a:latin typeface="Cambria Math" panose="02040503050406030204" pitchFamily="18" charset="0"/>
                                  </a:rPr>
                                  <m:t>2</m:t>
                                </m:r>
                                <m:r>
                                  <a:rPr lang="en-IN" b="0" i="1" dirty="0" smtClean="0">
                                    <a:latin typeface="Cambria Math" panose="02040503050406030204" pitchFamily="18" charset="0"/>
                                  </a:rPr>
                                  <m:t>.</m:t>
                                </m:r>
                                <m:r>
                                  <a:rPr lang="en-IN" b="0" i="1" dirty="0" smtClean="0">
                                    <a:latin typeface="Cambria Math" panose="02040503050406030204" pitchFamily="18" charset="0"/>
                                  </a:rPr>
                                  <m:t>25</m:t>
                                </m:r>
                              </m:oMath>
                            </m:oMathPara>
                          </a14:m>
                          <a:endParaRPr lang="en-IN" dirty="0"/>
                        </a:p>
                      </a:txBody>
                      <a:tcPr anchor="ctr"/>
                    </a:tc>
                    <a:extLst>
                      <a:ext uri="{0D108BD9-81ED-4DB2-BD59-A6C34878D82A}">
                        <a16:rowId xmlns:a16="http://schemas.microsoft.com/office/drawing/2014/main" val="2435333801"/>
                      </a:ext>
                    </a:extLst>
                  </a:tr>
                  <a:tr h="371151">
                    <a:tc>
                      <a:txBody>
                        <a:bodyPr/>
                        <a:lstStyle/>
                        <a:p>
                          <a:pPr marL="0" marR="0" lvl="0" indent="0" algn="l" defTabSz="457200" rtl="0" eaLnBrk="1" fontAlgn="auto" latinLnBrk="0" hangingPunct="1">
                            <a:lnSpc>
                              <a:spcPct val="100000"/>
                            </a:lnSpc>
                            <a:spcBef>
                              <a:spcPts val="0"/>
                            </a:spcBef>
                            <a:spcAft>
                              <a:spcPts val="0"/>
                            </a:spcAft>
                            <a:buClrTx/>
                            <a:buSzTx/>
                            <a:buFontTx/>
                            <a:buNone/>
                            <a:tabLst/>
                            <a:defRPr/>
                          </a:pPr>
                          <a14:m>
                            <m:oMathPara xmlns:m="http://schemas.openxmlformats.org/officeDocument/2006/math">
                              <m:oMathParaPr>
                                <m:jc m:val="centerGroup"/>
                              </m:oMathParaPr>
                              <m:oMath xmlns:m="http://schemas.openxmlformats.org/officeDocument/2006/math">
                                <m:r>
                                  <a:rPr lang="en-IN" smtClean="0">
                                    <a:latin typeface="Cambria Math" panose="02040503050406030204" pitchFamily="18" charset="0"/>
                                  </a:rPr>
                                  <m:t>0</m:t>
                                </m:r>
                                <m:r>
                                  <a:rPr lang="en-IN" b="0" i="0" smtClean="0">
                                    <a:latin typeface="Cambria Math" panose="02040503050406030204" pitchFamily="18" charset="0"/>
                                  </a:rPr>
                                  <m:t>.</m:t>
                                </m:r>
                                <m:r>
                                  <a:rPr lang="en-IN" b="0" i="0" smtClean="0">
                                    <a:latin typeface="Cambria Math" panose="02040503050406030204" pitchFamily="18" charset="0"/>
                                  </a:rPr>
                                  <m:t>65</m:t>
                                </m:r>
                                <m:r>
                                  <a:rPr lang="en-IN" i="0">
                                    <a:latin typeface="Cambria Math" panose="02040503050406030204" pitchFamily="18" charset="0"/>
                                  </a:rPr>
                                  <m:t>−</m:t>
                                </m:r>
                                <m:r>
                                  <a:rPr lang="en-IN" i="0">
                                    <a:latin typeface="Cambria Math" panose="02040503050406030204" pitchFamily="18" charset="0"/>
                                  </a:rPr>
                                  <m:t>0</m:t>
                                </m:r>
                                <m:r>
                                  <a:rPr lang="en-IN" i="0">
                                    <a:latin typeface="Cambria Math" panose="02040503050406030204" pitchFamily="18" charset="0"/>
                                  </a:rPr>
                                  <m:t>.</m:t>
                                </m:r>
                                <m:r>
                                  <a:rPr lang="en-IN" b="0" i="0" smtClean="0">
                                    <a:latin typeface="Cambria Math" panose="02040503050406030204" pitchFamily="18" charset="0"/>
                                  </a:rPr>
                                  <m:t>85</m:t>
                                </m:r>
                              </m:oMath>
                            </m:oMathPara>
                          </a14:m>
                          <a:endParaRPr lang="en-IN" dirty="0"/>
                        </a:p>
                        <a:p>
                          <a:pPr>
                            <a:buNone/>
                          </a:pPr>
                          <a:endParaRPr lang="en-IN" dirty="0"/>
                        </a:p>
                      </a:txBody>
                      <a:tcPr anchor="ctr"/>
                    </a:tc>
                    <a:tc>
                      <a:txBody>
                        <a:bodyPr/>
                        <a:lstStyle/>
                        <a:p>
                          <a:pPr>
                            <a:buNone/>
                          </a:pPr>
                          <a14:m>
                            <m:oMathPara xmlns:m="http://schemas.openxmlformats.org/officeDocument/2006/math">
                              <m:oMathParaPr>
                                <m:jc m:val="centerGroup"/>
                              </m:oMathParaPr>
                              <m:oMath xmlns:m="http://schemas.openxmlformats.org/officeDocument/2006/math">
                                <m:d>
                                  <m:dPr>
                                    <m:ctrlPr>
                                      <a:rPr lang="en-IN" i="1" smtClean="0">
                                        <a:latin typeface="Cambria Math" panose="02040503050406030204" pitchFamily="18" charset="0"/>
                                      </a:rPr>
                                    </m:ctrlPr>
                                  </m:dPr>
                                  <m:e>
                                    <m:r>
                                      <a:rPr lang="en-IN" b="0" i="0" smtClean="0">
                                        <a:latin typeface="Cambria Math" panose="02040503050406030204" pitchFamily="18" charset="0"/>
                                      </a:rPr>
                                      <m:t>50</m:t>
                                    </m:r>
                                    <m:r>
                                      <a:rPr lang="en-IN" b="0" i="0" smtClean="0">
                                        <a:latin typeface="Cambria Math" panose="02040503050406030204" pitchFamily="18" charset="0"/>
                                      </a:rPr>
                                      <m:t>, </m:t>
                                    </m:r>
                                    <m:r>
                                      <a:rPr lang="en-IN" b="0" i="0" smtClean="0">
                                        <a:latin typeface="Cambria Math" panose="02040503050406030204" pitchFamily="18" charset="0"/>
                                      </a:rPr>
                                      <m:t>65</m:t>
                                    </m:r>
                                    <m:r>
                                      <a:rPr lang="en-IN" b="0" i="0" smtClean="0">
                                        <a:latin typeface="Cambria Math" panose="02040503050406030204" pitchFamily="18" charset="0"/>
                                      </a:rPr>
                                      <m:t>, </m:t>
                                    </m:r>
                                    <m:r>
                                      <a:rPr lang="en-IN" b="0" i="0" smtClean="0">
                                        <a:latin typeface="Cambria Math" panose="02040503050406030204" pitchFamily="18" charset="0"/>
                                      </a:rPr>
                                      <m:t>18</m:t>
                                    </m:r>
                                    <m:r>
                                      <a:rPr lang="en-IN" b="0" i="1" smtClean="0">
                                        <a:latin typeface="Cambria Math" panose="02040503050406030204" pitchFamily="18" charset="0"/>
                                      </a:rPr>
                                      <m:t>5</m:t>
                                    </m:r>
                                  </m:e>
                                </m:d>
                              </m:oMath>
                            </m:oMathPara>
                          </a14:m>
                          <a:endParaRPr lang="en-IN" dirty="0"/>
                        </a:p>
                      </a:txBody>
                      <a:tcPr anchor="ctr"/>
                    </a:tc>
                    <a:tc>
                      <a:txBody>
                        <a:bodyPr/>
                        <a:lstStyle/>
                        <a:p>
                          <a:pPr algn="r">
                            <a:buNone/>
                          </a:pPr>
                          <a14:m>
                            <m:oMathPara xmlns:m="http://schemas.openxmlformats.org/officeDocument/2006/math">
                              <m:oMathParaPr>
                                <m:jc m:val="centerGroup"/>
                              </m:oMathParaPr>
                              <m:oMath xmlns:m="http://schemas.openxmlformats.org/officeDocument/2006/math">
                                <m:r>
                                  <a:rPr lang="en-IN" dirty="0" smtClean="0">
                                    <a:latin typeface="Cambria Math" panose="02040503050406030204" pitchFamily="18" charset="0"/>
                                  </a:rPr>
                                  <m:t>603</m:t>
                                </m:r>
                                <m:r>
                                  <a:rPr lang="en-IN" b="0" i="1" dirty="0" smtClean="0">
                                    <a:latin typeface="Cambria Math" panose="02040503050406030204" pitchFamily="18" charset="0"/>
                                  </a:rPr>
                                  <m:t>8</m:t>
                                </m:r>
                                <m:r>
                                  <a:rPr lang="en-IN" b="0" i="1" dirty="0" smtClean="0">
                                    <a:latin typeface="Cambria Math" panose="02040503050406030204" pitchFamily="18" charset="0"/>
                                  </a:rPr>
                                  <m:t>.</m:t>
                                </m:r>
                                <m:r>
                                  <a:rPr lang="en-IN" b="0" i="1" dirty="0" smtClean="0">
                                    <a:latin typeface="Cambria Math" panose="02040503050406030204" pitchFamily="18" charset="0"/>
                                  </a:rPr>
                                  <m:t>35</m:t>
                                </m:r>
                              </m:oMath>
                            </m:oMathPara>
                          </a14:m>
                          <a:endParaRPr lang="en-IN" dirty="0"/>
                        </a:p>
                      </a:txBody>
                      <a:tcPr anchor="ctr"/>
                    </a:tc>
                    <a:extLst>
                      <a:ext uri="{0D108BD9-81ED-4DB2-BD59-A6C34878D82A}">
                        <a16:rowId xmlns:a16="http://schemas.microsoft.com/office/drawing/2014/main" val="3930240860"/>
                      </a:ext>
                    </a:extLst>
                  </a:tr>
                  <a:tr h="371151">
                    <a:tc>
                      <a:txBody>
                        <a:bodyPr/>
                        <a:lstStyle/>
                        <a:p>
                          <a:pPr>
                            <a:buNone/>
                          </a:pPr>
                          <a14:m>
                            <m:oMathPara xmlns:m="http://schemas.openxmlformats.org/officeDocument/2006/math">
                              <m:oMathParaPr>
                                <m:jc m:val="centerGroup"/>
                              </m:oMathParaPr>
                              <m:oMath xmlns:m="http://schemas.openxmlformats.org/officeDocument/2006/math">
                                <m:r>
                                  <a:rPr lang="en-IN" smtClean="0">
                                    <a:latin typeface="Cambria Math" panose="02040503050406030204" pitchFamily="18" charset="0"/>
                                  </a:rPr>
                                  <m:t>≥</m:t>
                                </m:r>
                                <m:r>
                                  <a:rPr lang="en-IN" smtClean="0">
                                    <a:latin typeface="Cambria Math" panose="02040503050406030204" pitchFamily="18" charset="0"/>
                                  </a:rPr>
                                  <m:t>0</m:t>
                                </m:r>
                                <m:r>
                                  <a:rPr lang="en-IN" smtClean="0">
                                    <a:latin typeface="Cambria Math" panose="02040503050406030204" pitchFamily="18" charset="0"/>
                                  </a:rPr>
                                  <m:t>.</m:t>
                                </m:r>
                                <m:r>
                                  <a:rPr lang="en-IN" smtClean="0">
                                    <a:latin typeface="Cambria Math" panose="02040503050406030204" pitchFamily="18" charset="0"/>
                                  </a:rPr>
                                  <m:t>90</m:t>
                                </m:r>
                              </m:oMath>
                            </m:oMathPara>
                          </a14:m>
                          <a:endParaRPr lang="en-IN" dirty="0"/>
                        </a:p>
                      </a:txBody>
                      <a:tcPr anchor="ctr"/>
                    </a:tc>
                    <a:tc>
                      <a:txBody>
                        <a:bodyPr/>
                        <a:lstStyle/>
                        <a:p>
                          <a:pPr>
                            <a:buNone/>
                          </a:pPr>
                          <a14:m>
                            <m:oMathPara xmlns:m="http://schemas.openxmlformats.org/officeDocument/2006/math">
                              <m:oMathParaPr>
                                <m:jc m:val="centerGroup"/>
                              </m:oMathParaPr>
                              <m:oMath xmlns:m="http://schemas.openxmlformats.org/officeDocument/2006/math">
                                <m:d>
                                  <m:dPr>
                                    <m:ctrlPr>
                                      <a:rPr lang="en-IN" i="1" smtClean="0">
                                        <a:latin typeface="Cambria Math" panose="02040503050406030204" pitchFamily="18" charset="0"/>
                                      </a:rPr>
                                    </m:ctrlPr>
                                  </m:dPr>
                                  <m:e>
                                    <m:r>
                                      <a:rPr lang="en-IN" b="0" i="0" smtClean="0">
                                        <a:latin typeface="Cambria Math" panose="02040503050406030204" pitchFamily="18" charset="0"/>
                                      </a:rPr>
                                      <m:t>59</m:t>
                                    </m:r>
                                    <m:r>
                                      <a:rPr lang="en-IN" b="0" i="0" smtClean="0">
                                        <a:latin typeface="Cambria Math" panose="02040503050406030204" pitchFamily="18" charset="0"/>
                                      </a:rPr>
                                      <m:t>, </m:t>
                                    </m:r>
                                    <m:r>
                                      <a:rPr lang="en-IN" b="0" i="0" smtClean="0">
                                        <a:latin typeface="Cambria Math" panose="02040503050406030204" pitchFamily="18" charset="0"/>
                                      </a:rPr>
                                      <m:t>56</m:t>
                                    </m:r>
                                    <m:r>
                                      <a:rPr lang="en-IN" b="0" i="0" smtClean="0">
                                        <a:latin typeface="Cambria Math" panose="02040503050406030204" pitchFamily="18" charset="0"/>
                                      </a:rPr>
                                      <m:t>, </m:t>
                                    </m:r>
                                    <m:r>
                                      <a:rPr lang="en-IN" b="0" i="0" smtClean="0">
                                        <a:latin typeface="Cambria Math" panose="02040503050406030204" pitchFamily="18" charset="0"/>
                                      </a:rPr>
                                      <m:t>18</m:t>
                                    </m:r>
                                    <m:r>
                                      <a:rPr lang="en-IN" b="0" i="1" smtClean="0">
                                        <a:latin typeface="Cambria Math" panose="02040503050406030204" pitchFamily="18" charset="0"/>
                                      </a:rPr>
                                      <m:t>5</m:t>
                                    </m:r>
                                  </m:e>
                                </m:d>
                              </m:oMath>
                            </m:oMathPara>
                          </a14:m>
                          <a:endParaRPr lang="en-IN" dirty="0"/>
                        </a:p>
                      </a:txBody>
                      <a:tcPr anchor="ctr"/>
                    </a:tc>
                    <a:tc>
                      <a:txBody>
                        <a:bodyPr/>
                        <a:lstStyle/>
                        <a:p>
                          <a:pPr algn="r">
                            <a:buNone/>
                          </a:pPr>
                          <a14:m>
                            <m:oMathPara xmlns:m="http://schemas.openxmlformats.org/officeDocument/2006/math">
                              <m:oMathParaPr>
                                <m:jc m:val="centerGroup"/>
                              </m:oMathParaPr>
                              <m:oMath xmlns:m="http://schemas.openxmlformats.org/officeDocument/2006/math">
                                <m:r>
                                  <a:rPr lang="en-IN" dirty="0" smtClean="0">
                                    <a:latin typeface="Cambria Math" panose="02040503050406030204" pitchFamily="18" charset="0"/>
                                  </a:rPr>
                                  <m:t>60</m:t>
                                </m:r>
                                <m:r>
                                  <a:rPr lang="en-IN" b="0" i="1" dirty="0" smtClean="0">
                                    <a:latin typeface="Cambria Math" panose="02040503050406030204" pitchFamily="18" charset="0"/>
                                  </a:rPr>
                                  <m:t>53</m:t>
                                </m:r>
                                <m:r>
                                  <a:rPr lang="en-IN" b="0" i="1" dirty="0" smtClean="0">
                                    <a:latin typeface="Cambria Math" panose="02040503050406030204" pitchFamily="18" charset="0"/>
                                  </a:rPr>
                                  <m:t>.</m:t>
                                </m:r>
                                <m:r>
                                  <a:rPr lang="en-IN" b="0" i="1" dirty="0" smtClean="0">
                                    <a:latin typeface="Cambria Math" panose="02040503050406030204" pitchFamily="18" charset="0"/>
                                  </a:rPr>
                                  <m:t>83</m:t>
                                </m:r>
                              </m:oMath>
                            </m:oMathPara>
                          </a14:m>
                          <a:endParaRPr lang="en-IN" dirty="0"/>
                        </a:p>
                      </a:txBody>
                      <a:tcPr anchor="ctr"/>
                    </a:tc>
                    <a:extLst>
                      <a:ext uri="{0D108BD9-81ED-4DB2-BD59-A6C34878D82A}">
                        <a16:rowId xmlns:a16="http://schemas.microsoft.com/office/drawing/2014/main" val="726921252"/>
                      </a:ext>
                    </a:extLst>
                  </a:tr>
                </a:tbl>
              </a:graphicData>
            </a:graphic>
          </p:graphicFrame>
        </mc:Choice>
        <mc:Fallback xmlns="">
          <p:graphicFrame>
            <p:nvGraphicFramePr>
              <p:cNvPr id="5" name="Table 4">
                <a:extLst>
                  <a:ext uri="{FF2B5EF4-FFF2-40B4-BE49-F238E27FC236}">
                    <a16:creationId xmlns:a16="http://schemas.microsoft.com/office/drawing/2014/main" id="{7579D223-9153-C9E2-F0D0-E05E9E751A3B}"/>
                  </a:ext>
                </a:extLst>
              </p:cNvPr>
              <p:cNvGraphicFramePr>
                <a:graphicFrameLocks noGrp="1"/>
              </p:cNvGraphicFramePr>
              <p:nvPr>
                <p:extLst>
                  <p:ext uri="{D42A27DB-BD31-4B8C-83A1-F6EECF244321}">
                    <p14:modId xmlns:p14="http://schemas.microsoft.com/office/powerpoint/2010/main" val="3342053113"/>
                  </p:ext>
                </p:extLst>
              </p:nvPr>
            </p:nvGraphicFramePr>
            <p:xfrm>
              <a:off x="1805731" y="761610"/>
              <a:ext cx="9091569" cy="2662542"/>
            </p:xfrm>
            <a:graphic>
              <a:graphicData uri="http://schemas.openxmlformats.org/drawingml/2006/table">
                <a:tbl>
                  <a:tblPr firstRow="1" bandRow="1">
                    <a:tableStyleId>{5C22544A-7EE6-4342-B048-85BDC9FD1C3A}</a:tableStyleId>
                  </a:tblPr>
                  <a:tblGrid>
                    <a:gridCol w="3030523">
                      <a:extLst>
                        <a:ext uri="{9D8B030D-6E8A-4147-A177-3AD203B41FA5}">
                          <a16:colId xmlns:a16="http://schemas.microsoft.com/office/drawing/2014/main" val="2025128722"/>
                        </a:ext>
                      </a:extLst>
                    </a:gridCol>
                    <a:gridCol w="3030523">
                      <a:extLst>
                        <a:ext uri="{9D8B030D-6E8A-4147-A177-3AD203B41FA5}">
                          <a16:colId xmlns:a16="http://schemas.microsoft.com/office/drawing/2014/main" val="583113545"/>
                        </a:ext>
                      </a:extLst>
                    </a:gridCol>
                    <a:gridCol w="3030523">
                      <a:extLst>
                        <a:ext uri="{9D8B030D-6E8A-4147-A177-3AD203B41FA5}">
                          <a16:colId xmlns:a16="http://schemas.microsoft.com/office/drawing/2014/main" val="4260266473"/>
                        </a:ext>
                      </a:extLst>
                    </a:gridCol>
                  </a:tblGrid>
                  <a:tr h="640080">
                    <a:tc>
                      <a:txBody>
                        <a:bodyPr/>
                        <a:lstStyle/>
                        <a:p>
                          <a:endParaRPr lang="en-US"/>
                        </a:p>
                      </a:txBody>
                      <a:tcPr anchor="ctr">
                        <a:blipFill>
                          <a:blip r:embed="rId2"/>
                          <a:stretch>
                            <a:fillRect l="-201" t="-4762" r="-201006" b="-319048"/>
                          </a:stretch>
                        </a:blipFill>
                      </a:tcPr>
                    </a:tc>
                    <a:tc>
                      <a:txBody>
                        <a:bodyPr/>
                        <a:lstStyle/>
                        <a:p>
                          <a:pPr>
                            <a:buNone/>
                          </a:pPr>
                          <a:r>
                            <a:rPr lang="en-IN" dirty="0">
                              <a:latin typeface="Sitka Subheading Semibold" pitchFamily="2" charset="0"/>
                            </a:rPr>
                            <a:t>Allocation (Rural, Semi-Urban, Urban)</a:t>
                          </a:r>
                        </a:p>
                      </a:txBody>
                      <a:tcPr anchor="ctr"/>
                    </a:tc>
                    <a:tc>
                      <a:txBody>
                        <a:bodyPr/>
                        <a:lstStyle/>
                        <a:p>
                          <a:pPr algn="r">
                            <a:buNone/>
                          </a:pPr>
                          <a:r>
                            <a:rPr lang="en-IN" dirty="0">
                              <a:latin typeface="Sitka Subheading Semibold" pitchFamily="2" charset="0"/>
                            </a:rPr>
                            <a:t>Cost</a:t>
                          </a:r>
                        </a:p>
                      </a:txBody>
                      <a:tcPr anchor="ctr"/>
                    </a:tc>
                    <a:extLst>
                      <a:ext uri="{0D108BD9-81ED-4DB2-BD59-A6C34878D82A}">
                        <a16:rowId xmlns:a16="http://schemas.microsoft.com/office/drawing/2014/main" val="489972106"/>
                      </a:ext>
                    </a:extLst>
                  </a:tr>
                  <a:tr h="371151">
                    <a:tc>
                      <a:txBody>
                        <a:bodyPr/>
                        <a:lstStyle/>
                        <a:p>
                          <a:endParaRPr lang="en-US"/>
                        </a:p>
                      </a:txBody>
                      <a:tcPr anchor="ctr">
                        <a:blipFill>
                          <a:blip r:embed="rId2"/>
                          <a:stretch>
                            <a:fillRect l="-201" t="-180328" r="-201006" b="-449180"/>
                          </a:stretch>
                        </a:blipFill>
                      </a:tcPr>
                    </a:tc>
                    <a:tc>
                      <a:txBody>
                        <a:bodyPr/>
                        <a:lstStyle/>
                        <a:p>
                          <a:endParaRPr lang="en-US"/>
                        </a:p>
                      </a:txBody>
                      <a:tcPr anchor="ctr">
                        <a:blipFill>
                          <a:blip r:embed="rId2"/>
                          <a:stretch>
                            <a:fillRect l="-100000" t="-180328" r="-100602" b="-449180"/>
                          </a:stretch>
                        </a:blipFill>
                      </a:tcPr>
                    </a:tc>
                    <a:tc>
                      <a:txBody>
                        <a:bodyPr/>
                        <a:lstStyle/>
                        <a:p>
                          <a:endParaRPr lang="en-US"/>
                        </a:p>
                      </a:txBody>
                      <a:tcPr anchor="ctr">
                        <a:blipFill>
                          <a:blip r:embed="rId2"/>
                          <a:stretch>
                            <a:fillRect l="-200402" t="-180328" r="-805" b="-449180"/>
                          </a:stretch>
                        </a:blipFill>
                      </a:tcPr>
                    </a:tc>
                    <a:extLst>
                      <a:ext uri="{0D108BD9-81ED-4DB2-BD59-A6C34878D82A}">
                        <a16:rowId xmlns:a16="http://schemas.microsoft.com/office/drawing/2014/main" val="1350946787"/>
                      </a:ext>
                    </a:extLst>
                  </a:tr>
                  <a:tr h="640080">
                    <a:tc>
                      <a:txBody>
                        <a:bodyPr/>
                        <a:lstStyle/>
                        <a:p>
                          <a:endParaRPr lang="en-US"/>
                        </a:p>
                      </a:txBody>
                      <a:tcPr anchor="ctr">
                        <a:blipFill>
                          <a:blip r:embed="rId2"/>
                          <a:stretch>
                            <a:fillRect l="-201" t="-161321" r="-201006" b="-158491"/>
                          </a:stretch>
                        </a:blipFill>
                      </a:tcPr>
                    </a:tc>
                    <a:tc>
                      <a:txBody>
                        <a:bodyPr/>
                        <a:lstStyle/>
                        <a:p>
                          <a:endParaRPr lang="en-US"/>
                        </a:p>
                      </a:txBody>
                      <a:tcPr anchor="ctr">
                        <a:blipFill>
                          <a:blip r:embed="rId2"/>
                          <a:stretch>
                            <a:fillRect l="-100000" t="-161321" r="-100602" b="-158491"/>
                          </a:stretch>
                        </a:blipFill>
                      </a:tcPr>
                    </a:tc>
                    <a:tc>
                      <a:txBody>
                        <a:bodyPr/>
                        <a:lstStyle/>
                        <a:p>
                          <a:endParaRPr lang="en-US"/>
                        </a:p>
                      </a:txBody>
                      <a:tcPr anchor="ctr">
                        <a:blipFill>
                          <a:blip r:embed="rId2"/>
                          <a:stretch>
                            <a:fillRect l="-200402" t="-161321" r="-805" b="-158491"/>
                          </a:stretch>
                        </a:blipFill>
                      </a:tcPr>
                    </a:tc>
                    <a:extLst>
                      <a:ext uri="{0D108BD9-81ED-4DB2-BD59-A6C34878D82A}">
                        <a16:rowId xmlns:a16="http://schemas.microsoft.com/office/drawing/2014/main" val="2435333801"/>
                      </a:ext>
                    </a:extLst>
                  </a:tr>
                  <a:tr h="640080">
                    <a:tc>
                      <a:txBody>
                        <a:bodyPr/>
                        <a:lstStyle/>
                        <a:p>
                          <a:endParaRPr lang="en-US"/>
                        </a:p>
                      </a:txBody>
                      <a:tcPr anchor="ctr">
                        <a:blipFill>
                          <a:blip r:embed="rId2"/>
                          <a:stretch>
                            <a:fillRect l="-201" t="-263810" r="-201006" b="-60000"/>
                          </a:stretch>
                        </a:blipFill>
                      </a:tcPr>
                    </a:tc>
                    <a:tc>
                      <a:txBody>
                        <a:bodyPr/>
                        <a:lstStyle/>
                        <a:p>
                          <a:endParaRPr lang="en-US"/>
                        </a:p>
                      </a:txBody>
                      <a:tcPr anchor="ctr">
                        <a:blipFill>
                          <a:blip r:embed="rId2"/>
                          <a:stretch>
                            <a:fillRect l="-100000" t="-263810" r="-100602" b="-60000"/>
                          </a:stretch>
                        </a:blipFill>
                      </a:tcPr>
                    </a:tc>
                    <a:tc>
                      <a:txBody>
                        <a:bodyPr/>
                        <a:lstStyle/>
                        <a:p>
                          <a:endParaRPr lang="en-US"/>
                        </a:p>
                      </a:txBody>
                      <a:tcPr anchor="ctr">
                        <a:blipFill>
                          <a:blip r:embed="rId2"/>
                          <a:stretch>
                            <a:fillRect l="-200402" t="-263810" r="-805" b="-60000"/>
                          </a:stretch>
                        </a:blipFill>
                      </a:tcPr>
                    </a:tc>
                    <a:extLst>
                      <a:ext uri="{0D108BD9-81ED-4DB2-BD59-A6C34878D82A}">
                        <a16:rowId xmlns:a16="http://schemas.microsoft.com/office/drawing/2014/main" val="3930240860"/>
                      </a:ext>
                    </a:extLst>
                  </a:tr>
                  <a:tr h="371151">
                    <a:tc>
                      <a:txBody>
                        <a:bodyPr/>
                        <a:lstStyle/>
                        <a:p>
                          <a:endParaRPr lang="en-US"/>
                        </a:p>
                      </a:txBody>
                      <a:tcPr anchor="ctr">
                        <a:blipFill>
                          <a:blip r:embed="rId2"/>
                          <a:stretch>
                            <a:fillRect l="-201" t="-626230" r="-201006" b="-3279"/>
                          </a:stretch>
                        </a:blipFill>
                      </a:tcPr>
                    </a:tc>
                    <a:tc>
                      <a:txBody>
                        <a:bodyPr/>
                        <a:lstStyle/>
                        <a:p>
                          <a:endParaRPr lang="en-US"/>
                        </a:p>
                      </a:txBody>
                      <a:tcPr anchor="ctr">
                        <a:blipFill>
                          <a:blip r:embed="rId2"/>
                          <a:stretch>
                            <a:fillRect l="-100000" t="-626230" r="-100602" b="-3279"/>
                          </a:stretch>
                        </a:blipFill>
                      </a:tcPr>
                    </a:tc>
                    <a:tc>
                      <a:txBody>
                        <a:bodyPr/>
                        <a:lstStyle/>
                        <a:p>
                          <a:endParaRPr lang="en-US"/>
                        </a:p>
                      </a:txBody>
                      <a:tcPr anchor="ctr">
                        <a:blipFill>
                          <a:blip r:embed="rId2"/>
                          <a:stretch>
                            <a:fillRect l="-200402" t="-626230" r="-805" b="-3279"/>
                          </a:stretch>
                        </a:blipFill>
                      </a:tcPr>
                    </a:tc>
                    <a:extLst>
                      <a:ext uri="{0D108BD9-81ED-4DB2-BD59-A6C34878D82A}">
                        <a16:rowId xmlns:a16="http://schemas.microsoft.com/office/drawing/2014/main" val="726921252"/>
                      </a:ext>
                    </a:extLst>
                  </a:tr>
                </a:tbl>
              </a:graphicData>
            </a:graphic>
          </p:graphicFrame>
        </mc:Fallback>
      </mc:AlternateContent>
      <mc:AlternateContent xmlns:mc="http://schemas.openxmlformats.org/markup-compatibility/2006" xmlns:a14="http://schemas.microsoft.com/office/drawing/2010/main">
        <mc:Choice Requires="a14">
          <p:sp>
            <p:nvSpPr>
              <p:cNvPr id="8" name="TextBox 7">
                <a:extLst>
                  <a:ext uri="{FF2B5EF4-FFF2-40B4-BE49-F238E27FC236}">
                    <a16:creationId xmlns:a16="http://schemas.microsoft.com/office/drawing/2014/main" id="{CF247F9F-7452-E69A-6060-ADA58911EAD2}"/>
                  </a:ext>
                </a:extLst>
              </p:cNvPr>
              <p:cNvSpPr txBox="1"/>
              <p:nvPr/>
            </p:nvSpPr>
            <p:spPr>
              <a:xfrm>
                <a:off x="1805731" y="3787440"/>
                <a:ext cx="8704277" cy="369332"/>
              </a:xfrm>
              <a:prstGeom prst="rect">
                <a:avLst/>
              </a:prstGeom>
              <a:noFill/>
            </p:spPr>
            <p:txBody>
              <a:bodyPr wrap="square">
                <a:spAutoFit/>
              </a:bodyPr>
              <a:lstStyle/>
              <a:p>
                <a:r>
                  <a:rPr lang="en-IN" dirty="0">
                    <a:latin typeface="Sitka Subheading Semibold" pitchFamily="2" charset="0"/>
                  </a:rPr>
                  <a:t>As </a:t>
                </a:r>
                <a14:m>
                  <m:oMath xmlns:m="http://schemas.openxmlformats.org/officeDocument/2006/math">
                    <m:r>
                      <a:rPr lang="en-IN" i="1">
                        <a:latin typeface="Cambria Math" panose="02040503050406030204" pitchFamily="18" charset="0"/>
                      </a:rPr>
                      <m:t>𝜆</m:t>
                    </m:r>
                  </m:oMath>
                </a14:m>
                <a:r>
                  <a:rPr lang="en-IN" dirty="0">
                    <a:latin typeface="Sitka Subheading Semibold" pitchFamily="2" charset="0"/>
                  </a:rPr>
                  <a:t>increases, the solution gradually moves toward the Neyman allocation.</a:t>
                </a:r>
              </a:p>
            </p:txBody>
          </p:sp>
        </mc:Choice>
        <mc:Fallback xmlns="">
          <p:sp>
            <p:nvSpPr>
              <p:cNvPr id="8" name="TextBox 7">
                <a:extLst>
                  <a:ext uri="{FF2B5EF4-FFF2-40B4-BE49-F238E27FC236}">
                    <a16:creationId xmlns:a16="http://schemas.microsoft.com/office/drawing/2014/main" id="{CF247F9F-7452-E69A-6060-ADA58911EAD2}"/>
                  </a:ext>
                </a:extLst>
              </p:cNvPr>
              <p:cNvSpPr txBox="1">
                <a:spLocks noRot="1" noChangeAspect="1" noMove="1" noResize="1" noEditPoints="1" noAdjustHandles="1" noChangeArrowheads="1" noChangeShapeType="1" noTextEdit="1"/>
              </p:cNvSpPr>
              <p:nvPr/>
            </p:nvSpPr>
            <p:spPr>
              <a:xfrm>
                <a:off x="1805731" y="3787440"/>
                <a:ext cx="8704277" cy="369332"/>
              </a:xfrm>
              <a:prstGeom prst="rect">
                <a:avLst/>
              </a:prstGeom>
              <a:blipFill>
                <a:blip r:embed="rId3"/>
                <a:stretch>
                  <a:fillRect l="-560" t="-8197" b="-24590"/>
                </a:stretch>
              </a:blipFill>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10" name="TextBox 9">
                <a:extLst>
                  <a:ext uri="{FF2B5EF4-FFF2-40B4-BE49-F238E27FC236}">
                    <a16:creationId xmlns:a16="http://schemas.microsoft.com/office/drawing/2014/main" id="{A8796FED-A94F-FA36-961C-A5D4FA979DAB}"/>
                  </a:ext>
                </a:extLst>
              </p:cNvPr>
              <p:cNvSpPr txBox="1"/>
              <p:nvPr/>
            </p:nvSpPr>
            <p:spPr>
              <a:xfrm>
                <a:off x="1805731" y="4223668"/>
                <a:ext cx="10113626" cy="646331"/>
              </a:xfrm>
              <a:prstGeom prst="rect">
                <a:avLst/>
              </a:prstGeom>
              <a:noFill/>
            </p:spPr>
            <p:txBody>
              <a:bodyPr wrap="square">
                <a:spAutoFit/>
              </a:bodyPr>
              <a:lstStyle/>
              <a:p>
                <a:r>
                  <a:rPr lang="en-IN" dirty="0">
                    <a:latin typeface="Sitka Subheading Semibold" pitchFamily="2" charset="0"/>
                  </a:rPr>
                  <a:t>In the tested values, </a:t>
                </a:r>
                <a14:m>
                  <m:oMath xmlns:m="http://schemas.openxmlformats.org/officeDocument/2006/math">
                    <m:r>
                      <a:rPr lang="en-IN" i="1">
                        <a:latin typeface="Cambria Math" panose="02040503050406030204" pitchFamily="18" charset="0"/>
                      </a:rPr>
                      <m:t>𝜆</m:t>
                    </m:r>
                    <m:r>
                      <a:rPr lang="en-IN" i="0">
                        <a:latin typeface="Cambria Math" panose="02040503050406030204" pitchFamily="18" charset="0"/>
                      </a:rPr>
                      <m:t>=</m:t>
                    </m:r>
                    <m:r>
                      <a:rPr lang="en-IN" i="0">
                        <a:latin typeface="Cambria Math" panose="02040503050406030204" pitchFamily="18" charset="0"/>
                      </a:rPr>
                      <m:t>0</m:t>
                    </m:r>
                    <m:r>
                      <a:rPr lang="en-IN" i="0">
                        <a:latin typeface="Cambria Math" panose="02040503050406030204" pitchFamily="18" charset="0"/>
                      </a:rPr>
                      <m:t>.</m:t>
                    </m:r>
                    <m:r>
                      <a:rPr lang="en-IN" i="0">
                        <a:latin typeface="Cambria Math" panose="02040503050406030204" pitchFamily="18" charset="0"/>
                      </a:rPr>
                      <m:t>90</m:t>
                    </m:r>
                  </m:oMath>
                </a14:m>
                <a:r>
                  <a:rPr lang="en-IN" b="1" dirty="0"/>
                  <a:t> </a:t>
                </a:r>
                <a:r>
                  <a:rPr lang="en-IN" b="1" dirty="0">
                    <a:latin typeface="Sitka Subheading Semibold" pitchFamily="2" charset="0"/>
                  </a:rPr>
                  <a:t>was the smallest value that produced the exact Neyman allocation</a:t>
                </a:r>
                <a:r>
                  <a:rPr lang="en-IN" dirty="0">
                    <a:latin typeface="Sitka Subheading Semibold" pitchFamily="2" charset="0"/>
                  </a:rPr>
                  <a:t>.</a:t>
                </a:r>
              </a:p>
            </p:txBody>
          </p:sp>
        </mc:Choice>
        <mc:Fallback xmlns="">
          <p:sp>
            <p:nvSpPr>
              <p:cNvPr id="10" name="TextBox 9">
                <a:extLst>
                  <a:ext uri="{FF2B5EF4-FFF2-40B4-BE49-F238E27FC236}">
                    <a16:creationId xmlns:a16="http://schemas.microsoft.com/office/drawing/2014/main" id="{A8796FED-A94F-FA36-961C-A5D4FA979DAB}"/>
                  </a:ext>
                </a:extLst>
              </p:cNvPr>
              <p:cNvSpPr txBox="1">
                <a:spLocks noRot="1" noChangeAspect="1" noMove="1" noResize="1" noEditPoints="1" noAdjustHandles="1" noChangeArrowheads="1" noChangeShapeType="1" noTextEdit="1"/>
              </p:cNvSpPr>
              <p:nvPr/>
            </p:nvSpPr>
            <p:spPr>
              <a:xfrm>
                <a:off x="1805731" y="4223668"/>
                <a:ext cx="10113626" cy="646331"/>
              </a:xfrm>
              <a:prstGeom prst="rect">
                <a:avLst/>
              </a:prstGeom>
              <a:blipFill>
                <a:blip r:embed="rId4"/>
                <a:stretch>
                  <a:fillRect l="-482" t="-6604" b="-15094"/>
                </a:stretch>
              </a:blipFill>
            </p:spPr>
            <p:txBody>
              <a:bodyPr/>
              <a:lstStyle/>
              <a:p>
                <a:r>
                  <a:rPr lang="en-IN">
                    <a:noFill/>
                  </a:rPr>
                  <a:t> </a:t>
                </a:r>
              </a:p>
            </p:txBody>
          </p:sp>
        </mc:Fallback>
      </mc:AlternateContent>
    </p:spTree>
    <p:extLst>
      <p:ext uri="{BB962C8B-B14F-4D97-AF65-F5344CB8AC3E}">
        <p14:creationId xmlns:p14="http://schemas.microsoft.com/office/powerpoint/2010/main" val="2429474154"/>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a:extLst>
              <a:ext uri="{FF2B5EF4-FFF2-40B4-BE49-F238E27FC236}">
                <a16:creationId xmlns:a16="http://schemas.microsoft.com/office/drawing/2014/main" id="{0D1DBA46-F73B-BDF1-84C3-D57D13535224}"/>
              </a:ext>
            </a:extLst>
          </p:cNvPr>
          <p:cNvSpPr txBox="1"/>
          <p:nvPr/>
        </p:nvSpPr>
        <p:spPr>
          <a:xfrm>
            <a:off x="1798739" y="232687"/>
            <a:ext cx="6094602" cy="646331"/>
          </a:xfrm>
          <a:prstGeom prst="rect">
            <a:avLst/>
          </a:prstGeom>
          <a:noFill/>
        </p:spPr>
        <p:txBody>
          <a:bodyPr wrap="square">
            <a:spAutoFit/>
          </a:bodyPr>
          <a:lstStyle/>
          <a:p>
            <a:r>
              <a:rPr lang="en-IN" sz="3600" b="1" dirty="0">
                <a:latin typeface="Agency FB" panose="020B0503020202020204" pitchFamily="34" charset="0"/>
              </a:rPr>
              <a:t>Statistical Precision of the Allocation</a:t>
            </a:r>
          </a:p>
        </p:txBody>
      </p:sp>
      <p:sp>
        <p:nvSpPr>
          <p:cNvPr id="6" name="TextBox 5">
            <a:extLst>
              <a:ext uri="{FF2B5EF4-FFF2-40B4-BE49-F238E27FC236}">
                <a16:creationId xmlns:a16="http://schemas.microsoft.com/office/drawing/2014/main" id="{1BC1BBAA-7E59-68C1-9337-293E7F4812C5}"/>
              </a:ext>
            </a:extLst>
          </p:cNvPr>
          <p:cNvSpPr txBox="1"/>
          <p:nvPr/>
        </p:nvSpPr>
        <p:spPr>
          <a:xfrm>
            <a:off x="1798739" y="879018"/>
            <a:ext cx="10038127" cy="646331"/>
          </a:xfrm>
          <a:prstGeom prst="rect">
            <a:avLst/>
          </a:prstGeom>
          <a:noFill/>
        </p:spPr>
        <p:txBody>
          <a:bodyPr wrap="square">
            <a:spAutoFit/>
          </a:bodyPr>
          <a:lstStyle/>
          <a:p>
            <a:pPr>
              <a:buNone/>
            </a:pPr>
            <a:r>
              <a:rPr lang="en-IN" dirty="0">
                <a:latin typeface="Sitka Subheading Semibold" pitchFamily="2" charset="0"/>
              </a:rPr>
              <a:t>The variance of the stratified mean estimator was calculated for each optimized allocation.</a:t>
            </a:r>
          </a:p>
          <a:p>
            <a:pPr>
              <a:buNone/>
            </a:pPr>
            <a:r>
              <a:rPr lang="en-IN" dirty="0">
                <a:latin typeface="Sitka Subheading Semibold" pitchFamily="2" charset="0"/>
              </a:rPr>
              <a:t>For the exact Neyman allocation,</a:t>
            </a:r>
          </a:p>
        </p:txBody>
      </p:sp>
      <mc:AlternateContent xmlns:mc="http://schemas.openxmlformats.org/markup-compatibility/2006" xmlns:a14="http://schemas.microsoft.com/office/drawing/2010/main">
        <mc:Choice Requires="a14">
          <p:sp>
            <p:nvSpPr>
              <p:cNvPr id="8" name="TextBox 7">
                <a:extLst>
                  <a:ext uri="{FF2B5EF4-FFF2-40B4-BE49-F238E27FC236}">
                    <a16:creationId xmlns:a16="http://schemas.microsoft.com/office/drawing/2014/main" id="{A7BAD6DF-939A-52EA-9028-2BCB0D8C1E3D}"/>
                  </a:ext>
                </a:extLst>
              </p:cNvPr>
              <p:cNvSpPr txBox="1"/>
              <p:nvPr/>
            </p:nvSpPr>
            <p:spPr>
              <a:xfrm>
                <a:off x="3978479" y="1525349"/>
                <a:ext cx="6094602" cy="369332"/>
              </a:xfrm>
              <a:prstGeom prst="rect">
                <a:avLst/>
              </a:prstGeom>
              <a:noFill/>
            </p:spPr>
            <p:txBody>
              <a:bodyPr wrap="square">
                <a:spAutoFit/>
              </a:bodyPr>
              <a:lstStyle/>
              <a:p>
                <a:r>
                  <a:rPr lang="en-IN" sz="1800" dirty="0">
                    <a:latin typeface="Sitka Subheading Semibold" pitchFamily="2" charset="0"/>
                  </a:rPr>
                  <a:t>Var(Ȳₛₜ)</a:t>
                </a:r>
                <a14:m>
                  <m:oMath xmlns:m="http://schemas.openxmlformats.org/officeDocument/2006/math">
                    <m:r>
                      <a:rPr lang="en-IN" dirty="0" smtClean="0">
                        <a:latin typeface="Cambria Math" panose="02040503050406030204" pitchFamily="18" charset="0"/>
                      </a:rPr>
                      <m:t>=752660.94</m:t>
                    </m:r>
                  </m:oMath>
                </a14:m>
                <a:endParaRPr lang="en-IN" dirty="0"/>
              </a:p>
            </p:txBody>
          </p:sp>
        </mc:Choice>
        <mc:Fallback xmlns="">
          <p:sp>
            <p:nvSpPr>
              <p:cNvPr id="8" name="TextBox 7">
                <a:extLst>
                  <a:ext uri="{FF2B5EF4-FFF2-40B4-BE49-F238E27FC236}">
                    <a16:creationId xmlns:a16="http://schemas.microsoft.com/office/drawing/2014/main" id="{A7BAD6DF-939A-52EA-9028-2BCB0D8C1E3D}"/>
                  </a:ext>
                </a:extLst>
              </p:cNvPr>
              <p:cNvSpPr txBox="1">
                <a:spLocks noRot="1" noChangeAspect="1" noMove="1" noResize="1" noEditPoints="1" noAdjustHandles="1" noChangeArrowheads="1" noChangeShapeType="1" noTextEdit="1"/>
              </p:cNvSpPr>
              <p:nvPr/>
            </p:nvSpPr>
            <p:spPr>
              <a:xfrm>
                <a:off x="3978479" y="1525349"/>
                <a:ext cx="6094602" cy="369332"/>
              </a:xfrm>
              <a:prstGeom prst="rect">
                <a:avLst/>
              </a:prstGeom>
              <a:blipFill>
                <a:blip r:embed="rId2"/>
                <a:stretch>
                  <a:fillRect l="-901" t="-11475" b="-22951"/>
                </a:stretch>
              </a:blipFill>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10" name="TextBox 9">
                <a:extLst>
                  <a:ext uri="{FF2B5EF4-FFF2-40B4-BE49-F238E27FC236}">
                    <a16:creationId xmlns:a16="http://schemas.microsoft.com/office/drawing/2014/main" id="{3026EE96-6BD5-D73F-1929-C636ECA19395}"/>
                  </a:ext>
                </a:extLst>
              </p:cNvPr>
              <p:cNvSpPr txBox="1"/>
              <p:nvPr/>
            </p:nvSpPr>
            <p:spPr>
              <a:xfrm>
                <a:off x="1798739" y="1987014"/>
                <a:ext cx="6094602" cy="369332"/>
              </a:xfrm>
              <a:prstGeom prst="rect">
                <a:avLst/>
              </a:prstGeom>
              <a:noFill/>
            </p:spPr>
            <p:txBody>
              <a:bodyPr wrap="square">
                <a:spAutoFit/>
              </a:bodyPr>
              <a:lstStyle/>
              <a:p>
                <a:r>
                  <a:rPr lang="en-IN" dirty="0">
                    <a:latin typeface="Sitka Subheading Semibold" pitchFamily="2" charset="0"/>
                  </a:rPr>
                  <a:t>For the cheapest allocation </a:t>
                </a:r>
                <a14:m>
                  <m:oMath xmlns:m="http://schemas.openxmlformats.org/officeDocument/2006/math">
                    <m:d>
                      <m:dPr>
                        <m:ctrlPr>
                          <a:rPr lang="en-IN" i="1">
                            <a:latin typeface="Cambria Math" panose="02040503050406030204" pitchFamily="18" charset="0"/>
                          </a:rPr>
                        </m:ctrlPr>
                      </m:dPr>
                      <m:e>
                        <m:r>
                          <a:rPr lang="en-IN">
                            <a:latin typeface="Cambria Math" panose="02040503050406030204" pitchFamily="18" charset="0"/>
                          </a:rPr>
                          <m:t>44, 70, 186</m:t>
                        </m:r>
                      </m:e>
                    </m:d>
                  </m:oMath>
                </a14:m>
                <a:r>
                  <a:rPr lang="en-IN" dirty="0">
                    <a:latin typeface="Sitka Subheading Semibold" pitchFamily="2" charset="0"/>
                  </a:rPr>
                  <a:t>,</a:t>
                </a:r>
              </a:p>
            </p:txBody>
          </p:sp>
        </mc:Choice>
        <mc:Fallback xmlns="">
          <p:sp>
            <p:nvSpPr>
              <p:cNvPr id="10" name="TextBox 9">
                <a:extLst>
                  <a:ext uri="{FF2B5EF4-FFF2-40B4-BE49-F238E27FC236}">
                    <a16:creationId xmlns:a16="http://schemas.microsoft.com/office/drawing/2014/main" id="{3026EE96-6BD5-D73F-1929-C636ECA19395}"/>
                  </a:ext>
                </a:extLst>
              </p:cNvPr>
              <p:cNvSpPr txBox="1">
                <a:spLocks noRot="1" noChangeAspect="1" noMove="1" noResize="1" noEditPoints="1" noAdjustHandles="1" noChangeArrowheads="1" noChangeShapeType="1" noTextEdit="1"/>
              </p:cNvSpPr>
              <p:nvPr/>
            </p:nvSpPr>
            <p:spPr>
              <a:xfrm>
                <a:off x="1798739" y="1987014"/>
                <a:ext cx="6094602" cy="369332"/>
              </a:xfrm>
              <a:prstGeom prst="rect">
                <a:avLst/>
              </a:prstGeom>
              <a:blipFill>
                <a:blip r:embed="rId3"/>
                <a:stretch>
                  <a:fillRect l="-800" t="-9836" b="-24590"/>
                </a:stretch>
              </a:blipFill>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12" name="TextBox 11">
                <a:extLst>
                  <a:ext uri="{FF2B5EF4-FFF2-40B4-BE49-F238E27FC236}">
                    <a16:creationId xmlns:a16="http://schemas.microsoft.com/office/drawing/2014/main" id="{9B4BD4CB-5762-BC0F-666A-203FD2242E68}"/>
                  </a:ext>
                </a:extLst>
              </p:cNvPr>
              <p:cNvSpPr txBox="1"/>
              <p:nvPr/>
            </p:nvSpPr>
            <p:spPr>
              <a:xfrm>
                <a:off x="3978479" y="2541012"/>
                <a:ext cx="6094602" cy="369332"/>
              </a:xfrm>
              <a:prstGeom prst="rect">
                <a:avLst/>
              </a:prstGeom>
              <a:noFill/>
            </p:spPr>
            <p:txBody>
              <a:bodyPr wrap="square">
                <a:spAutoFit/>
              </a:bodyPr>
              <a:lstStyle/>
              <a:p>
                <a:r>
                  <a:rPr lang="en-IN" sz="1800" dirty="0">
                    <a:latin typeface="Sitka Subheading Semibold" pitchFamily="2" charset="0"/>
                  </a:rPr>
                  <a:t>Var(Ȳₛₜ)</a:t>
                </a:r>
                <a14:m>
                  <m:oMath xmlns:m="http://schemas.openxmlformats.org/officeDocument/2006/math">
                    <m:r>
                      <a:rPr lang="en-IN" sz="1800" dirty="0" smtClean="0">
                        <a:latin typeface="Cambria Math" panose="02040503050406030204" pitchFamily="18" charset="0"/>
                      </a:rPr>
                      <m:t>=7</m:t>
                    </m:r>
                    <m:r>
                      <a:rPr lang="en-IN" sz="1800" b="0" i="0" dirty="0" smtClean="0">
                        <a:latin typeface="Cambria Math" panose="02040503050406030204" pitchFamily="18" charset="0"/>
                      </a:rPr>
                      <m:t>83085</m:t>
                    </m:r>
                    <m:r>
                      <a:rPr lang="en-IN" sz="1800" dirty="0" smtClean="0">
                        <a:latin typeface="Cambria Math" panose="02040503050406030204" pitchFamily="18" charset="0"/>
                      </a:rPr>
                      <m:t>.</m:t>
                    </m:r>
                    <m:r>
                      <a:rPr lang="en-IN" sz="1800" b="0" i="0" dirty="0" smtClean="0">
                        <a:latin typeface="Cambria Math" panose="02040503050406030204" pitchFamily="18" charset="0"/>
                      </a:rPr>
                      <m:t>85</m:t>
                    </m:r>
                  </m:oMath>
                </a14:m>
                <a:endParaRPr lang="en-IN" sz="1800" dirty="0"/>
              </a:p>
            </p:txBody>
          </p:sp>
        </mc:Choice>
        <mc:Fallback xmlns="">
          <p:sp>
            <p:nvSpPr>
              <p:cNvPr id="12" name="TextBox 11">
                <a:extLst>
                  <a:ext uri="{FF2B5EF4-FFF2-40B4-BE49-F238E27FC236}">
                    <a16:creationId xmlns:a16="http://schemas.microsoft.com/office/drawing/2014/main" id="{9B4BD4CB-5762-BC0F-666A-203FD2242E68}"/>
                  </a:ext>
                </a:extLst>
              </p:cNvPr>
              <p:cNvSpPr txBox="1">
                <a:spLocks noRot="1" noChangeAspect="1" noMove="1" noResize="1" noEditPoints="1" noAdjustHandles="1" noChangeArrowheads="1" noChangeShapeType="1" noTextEdit="1"/>
              </p:cNvSpPr>
              <p:nvPr/>
            </p:nvSpPr>
            <p:spPr>
              <a:xfrm>
                <a:off x="3978479" y="2541012"/>
                <a:ext cx="6094602" cy="369332"/>
              </a:xfrm>
              <a:prstGeom prst="rect">
                <a:avLst/>
              </a:prstGeom>
              <a:blipFill>
                <a:blip r:embed="rId4"/>
                <a:stretch>
                  <a:fillRect l="-901" t="-13333" b="-25000"/>
                </a:stretch>
              </a:blipFill>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14" name="TextBox 13">
                <a:extLst>
                  <a:ext uri="{FF2B5EF4-FFF2-40B4-BE49-F238E27FC236}">
                    <a16:creationId xmlns:a16="http://schemas.microsoft.com/office/drawing/2014/main" id="{27FCF36A-07A0-FD02-4A7C-F86E615A57EA}"/>
                  </a:ext>
                </a:extLst>
              </p:cNvPr>
              <p:cNvSpPr txBox="1"/>
              <p:nvPr/>
            </p:nvSpPr>
            <p:spPr>
              <a:xfrm>
                <a:off x="1798739" y="3002677"/>
                <a:ext cx="7732552" cy="369332"/>
              </a:xfrm>
              <a:prstGeom prst="rect">
                <a:avLst/>
              </a:prstGeom>
              <a:noFill/>
            </p:spPr>
            <p:txBody>
              <a:bodyPr wrap="square">
                <a:spAutoFit/>
              </a:bodyPr>
              <a:lstStyle/>
              <a:p>
                <a:r>
                  <a:rPr lang="en-IN" dirty="0">
                    <a:latin typeface="Sitka Subheading Semibold" pitchFamily="2" charset="0"/>
                  </a:rPr>
                  <a:t>which is about </a:t>
                </a:r>
                <a14:m>
                  <m:oMath xmlns:m="http://schemas.openxmlformats.org/officeDocument/2006/math">
                    <m:r>
                      <a:rPr lang="en-IN" b="1" smtClean="0">
                        <a:latin typeface="Cambria Math" panose="02040503050406030204" pitchFamily="18" charset="0"/>
                      </a:rPr>
                      <m:t>4.04</m:t>
                    </m:r>
                  </m:oMath>
                </a14:m>
                <a:r>
                  <a:rPr lang="en-IN" b="1" dirty="0">
                    <a:latin typeface="Sitka Subheading Semibold" pitchFamily="2" charset="0"/>
                  </a:rPr>
                  <a:t>% higher</a:t>
                </a:r>
                <a:r>
                  <a:rPr lang="en-IN" dirty="0">
                    <a:latin typeface="Sitka Subheading Semibold" pitchFamily="2" charset="0"/>
                  </a:rPr>
                  <a:t> than the Neyman benchmark.</a:t>
                </a:r>
              </a:p>
            </p:txBody>
          </p:sp>
        </mc:Choice>
        <mc:Fallback xmlns="">
          <p:sp>
            <p:nvSpPr>
              <p:cNvPr id="14" name="TextBox 13">
                <a:extLst>
                  <a:ext uri="{FF2B5EF4-FFF2-40B4-BE49-F238E27FC236}">
                    <a16:creationId xmlns:a16="http://schemas.microsoft.com/office/drawing/2014/main" id="{27FCF36A-07A0-FD02-4A7C-F86E615A57EA}"/>
                  </a:ext>
                </a:extLst>
              </p:cNvPr>
              <p:cNvSpPr txBox="1">
                <a:spLocks noRot="1" noChangeAspect="1" noMove="1" noResize="1" noEditPoints="1" noAdjustHandles="1" noChangeArrowheads="1" noChangeShapeType="1" noTextEdit="1"/>
              </p:cNvSpPr>
              <p:nvPr/>
            </p:nvSpPr>
            <p:spPr>
              <a:xfrm>
                <a:off x="1798739" y="3002677"/>
                <a:ext cx="7732552" cy="369332"/>
              </a:xfrm>
              <a:prstGeom prst="rect">
                <a:avLst/>
              </a:prstGeom>
              <a:blipFill>
                <a:blip r:embed="rId5"/>
                <a:stretch>
                  <a:fillRect l="-630" t="-11667" b="-28333"/>
                </a:stretch>
              </a:blipFill>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16" name="TextBox 15">
                <a:extLst>
                  <a:ext uri="{FF2B5EF4-FFF2-40B4-BE49-F238E27FC236}">
                    <a16:creationId xmlns:a16="http://schemas.microsoft.com/office/drawing/2014/main" id="{A285B211-5DBA-B0EB-702B-FBF281361D07}"/>
                  </a:ext>
                </a:extLst>
              </p:cNvPr>
              <p:cNvSpPr txBox="1"/>
              <p:nvPr/>
            </p:nvSpPr>
            <p:spPr>
              <a:xfrm>
                <a:off x="1798737" y="3485992"/>
                <a:ext cx="9727735" cy="369332"/>
              </a:xfrm>
              <a:prstGeom prst="rect">
                <a:avLst/>
              </a:prstGeom>
              <a:noFill/>
            </p:spPr>
            <p:txBody>
              <a:bodyPr wrap="square">
                <a:spAutoFit/>
              </a:bodyPr>
              <a:lstStyle/>
              <a:p>
                <a:r>
                  <a:rPr lang="en-IN" dirty="0">
                    <a:latin typeface="Sitka Subheading Semibold" pitchFamily="2" charset="0"/>
                  </a:rPr>
                  <a:t>For the intermediate allocation </a:t>
                </a:r>
                <a14:m>
                  <m:oMath xmlns:m="http://schemas.openxmlformats.org/officeDocument/2006/math">
                    <m:d>
                      <m:dPr>
                        <m:ctrlPr>
                          <a:rPr lang="en-IN" i="1">
                            <a:latin typeface="Cambria Math" panose="02040503050406030204" pitchFamily="18" charset="0"/>
                          </a:rPr>
                        </m:ctrlPr>
                      </m:dPr>
                      <m:e>
                        <m:r>
                          <a:rPr lang="en-IN">
                            <a:latin typeface="Cambria Math" panose="02040503050406030204" pitchFamily="18" charset="0"/>
                          </a:rPr>
                          <m:t>50, 65, 18</m:t>
                        </m:r>
                        <m:r>
                          <a:rPr lang="en-IN" i="1">
                            <a:latin typeface="Cambria Math" panose="02040503050406030204" pitchFamily="18" charset="0"/>
                          </a:rPr>
                          <m:t>5</m:t>
                        </m:r>
                      </m:e>
                    </m:d>
                  </m:oMath>
                </a14:m>
                <a:r>
                  <a:rPr lang="en-IN" dirty="0"/>
                  <a:t>, </a:t>
                </a:r>
                <a:r>
                  <a:rPr lang="en-IN" dirty="0">
                    <a:latin typeface="Sitka Subheading Semibold" pitchFamily="2" charset="0"/>
                  </a:rPr>
                  <a:t>the variance increase was only about </a:t>
                </a:r>
                <a14:m>
                  <m:oMath xmlns:m="http://schemas.openxmlformats.org/officeDocument/2006/math">
                    <m:r>
                      <a:rPr lang="en-IN" b="0" i="1" smtClean="0">
                        <a:latin typeface="Cambria Math" panose="02040503050406030204" pitchFamily="18" charset="0"/>
                      </a:rPr>
                      <m:t>1.46</m:t>
                    </m:r>
                  </m:oMath>
                </a14:m>
                <a:r>
                  <a:rPr lang="en-IN" b="1" dirty="0">
                    <a:latin typeface="Sitka Subheading Semibold" pitchFamily="2" charset="0"/>
                  </a:rPr>
                  <a:t>% </a:t>
                </a:r>
                <a:r>
                  <a:rPr lang="en-IN" dirty="0"/>
                  <a:t>.</a:t>
                </a:r>
                <a:endParaRPr lang="en-IN" dirty="0">
                  <a:latin typeface="Sitka Subheading Semibold" pitchFamily="2" charset="0"/>
                </a:endParaRPr>
              </a:p>
            </p:txBody>
          </p:sp>
        </mc:Choice>
        <mc:Fallback xmlns="">
          <p:sp>
            <p:nvSpPr>
              <p:cNvPr id="16" name="TextBox 15">
                <a:extLst>
                  <a:ext uri="{FF2B5EF4-FFF2-40B4-BE49-F238E27FC236}">
                    <a16:creationId xmlns:a16="http://schemas.microsoft.com/office/drawing/2014/main" id="{A285B211-5DBA-B0EB-702B-FBF281361D07}"/>
                  </a:ext>
                </a:extLst>
              </p:cNvPr>
              <p:cNvSpPr txBox="1">
                <a:spLocks noRot="1" noChangeAspect="1" noMove="1" noResize="1" noEditPoints="1" noAdjustHandles="1" noChangeArrowheads="1" noChangeShapeType="1" noTextEdit="1"/>
              </p:cNvSpPr>
              <p:nvPr/>
            </p:nvSpPr>
            <p:spPr>
              <a:xfrm>
                <a:off x="1798737" y="3485992"/>
                <a:ext cx="9727735" cy="369332"/>
              </a:xfrm>
              <a:prstGeom prst="rect">
                <a:avLst/>
              </a:prstGeom>
              <a:blipFill>
                <a:blip r:embed="rId6"/>
                <a:stretch>
                  <a:fillRect l="-501" t="-11667" b="-28333"/>
                </a:stretch>
              </a:blipFill>
            </p:spPr>
            <p:txBody>
              <a:bodyPr/>
              <a:lstStyle/>
              <a:p>
                <a:r>
                  <a:rPr lang="en-IN">
                    <a:noFill/>
                  </a:rPr>
                  <a:t> </a:t>
                </a:r>
              </a:p>
            </p:txBody>
          </p:sp>
        </mc:Fallback>
      </mc:AlternateContent>
      <p:sp>
        <p:nvSpPr>
          <p:cNvPr id="18" name="TextBox 17">
            <a:extLst>
              <a:ext uri="{FF2B5EF4-FFF2-40B4-BE49-F238E27FC236}">
                <a16:creationId xmlns:a16="http://schemas.microsoft.com/office/drawing/2014/main" id="{98384818-05D1-9784-3128-E4EADC6C2CA9}"/>
              </a:ext>
            </a:extLst>
          </p:cNvPr>
          <p:cNvSpPr txBox="1"/>
          <p:nvPr/>
        </p:nvSpPr>
        <p:spPr>
          <a:xfrm>
            <a:off x="1798737" y="3947657"/>
            <a:ext cx="10038127" cy="646331"/>
          </a:xfrm>
          <a:prstGeom prst="rect">
            <a:avLst/>
          </a:prstGeom>
          <a:noFill/>
        </p:spPr>
        <p:txBody>
          <a:bodyPr wrap="square">
            <a:spAutoFit/>
          </a:bodyPr>
          <a:lstStyle/>
          <a:p>
            <a:r>
              <a:rPr lang="en-IN" dirty="0">
                <a:latin typeface="Sitka Subheading Semibold" pitchFamily="2" charset="0"/>
              </a:rPr>
              <a:t>Therefore, reducing fieldwork cost is possible, but it comes with some loss of statistical precision</a:t>
            </a:r>
            <a:r>
              <a:rPr lang="en-IN" dirty="0"/>
              <a:t>.</a:t>
            </a:r>
          </a:p>
        </p:txBody>
      </p:sp>
    </p:spTree>
    <p:extLst>
      <p:ext uri="{BB962C8B-B14F-4D97-AF65-F5344CB8AC3E}">
        <p14:creationId xmlns:p14="http://schemas.microsoft.com/office/powerpoint/2010/main" val="4016847509"/>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161CBAB0-98B4-5E78-A5D8-9B314BA9B1CA}"/>
              </a:ext>
            </a:extLst>
          </p:cNvPr>
          <p:cNvSpPr txBox="1"/>
          <p:nvPr/>
        </p:nvSpPr>
        <p:spPr>
          <a:xfrm>
            <a:off x="1721840" y="167672"/>
            <a:ext cx="6094602" cy="646331"/>
          </a:xfrm>
          <a:prstGeom prst="rect">
            <a:avLst/>
          </a:prstGeom>
          <a:noFill/>
        </p:spPr>
        <p:txBody>
          <a:bodyPr wrap="square">
            <a:spAutoFit/>
          </a:bodyPr>
          <a:lstStyle/>
          <a:p>
            <a:r>
              <a:rPr lang="en-IN" sz="3600" b="1" dirty="0">
                <a:latin typeface="Agency FB" panose="020B0503020202020204" pitchFamily="34" charset="0"/>
              </a:rPr>
              <a:t>Cost–Precision Trade-off</a:t>
            </a:r>
          </a:p>
        </p:txBody>
      </p:sp>
      <mc:AlternateContent xmlns:mc="http://schemas.openxmlformats.org/markup-compatibility/2006" xmlns:a14="http://schemas.microsoft.com/office/drawing/2010/main">
        <mc:Choice Requires="a14">
          <p:sp>
            <p:nvSpPr>
              <p:cNvPr id="5" name="TextBox 4">
                <a:extLst>
                  <a:ext uri="{FF2B5EF4-FFF2-40B4-BE49-F238E27FC236}">
                    <a16:creationId xmlns:a16="http://schemas.microsoft.com/office/drawing/2014/main" id="{6273BAA2-C9FA-C22A-0FEF-E9EF6B0CA0CE}"/>
                  </a:ext>
                </a:extLst>
              </p:cNvPr>
              <p:cNvSpPr txBox="1"/>
              <p:nvPr/>
            </p:nvSpPr>
            <p:spPr>
              <a:xfrm>
                <a:off x="1721840" y="926145"/>
                <a:ext cx="10022747" cy="2031325"/>
              </a:xfrm>
              <a:prstGeom prst="rect">
                <a:avLst/>
              </a:prstGeom>
              <a:noFill/>
            </p:spPr>
            <p:txBody>
              <a:bodyPr wrap="square">
                <a:spAutoFit/>
              </a:bodyPr>
              <a:lstStyle/>
              <a:p>
                <a:pPr>
                  <a:buNone/>
                </a:pPr>
                <a:r>
                  <a:rPr lang="en-IN" dirty="0">
                    <a:latin typeface="Sitka Subheading Semibold" pitchFamily="2" charset="0"/>
                  </a:rPr>
                  <a:t>The experiment shows a clear trade-off between </a:t>
                </a:r>
                <a:r>
                  <a:rPr lang="en-IN" b="1" dirty="0">
                    <a:latin typeface="Sitka Subheading Semibold" pitchFamily="2" charset="0"/>
                  </a:rPr>
                  <a:t>fieldwork cost</a:t>
                </a:r>
                <a:r>
                  <a:rPr lang="en-IN" dirty="0">
                    <a:latin typeface="Sitka Subheading Semibold" pitchFamily="2" charset="0"/>
                  </a:rPr>
                  <a:t> and </a:t>
                </a:r>
                <a:r>
                  <a:rPr lang="en-IN" b="1" dirty="0">
                    <a:latin typeface="Sitka Subheading Semibold" pitchFamily="2" charset="0"/>
                  </a:rPr>
                  <a:t>statistical accuracy</a:t>
                </a:r>
                <a:r>
                  <a:rPr lang="en-IN" dirty="0">
                    <a:latin typeface="Sitka Subheading Semibold" pitchFamily="2" charset="0"/>
                  </a:rPr>
                  <a:t>.</a:t>
                </a:r>
              </a:p>
              <a:p>
                <a:r>
                  <a:rPr lang="en-IN" dirty="0">
                    <a:latin typeface="Sitka Subheading Semibold" pitchFamily="2" charset="0"/>
                  </a:rPr>
                  <a:t>The cheapest solution costs </a:t>
                </a:r>
                <a14:m>
                  <m:oMath xmlns:m="http://schemas.openxmlformats.org/officeDocument/2006/math">
                    <m:r>
                      <a:rPr lang="en-IN" dirty="0">
                        <a:latin typeface="Cambria Math" panose="02040503050406030204" pitchFamily="18" charset="0"/>
                      </a:rPr>
                      <m:t>603</m:t>
                    </m:r>
                    <m:r>
                      <a:rPr lang="en-IN" i="1" dirty="0">
                        <a:latin typeface="Cambria Math" panose="02040503050406030204" pitchFamily="18" charset="0"/>
                      </a:rPr>
                      <m:t>1.24</m:t>
                    </m:r>
                  </m:oMath>
                </a14:m>
                <a:r>
                  <a:rPr lang="en-IN" dirty="0">
                    <a:latin typeface="Sitka Subheading Semibold" pitchFamily="2" charset="0"/>
                  </a:rPr>
                  <a:t>, but its variance is about </a:t>
                </a:r>
                <a14:m>
                  <m:oMath xmlns:m="http://schemas.openxmlformats.org/officeDocument/2006/math">
                    <m:r>
                      <a:rPr lang="en-IN" b="1">
                        <a:latin typeface="Cambria Math" panose="02040503050406030204" pitchFamily="18" charset="0"/>
                      </a:rPr>
                      <m:t>4.04</m:t>
                    </m:r>
                  </m:oMath>
                </a14:m>
                <a:r>
                  <a:rPr lang="en-IN" b="1" dirty="0">
                    <a:latin typeface="Sitka Subheading Semibold" pitchFamily="2" charset="0"/>
                  </a:rPr>
                  <a:t>% higher</a:t>
                </a:r>
                <a:r>
                  <a:rPr lang="en-IN" dirty="0">
                    <a:latin typeface="Sitka Subheading Semibold" pitchFamily="2" charset="0"/>
                  </a:rPr>
                  <a:t> than the Neyman solution.</a:t>
                </a:r>
              </a:p>
              <a:p>
                <a:r>
                  <a:rPr lang="en-IN" dirty="0">
                    <a:latin typeface="Sitka Subheading Semibold" pitchFamily="2" charset="0"/>
                  </a:rPr>
                  <a:t>The exact Neyman solution costs </a:t>
                </a:r>
                <a14:m>
                  <m:oMath xmlns:m="http://schemas.openxmlformats.org/officeDocument/2006/math">
                    <m:r>
                      <a:rPr lang="en-IN" dirty="0">
                        <a:latin typeface="Cambria Math" panose="02040503050406030204" pitchFamily="18" charset="0"/>
                      </a:rPr>
                      <m:t>60</m:t>
                    </m:r>
                    <m:r>
                      <a:rPr lang="en-IN" i="1" dirty="0">
                        <a:latin typeface="Cambria Math" panose="02040503050406030204" pitchFamily="18" charset="0"/>
                      </a:rPr>
                      <m:t>53.8</m:t>
                    </m:r>
                    <m:r>
                      <a:rPr lang="en-IN" b="0" i="1" dirty="0" smtClean="0">
                        <a:latin typeface="Cambria Math" panose="02040503050406030204" pitchFamily="18" charset="0"/>
                      </a:rPr>
                      <m:t>3</m:t>
                    </m:r>
                  </m:oMath>
                </a14:m>
                <a:r>
                  <a:rPr lang="en-IN" dirty="0">
                    <a:latin typeface="Sitka Subheading Semibold" pitchFamily="2" charset="0"/>
                  </a:rPr>
                  <a:t> and gives the minimum benchmark variance.</a:t>
                </a:r>
              </a:p>
              <a:p>
                <a:r>
                  <a:rPr lang="en-IN" dirty="0">
                    <a:latin typeface="Sitka Subheading Semibold" pitchFamily="2" charset="0"/>
                  </a:rPr>
                  <a:t>An intermediate solution costs </a:t>
                </a:r>
                <a14:m>
                  <m:oMath xmlns:m="http://schemas.openxmlformats.org/officeDocument/2006/math">
                    <m:r>
                      <a:rPr lang="en-IN" dirty="0">
                        <a:latin typeface="Cambria Math" panose="02040503050406030204" pitchFamily="18" charset="0"/>
                      </a:rPr>
                      <m:t>603</m:t>
                    </m:r>
                    <m:r>
                      <a:rPr lang="en-IN" i="1" dirty="0">
                        <a:latin typeface="Cambria Math" panose="02040503050406030204" pitchFamily="18" charset="0"/>
                      </a:rPr>
                      <m:t>8.35</m:t>
                    </m:r>
                  </m:oMath>
                </a14:m>
                <a:r>
                  <a:rPr lang="en-IN" dirty="0">
                    <a:latin typeface="Sitka Subheading Semibold" pitchFamily="2" charset="0"/>
                  </a:rPr>
                  <a:t> with only a </a:t>
                </a:r>
                <a14:m>
                  <m:oMath xmlns:m="http://schemas.openxmlformats.org/officeDocument/2006/math">
                    <m:r>
                      <a:rPr lang="en-IN" i="1">
                        <a:latin typeface="Cambria Math" panose="02040503050406030204" pitchFamily="18" charset="0"/>
                      </a:rPr>
                      <m:t>1.46</m:t>
                    </m:r>
                  </m:oMath>
                </a14:m>
                <a:r>
                  <a:rPr lang="en-IN" b="1" dirty="0">
                    <a:latin typeface="Sitka Subheading Semibold" pitchFamily="2" charset="0"/>
                  </a:rPr>
                  <a:t>% increase in variance</a:t>
                </a:r>
                <a:r>
                  <a:rPr lang="en-IN" dirty="0">
                    <a:latin typeface="Sitka Subheading Semibold" pitchFamily="2" charset="0"/>
                  </a:rPr>
                  <a:t>.</a:t>
                </a:r>
              </a:p>
              <a:p>
                <a:pPr>
                  <a:buNone/>
                </a:pPr>
                <a:r>
                  <a:rPr lang="en-IN" dirty="0">
                    <a:latin typeface="Sitka Subheading Semibold" pitchFamily="2" charset="0"/>
                  </a:rPr>
                  <a:t>This shows that the model can be used to choose a practical balance between survey cost and statistical accuracy.</a:t>
                </a:r>
              </a:p>
            </p:txBody>
          </p:sp>
        </mc:Choice>
        <mc:Fallback xmlns="">
          <p:sp>
            <p:nvSpPr>
              <p:cNvPr id="5" name="TextBox 4">
                <a:extLst>
                  <a:ext uri="{FF2B5EF4-FFF2-40B4-BE49-F238E27FC236}">
                    <a16:creationId xmlns:a16="http://schemas.microsoft.com/office/drawing/2014/main" id="{6273BAA2-C9FA-C22A-0FEF-E9EF6B0CA0CE}"/>
                  </a:ext>
                </a:extLst>
              </p:cNvPr>
              <p:cNvSpPr txBox="1">
                <a:spLocks noRot="1" noChangeAspect="1" noMove="1" noResize="1" noEditPoints="1" noAdjustHandles="1" noChangeArrowheads="1" noChangeShapeType="1" noTextEdit="1"/>
              </p:cNvSpPr>
              <p:nvPr/>
            </p:nvSpPr>
            <p:spPr>
              <a:xfrm>
                <a:off x="1721840" y="926145"/>
                <a:ext cx="10022747" cy="2031325"/>
              </a:xfrm>
              <a:prstGeom prst="rect">
                <a:avLst/>
              </a:prstGeom>
              <a:blipFill>
                <a:blip r:embed="rId2"/>
                <a:stretch>
                  <a:fillRect l="-486" t="-2102" b="-3904"/>
                </a:stretch>
              </a:blipFill>
            </p:spPr>
            <p:txBody>
              <a:bodyPr/>
              <a:lstStyle/>
              <a:p>
                <a:r>
                  <a:rPr lang="en-IN">
                    <a:noFill/>
                  </a:rPr>
                  <a:t> </a:t>
                </a:r>
              </a:p>
            </p:txBody>
          </p:sp>
        </mc:Fallback>
      </mc:AlternateContent>
    </p:spTree>
    <p:extLst>
      <p:ext uri="{BB962C8B-B14F-4D97-AF65-F5344CB8AC3E}">
        <p14:creationId xmlns:p14="http://schemas.microsoft.com/office/powerpoint/2010/main" val="3637784735"/>
      </p:ext>
    </p:extLst>
  </p:cSld>
  <p:clrMapOvr>
    <a:masterClrMapping/>
  </p:clrMapOvr>
</p:sld>
</file>

<file path=ppt/theme/_rels/theme1.xml.rels><?xml version="1.0" encoding="UTF-8" standalone="yes"?>
<Relationships xmlns="http://schemas.openxmlformats.org/package/2006/relationships"><Relationship Id="rId1" Type="http://schemas.openxmlformats.org/officeDocument/2006/relationships/image" Target="../media/image1.jpeg"/></Relationships>
</file>

<file path=ppt/theme/theme1.xml><?xml version="1.0" encoding="utf-8"?>
<a:theme xmlns:a="http://schemas.openxmlformats.org/drawingml/2006/main" name="Parallax">
  <a:themeElements>
    <a:clrScheme name="Parallax">
      <a:dk1>
        <a:sysClr val="windowText" lastClr="000000"/>
      </a:dk1>
      <a:lt1>
        <a:sysClr val="window" lastClr="FFFFFF"/>
      </a:lt1>
      <a:dk2>
        <a:srgbClr val="212121"/>
      </a:dk2>
      <a:lt2>
        <a:srgbClr val="CDD0D1"/>
      </a:lt2>
      <a:accent1>
        <a:srgbClr val="30ACEC"/>
      </a:accent1>
      <a:accent2>
        <a:srgbClr val="80C34F"/>
      </a:accent2>
      <a:accent3>
        <a:srgbClr val="E29D3E"/>
      </a:accent3>
      <a:accent4>
        <a:srgbClr val="D64A3B"/>
      </a:accent4>
      <a:accent5>
        <a:srgbClr val="D64787"/>
      </a:accent5>
      <a:accent6>
        <a:srgbClr val="A666E1"/>
      </a:accent6>
      <a:hlink>
        <a:srgbClr val="3085ED"/>
      </a:hlink>
      <a:folHlink>
        <a:srgbClr val="82B6F4"/>
      </a:folHlink>
    </a:clrScheme>
    <a:fontScheme name="Parallax">
      <a:majorFont>
        <a:latin typeface="Corbel" panose="020B0503020204020204"/>
        <a:ea typeface=""/>
        <a:cs typeface=""/>
        <a:font script="Jpan" typeface="HGｺﾞｼｯｸM"/>
        <a:font script="Hang" typeface="HY엽서L"/>
        <a:font script="Hans" typeface="华文楷体"/>
        <a:font script="Hant" typeface="新細明體"/>
        <a:font script="Arab" typeface="Tahoma"/>
        <a:font script="Hebr" typeface="Miriam"/>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ajorFont>
      <a:minorFont>
        <a:latin typeface="Corbel" panose="020B0503020204020204"/>
        <a:ea typeface=""/>
        <a:cs typeface=""/>
        <a:font script="Jpan" typeface="HGｺﾞｼｯｸM"/>
        <a:font script="Hang" typeface="HY엽서L"/>
        <a:font script="Hans" typeface="华文楷体"/>
        <a:font script="Hant" typeface="新細明體"/>
        <a:font script="Arab" typeface="Tahoma"/>
        <a:font script="Hebr" typeface="Miriam"/>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Parallax">
      <a:fillStyleLst>
        <a:solidFill>
          <a:schemeClr val="phClr"/>
        </a:solidFill>
        <a:gradFill rotWithShape="1">
          <a:gsLst>
            <a:gs pos="0">
              <a:schemeClr val="phClr">
                <a:tint val="60000"/>
                <a:lumMod val="104000"/>
              </a:schemeClr>
            </a:gs>
            <a:gs pos="100000">
              <a:schemeClr val="phClr">
                <a:tint val="84000"/>
              </a:schemeClr>
            </a:gs>
          </a:gsLst>
          <a:lin ang="5400000" scaled="0"/>
        </a:gradFill>
        <a:gradFill rotWithShape="1">
          <a:gsLst>
            <a:gs pos="0">
              <a:schemeClr val="phClr">
                <a:tint val="96000"/>
                <a:lumMod val="102000"/>
              </a:schemeClr>
            </a:gs>
            <a:gs pos="100000">
              <a:schemeClr val="phClr">
                <a:shade val="88000"/>
                <a:lumMod val="94000"/>
              </a:schemeClr>
            </a:gs>
          </a:gsLst>
          <a:path path="circle">
            <a:fillToRect l="50000" t="100000" r="100000" b="50000"/>
          </a:path>
        </a:gradFill>
      </a:fillStyleLst>
      <a:lnStyleLst>
        <a:ln w="9525" cap="rnd" cmpd="sng" algn="ctr">
          <a:solidFill>
            <a:schemeClr val="phClr">
              <a:tint val="60000"/>
            </a:schemeClr>
          </a:solidFill>
          <a:prstDash val="solid"/>
        </a:ln>
        <a:ln w="15875" cap="rnd" cmpd="sng" algn="ctr">
          <a:solidFill>
            <a:schemeClr val="phClr"/>
          </a:solidFill>
          <a:prstDash val="solid"/>
        </a:ln>
        <a:ln w="22225" cap="rnd" cmpd="sng" algn="ctr">
          <a:solidFill>
            <a:schemeClr val="phClr"/>
          </a:solidFill>
          <a:prstDash val="solid"/>
        </a:ln>
      </a:lnStyleLst>
      <a:effectStyleLst>
        <a:effectStyle>
          <a:effectLst/>
        </a:effectStyle>
        <a:effectStyle>
          <a:effectLst>
            <a:reflection blurRad="12700" stA="26000" endPos="32000" dist="12700" dir="5400000" sy="-100000" rotWithShape="0"/>
          </a:effectLst>
        </a:effectStyle>
        <a:effectStyle>
          <a:effectLst>
            <a:outerShdw blurRad="38100" dist="25400" dir="5400000" rotWithShape="0">
              <a:srgbClr val="000000">
                <a:alpha val="64000"/>
              </a:srgbClr>
            </a:outerShdw>
          </a:effectLst>
          <a:scene3d>
            <a:camera prst="orthographicFront">
              <a:rot lat="0" lon="0" rev="0"/>
            </a:camera>
            <a:lightRig rig="threePt" dir="tl">
              <a:rot lat="0" lon="0" rev="1200000"/>
            </a:lightRig>
          </a:scene3d>
          <a:sp3d>
            <a:bevelT w="25400" h="12700"/>
          </a:sp3d>
        </a:effectStyle>
      </a:effectStyleLst>
      <a:bgFillStyleLst>
        <a:solidFill>
          <a:schemeClr val="phClr"/>
        </a:solidFill>
        <a:gradFill rotWithShape="1">
          <a:gsLst>
            <a:gs pos="0">
              <a:schemeClr val="phClr">
                <a:tint val="90000"/>
                <a:lumMod val="110000"/>
              </a:schemeClr>
            </a:gs>
            <a:gs pos="100000">
              <a:schemeClr val="phClr">
                <a:shade val="64000"/>
                <a:lumMod val="98000"/>
              </a:schemeClr>
            </a:gs>
          </a:gsLst>
          <a:lin ang="5400000" scaled="0"/>
        </a:gradFill>
        <a:blipFill rotWithShape="1">
          <a:blip xmlns:r="http://schemas.openxmlformats.org/officeDocument/2006/relationships" r:embed="rId1">
            <a:duotone>
              <a:schemeClr val="phClr">
                <a:shade val="76000"/>
                <a:satMod val="180000"/>
              </a:schemeClr>
              <a:schemeClr val="phClr">
                <a:tint val="80000"/>
                <a:satMod val="120000"/>
                <a:lumMod val="180000"/>
              </a:schemeClr>
            </a:duotone>
          </a:blip>
          <a:stretch/>
        </a:blipFill>
      </a:bgFillStyleLst>
    </a:fmtScheme>
  </a:themeElements>
  <a:objectDefaults/>
  <a:extraClrSchemeLst/>
  <a:extLst>
    <a:ext uri="{05A4C25C-085E-4340-85A3-A5531E510DB2}">
      <thm15:themeFamily xmlns:thm15="http://schemas.microsoft.com/office/thememl/2012/main" name="Parallax" id="{3388167B-A2EB-4685-9635-1831D9AEF8C4}" vid="{4F7A876A-7598-49CA-AFC8-8EDA2551E4A7}"/>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TM03457496[[fn=Parallax]]</Template>
  <TotalTime>1440</TotalTime>
  <Words>1516</Words>
  <Application>Microsoft Office PowerPoint</Application>
  <PresentationFormat>Widescreen</PresentationFormat>
  <Paragraphs>168</Paragraphs>
  <Slides>13</Slides>
  <Notes>0</Notes>
  <HiddenSlides>0</HiddenSlides>
  <MMClips>0</MMClips>
  <ScaleCrop>false</ScaleCrop>
  <HeadingPairs>
    <vt:vector size="6" baseType="variant">
      <vt:variant>
        <vt:lpstr>Fonts Used</vt:lpstr>
      </vt:variant>
      <vt:variant>
        <vt:i4>7</vt:i4>
      </vt:variant>
      <vt:variant>
        <vt:lpstr>Theme</vt:lpstr>
      </vt:variant>
      <vt:variant>
        <vt:i4>1</vt:i4>
      </vt:variant>
      <vt:variant>
        <vt:lpstr>Slide Titles</vt:lpstr>
      </vt:variant>
      <vt:variant>
        <vt:i4>13</vt:i4>
      </vt:variant>
    </vt:vector>
  </HeadingPairs>
  <TitlesOfParts>
    <vt:vector size="21" baseType="lpstr">
      <vt:lpstr>Agency FB</vt:lpstr>
      <vt:lpstr>Arial</vt:lpstr>
      <vt:lpstr>Calibri</vt:lpstr>
      <vt:lpstr>Cambria Math</vt:lpstr>
      <vt:lpstr>Corbel</vt:lpstr>
      <vt:lpstr>Sitka Subheading Semibold</vt:lpstr>
      <vt:lpstr>Times New Roman</vt:lpstr>
      <vt:lpstr>Parallax</vt:lpstr>
      <vt:lpstr>IE 501: Optimization Models  Network Flow Models for Optimal Survey Sampling and Fieldwork Allocation </vt:lpstr>
      <vt:lpstr>Introduction:</vt:lpstr>
      <vt:lpstr>Background Concepts:</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Jothilingam D</dc:creator>
  <cp:lastModifiedBy>Dipendu Pal</cp:lastModifiedBy>
  <cp:revision>40</cp:revision>
  <dcterms:created xsi:type="dcterms:W3CDTF">2025-11-04T14:18:27Z</dcterms:created>
  <dcterms:modified xsi:type="dcterms:W3CDTF">2026-08-01T22:03:04Z</dcterms:modified>
</cp:coreProperties>
</file>